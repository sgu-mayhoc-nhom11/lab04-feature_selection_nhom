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906" y="7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2747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Hình 2" descr="/tmp/claude-0/-home-claude/a2e5e3b8-31f0-57f6-8a5d-2b87477c4227/scratchpad/work/assets/ill_house.png"/>
          <p:cNvPicPr>
            <a:picLocks noChangeAspect="1"/>
          </p:cNvPicPr>
          <p:nvPr/>
        </p:nvPicPr>
        <p:blipFill>
          <a:blip r:embed="rId4"/>
          <a:stretch>
            <a:fillRect/>
          </a:stretch>
        </p:blipFill>
        <p:spPr>
          <a:xfrm>
            <a:off x="8001000" y="3840480"/>
            <a:ext cx="3429000" cy="2667000"/>
          </a:xfrm>
          <a:prstGeom prst="rect">
            <a:avLst/>
          </a:prstGeom>
        </p:spPr>
      </p:pic>
      <p:sp>
        <p:nvSpPr>
          <p:cNvPr id="3" name="Text 0"/>
          <p:cNvSpPr txBox="1"/>
          <p:nvPr/>
        </p:nvSpPr>
        <p:spPr>
          <a:xfrm>
            <a:off x="2011680" y="384048"/>
            <a:ext cx="8165592" cy="457200"/>
          </a:xfrm>
          <a:prstGeom prst="rect">
            <a:avLst/>
          </a:prstGeom>
          <a:noFill/>
          <a:ln/>
        </p:spPr>
        <p:txBody>
          <a:bodyPr wrap="square" lIns="0" tIns="0" rIns="0" bIns="0" rtlCol="0" anchor="ctr"/>
          <a:lstStyle/>
          <a:p>
            <a:pPr marL="0" indent="0" algn="ctr">
              <a:buNone/>
            </a:pPr>
            <a:r>
              <a:rPr lang="en-US" sz="2400" b="1" kern="0" spc="400" dirty="0">
                <a:solidFill>
                  <a:srgbClr val="0F2A5F"/>
                </a:solidFill>
                <a:latin typeface="Roboto" pitchFamily="34" charset="0"/>
                <a:ea typeface="Roboto" pitchFamily="34" charset="-122"/>
                <a:cs typeface="Roboto" pitchFamily="34" charset="-120"/>
              </a:rPr>
              <a:t>TRƯỜNG ĐẠI HỌC SÀI GÒN</a:t>
            </a:r>
            <a:endParaRPr lang="en-US" sz="2400" dirty="0"/>
          </a:p>
        </p:txBody>
      </p:sp>
      <p:sp>
        <p:nvSpPr>
          <p:cNvPr id="4" name="Text 1"/>
          <p:cNvSpPr txBox="1"/>
          <p:nvPr/>
        </p:nvSpPr>
        <p:spPr>
          <a:xfrm>
            <a:off x="2011680" y="841248"/>
            <a:ext cx="8165592" cy="365760"/>
          </a:xfrm>
          <a:prstGeom prst="rect">
            <a:avLst/>
          </a:prstGeom>
          <a:noFill/>
          <a:ln/>
        </p:spPr>
        <p:txBody>
          <a:bodyPr wrap="square" lIns="0" tIns="0" rIns="0" bIns="0" rtlCol="0" anchor="ctr"/>
          <a:lstStyle/>
          <a:p>
            <a:pPr marL="0" indent="0" algn="ctr">
              <a:buNone/>
            </a:pPr>
            <a:r>
              <a:rPr lang="en-US" sz="1700" b="1" kern="0" spc="400" dirty="0">
                <a:solidFill>
                  <a:srgbClr val="1F6BF0"/>
                </a:solidFill>
                <a:latin typeface="Roboto" pitchFamily="34" charset="0"/>
                <a:ea typeface="Roboto" pitchFamily="34" charset="-122"/>
                <a:cs typeface="Roboto" pitchFamily="34" charset="-120"/>
              </a:rPr>
              <a:t>KHOA CÔNG NGHỆ THÔNG TIN</a:t>
            </a:r>
            <a:endParaRPr lang="en-US" sz="1700" dirty="0"/>
          </a:p>
        </p:txBody>
      </p:sp>
      <p:sp>
        <p:nvSpPr>
          <p:cNvPr id="5" name="Khối 5"/>
          <p:cNvSpPr/>
          <p:nvPr/>
        </p:nvSpPr>
        <p:spPr>
          <a:xfrm>
            <a:off x="3995928" y="1371600"/>
            <a:ext cx="4206240" cy="475488"/>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square" lIns="0" tIns="0" rIns="0" bIns="0" rtlCol="0" anchor="ctr"/>
          <a:lstStyle/>
          <a:p>
            <a:pPr marL="0" indent="0" algn="ctr">
              <a:buNone/>
            </a:pPr>
            <a:r>
              <a:rPr lang="en-US" sz="1700" b="1" kern="0" spc="200" dirty="0">
                <a:solidFill>
                  <a:srgbClr val="FFFFFF"/>
                </a:solidFill>
                <a:latin typeface="Roboto" pitchFamily="34" charset="0"/>
                <a:ea typeface="Roboto" pitchFamily="34" charset="-122"/>
                <a:cs typeface="Roboto" pitchFamily="34" charset="-120"/>
              </a:rPr>
              <a:t>BÁO CÁO MÔN HỌC: MÁY HỌC</a:t>
            </a:r>
            <a:endParaRPr lang="en-US" sz="1700" dirty="0"/>
          </a:p>
        </p:txBody>
      </p:sp>
      <p:sp>
        <p:nvSpPr>
          <p:cNvPr id="6" name="Khối 6"/>
          <p:cNvSpPr txBox="1"/>
          <p:nvPr/>
        </p:nvSpPr>
        <p:spPr>
          <a:xfrm>
            <a:off x="1463040" y="1920240"/>
            <a:ext cx="9262872" cy="1783080"/>
          </a:xfrm>
          <a:prstGeom prst="rect">
            <a:avLst/>
          </a:prstGeom>
          <a:noFill/>
          <a:ln/>
        </p:spPr>
        <p:txBody>
          <a:bodyPr wrap="square" lIns="0" tIns="0" rIns="0" bIns="0" rtlCol="0" anchor="ctr"/>
          <a:lstStyle/>
          <a:p>
            <a:pPr marL="0" indent="0" algn="ctr">
              <a:lnSpc>
                <a:spcPts val="7200"/>
              </a:lnSpc>
              <a:buNone/>
            </a:pPr>
            <a:r>
              <a:rPr lang="en-US" sz="60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LAB04:</a:t>
            </a:r>
            <a:endParaRPr lang="en-US" sz="6000" dirty="0"/>
          </a:p>
          <a:p>
            <a:pPr marL="0" indent="0" algn="ctr">
              <a:lnSpc>
                <a:spcPts val="7200"/>
              </a:lnSpc>
              <a:buNone/>
            </a:pPr>
            <a:r>
              <a:rPr lang="en-US" sz="60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FEATURE SELECTION</a:t>
            </a:r>
            <a:endParaRPr lang="en-US" sz="6000" dirty="0"/>
          </a:p>
        </p:txBody>
      </p:sp>
      <p:sp>
        <p:nvSpPr>
          <p:cNvPr id="7" name="Khối 7"/>
          <p:cNvSpPr/>
          <p:nvPr/>
        </p:nvSpPr>
        <p:spPr>
          <a:xfrm>
            <a:off x="731520" y="3840480"/>
            <a:ext cx="6858000" cy="2578608"/>
          </a:xfrm>
          <a:prstGeom prst="roundRect">
            <a:avLst>
              <a:gd name="adj" fmla="val 5674"/>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8" name="Hình 8" descr="preencoded.png"/>
          <p:cNvPicPr>
            <a:picLocks noChangeAspect="1"/>
          </p:cNvPicPr>
          <p:nvPr/>
        </p:nvPicPr>
        <p:blipFill>
          <a:blip r:embed="rId5"/>
          <a:stretch>
            <a:fillRect/>
          </a:stretch>
        </p:blipFill>
        <p:spPr>
          <a:xfrm>
            <a:off x="914400" y="3986784"/>
            <a:ext cx="512064" cy="512064"/>
          </a:xfrm>
          <a:prstGeom prst="rect">
            <a:avLst/>
          </a:prstGeom>
        </p:spPr>
      </p:pic>
      <p:sp>
        <p:nvSpPr>
          <p:cNvPr id="9" name="Khối 9"/>
          <p:cNvSpPr txBox="1"/>
          <p:nvPr/>
        </p:nvSpPr>
        <p:spPr>
          <a:xfrm>
            <a:off x="1572768" y="3986784"/>
            <a:ext cx="5852160" cy="512064"/>
          </a:xfrm>
          <a:prstGeom prst="rect">
            <a:avLst/>
          </a:prstGeom>
          <a:noFill/>
          <a:ln/>
        </p:spPr>
        <p:txBody>
          <a:bodyPr wrap="square" lIns="0" tIns="0" rIns="0" bIns="0" rtlCol="0" anchor="ctr"/>
          <a:lstStyle/>
          <a:p>
            <a:pPr marL="0" indent="0">
              <a:buNone/>
            </a:pPr>
            <a:r>
              <a:rPr lang="en-US" sz="2000" b="1" dirty="0">
                <a:solidFill>
                  <a:srgbClr val="0F2A5F"/>
                </a:solidFill>
                <a:latin typeface="Roboto" pitchFamily="34" charset="0"/>
                <a:ea typeface="Roboto" pitchFamily="34" charset="-122"/>
                <a:cs typeface="Roboto" pitchFamily="34" charset="-120"/>
              </a:rPr>
              <a:t>Giảng viên hướng dẫn: TS. Đỗ Như Tài</a:t>
            </a:r>
            <a:endParaRPr lang="en-US" sz="2000" dirty="0"/>
          </a:p>
        </p:txBody>
      </p:sp>
      <p:sp>
        <p:nvSpPr>
          <p:cNvPr id="10" name="Khối 10"/>
          <p:cNvSpPr txBox="1"/>
          <p:nvPr/>
        </p:nvSpPr>
        <p:spPr>
          <a:xfrm>
            <a:off x="932688" y="4590288"/>
            <a:ext cx="6492240" cy="329184"/>
          </a:xfrm>
          <a:prstGeom prst="rect">
            <a:avLst/>
          </a:prstGeom>
          <a:noFill/>
          <a:ln/>
        </p:spPr>
        <p:txBody>
          <a:bodyPr wrap="square" lIns="0" tIns="0" rIns="0" bIns="0" rtlCol="0" anchor="ctr"/>
          <a:lstStyle/>
          <a:p>
            <a:pPr marL="0" indent="0">
              <a:buNone/>
            </a:pPr>
            <a:r>
              <a:rPr lang="en-US" sz="1600" b="1" dirty="0">
                <a:solidFill>
                  <a:srgbClr val="1F6BF0"/>
                </a:solidFill>
                <a:latin typeface="Roboto" pitchFamily="34" charset="0"/>
                <a:ea typeface="Roboto" pitchFamily="34" charset="-122"/>
                <a:cs typeface="Roboto" pitchFamily="34" charset="-120"/>
              </a:rPr>
              <a:t>Nhóm sinh viên thực hiện – Mã số sinh viên:</a:t>
            </a:r>
            <a:endParaRPr lang="en-US" sz="1600" dirty="0"/>
          </a:p>
        </p:txBody>
      </p:sp>
      <p:sp>
        <p:nvSpPr>
          <p:cNvPr id="11" name="Khối 11"/>
          <p:cNvSpPr/>
          <p:nvPr/>
        </p:nvSpPr>
        <p:spPr>
          <a:xfrm>
            <a:off x="932688" y="4983480"/>
            <a:ext cx="6455664" cy="393192"/>
          </a:xfrm>
          <a:prstGeom prst="roundRect">
            <a:avLst>
              <a:gd name="adj" fmla="val 18605"/>
            </a:avLst>
          </a:prstGeom>
          <a:solidFill>
            <a:srgbClr val="F4F8FF"/>
          </a:solidFill>
          <a:ln w="12700">
            <a:solidFill>
              <a:srgbClr val="CFE0FF"/>
            </a:solidFill>
          </a:ln>
        </p:spPr>
        <p:txBody>
          <a:bodyPr wrap="square" lIns="152400" tIns="0" rIns="76200" bIns="0" rtlCol="0" anchor="ctr"/>
          <a:lstStyle/>
          <a:p>
            <a:pPr marL="0" indent="0">
              <a:buNone/>
            </a:pPr>
            <a:r>
              <a:rPr lang="en-US" sz="1800" dirty="0">
                <a:solidFill>
                  <a:srgbClr val="1B2A4A"/>
                </a:solidFill>
                <a:latin typeface="Roboto" pitchFamily="34" charset="0"/>
                <a:ea typeface="Roboto" pitchFamily="34" charset="-122"/>
                <a:cs typeface="Roboto" pitchFamily="34" charset="-120"/>
              </a:rPr>
              <a:t>Cao Ngọc Hân – 3124411083</a:t>
            </a:r>
            <a:endParaRPr lang="en-US" sz="1800" dirty="0"/>
          </a:p>
        </p:txBody>
      </p:sp>
      <p:sp>
        <p:nvSpPr>
          <p:cNvPr id="12" name="Khối 12"/>
          <p:cNvSpPr/>
          <p:nvPr/>
        </p:nvSpPr>
        <p:spPr>
          <a:xfrm>
            <a:off x="932688" y="5440680"/>
            <a:ext cx="6455664" cy="393192"/>
          </a:xfrm>
          <a:prstGeom prst="roundRect">
            <a:avLst>
              <a:gd name="adj" fmla="val 18605"/>
            </a:avLst>
          </a:prstGeom>
          <a:solidFill>
            <a:srgbClr val="F4F8FF"/>
          </a:solidFill>
          <a:ln w="12700">
            <a:solidFill>
              <a:srgbClr val="CFE0FF"/>
            </a:solidFill>
          </a:ln>
        </p:spPr>
        <p:txBody>
          <a:bodyPr wrap="square" lIns="152400" tIns="0" rIns="76200" bIns="0" rtlCol="0" anchor="ctr"/>
          <a:lstStyle/>
          <a:p>
            <a:pPr marL="0" indent="0">
              <a:buNone/>
            </a:pPr>
            <a:r>
              <a:rPr lang="en-US" sz="1800" dirty="0">
                <a:solidFill>
                  <a:srgbClr val="1B2A4A"/>
                </a:solidFill>
                <a:latin typeface="Roboto" pitchFamily="34" charset="0"/>
                <a:ea typeface="Roboto" pitchFamily="34" charset="-122"/>
                <a:cs typeface="Roboto" pitchFamily="34" charset="-120"/>
              </a:rPr>
              <a:t>Nguyễn An Nhung – 31244111</a:t>
            </a:r>
            <a:endParaRPr lang="en-US" sz="1800" dirty="0"/>
          </a:p>
        </p:txBody>
      </p:sp>
      <p:sp>
        <p:nvSpPr>
          <p:cNvPr id="13" name="Khối 13"/>
          <p:cNvSpPr/>
          <p:nvPr/>
        </p:nvSpPr>
        <p:spPr>
          <a:xfrm>
            <a:off x="932688" y="5897880"/>
            <a:ext cx="6455664" cy="393192"/>
          </a:xfrm>
          <a:prstGeom prst="roundRect">
            <a:avLst>
              <a:gd name="adj" fmla="val 18605"/>
            </a:avLst>
          </a:prstGeom>
          <a:solidFill>
            <a:srgbClr val="F4F8FF"/>
          </a:solidFill>
          <a:ln w="12700">
            <a:solidFill>
              <a:srgbClr val="CFE0FF"/>
            </a:solidFill>
          </a:ln>
        </p:spPr>
        <p:txBody>
          <a:bodyPr wrap="square" lIns="152400" tIns="0" rIns="76200" bIns="0" rtlCol="0" anchor="ctr"/>
          <a:lstStyle/>
          <a:p>
            <a:pPr marL="0" indent="0">
              <a:buNone/>
            </a:pPr>
            <a:r>
              <a:rPr lang="en-US" sz="1800" dirty="0">
                <a:solidFill>
                  <a:srgbClr val="1B2A4A"/>
                </a:solidFill>
                <a:latin typeface="Roboto" pitchFamily="34" charset="0"/>
                <a:ea typeface="Roboto" pitchFamily="34" charset="-122"/>
                <a:cs typeface="Roboto" pitchFamily="34" charset="-120"/>
              </a:rPr>
              <a:t>Trần Đỗ Khánh Linh – 3124411151</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20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10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p:tgtEl>
                                          <p:spTgt spid="7"/>
                                        </p:tgtEl>
                                        <p:attrNameLst>
                                          <p:attrName>ppt_x</p:attrName>
                                        </p:attrNameLst>
                                      </p:cBhvr>
                                      <p:tavLst>
                                        <p:tav tm="0">
                                          <p:val>
                                            <p:strVal val="#ppt_x"/>
                                          </p:val>
                                        </p:tav>
                                        <p:tav tm="100000">
                                          <p:val>
                                            <p:strVal val="#ppt_x"/>
                                          </p:val>
                                        </p:tav>
                                      </p:tavLst>
                                    </p:anim>
                                    <p:anim calcmode="lin" valueType="num">
                                      <p:cBhvr additive="base">
                                        <p:cTn id="26" dur="600" fill="hold"/>
                                        <p:tgtEl>
                                          <p:spTgt spid="7"/>
                                        </p:tgtEl>
                                        <p:attrNameLst>
                                          <p:attrName>ppt_y</p:attrName>
                                        </p:attrNameLst>
                                      </p:cBhvr>
                                      <p:tavLst>
                                        <p:tav tm="0">
                                          <p:val>
                                            <p:strVal val="#ppt_y+.1"/>
                                          </p:val>
                                        </p:tav>
                                        <p:tav tm="100000">
                                          <p:val>
                                            <p:strVal val="#ppt_y"/>
                                          </p:val>
                                        </p:tav>
                                      </p:tavLst>
                                    </p:anim>
                                  </p:childTnLst>
                                </p:cTn>
                              </p:par>
                              <p:par>
                                <p:cTn id="27" presetID="53" presetClass="entr" presetSubtype="16" fill="hold" nodeType="withEffect">
                                  <p:stCondLst>
                                    <p:cond delay="10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anim calcmode="lin" valueType="num">
                                      <p:cBhvr additive="base">
                                        <p:cTn id="35" dur="600" fill="hold"/>
                                        <p:tgtEl>
                                          <p:spTgt spid="9"/>
                                        </p:tgtEl>
                                        <p:attrNameLst>
                                          <p:attrName>ppt_x</p:attrName>
                                        </p:attrNameLst>
                                      </p:cBhvr>
                                      <p:tavLst>
                                        <p:tav tm="0">
                                          <p:val>
                                            <p:strVal val="#ppt_x"/>
                                          </p:val>
                                        </p:tav>
                                        <p:tav tm="100000">
                                          <p:val>
                                            <p:strVal val="#ppt_x"/>
                                          </p:val>
                                        </p:tav>
                                      </p:tavLst>
                                    </p:anim>
                                    <p:anim calcmode="lin" valueType="num">
                                      <p:cBhvr additive="base">
                                        <p:cTn id="36" dur="6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1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additive="base">
                                        <p:cTn id="40" dur="600" fill="hold"/>
                                        <p:tgtEl>
                                          <p:spTgt spid="10"/>
                                        </p:tgtEl>
                                        <p:attrNameLst>
                                          <p:attrName>ppt_x</p:attrName>
                                        </p:attrNameLst>
                                      </p:cBhvr>
                                      <p:tavLst>
                                        <p:tav tm="0">
                                          <p:val>
                                            <p:strVal val="#ppt_x"/>
                                          </p:val>
                                        </p:tav>
                                        <p:tav tm="100000">
                                          <p:val>
                                            <p:strVal val="#ppt_x"/>
                                          </p:val>
                                        </p:tav>
                                      </p:tavLst>
                                    </p:anim>
                                    <p:anim calcmode="lin" valueType="num">
                                      <p:cBhvr additive="base">
                                        <p:cTn id="41" dur="6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additive="base">
                                        <p:cTn id="47" dur="600" fill="hold"/>
                                        <p:tgtEl>
                                          <p:spTgt spid="11"/>
                                        </p:tgtEl>
                                        <p:attrNameLst>
                                          <p:attrName>ppt_x</p:attrName>
                                        </p:attrNameLst>
                                      </p:cBhvr>
                                      <p:tavLst>
                                        <p:tav tm="0">
                                          <p:val>
                                            <p:strVal val="#ppt_x"/>
                                          </p:val>
                                        </p:tav>
                                        <p:tav tm="100000">
                                          <p:val>
                                            <p:strVal val="#ppt_x"/>
                                          </p:val>
                                        </p:tav>
                                      </p:tavLst>
                                    </p:anim>
                                    <p:anim calcmode="lin" valueType="num">
                                      <p:cBhvr additive="base">
                                        <p:cTn id="48" dur="60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15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600"/>
                                        <p:tgtEl>
                                          <p:spTgt spid="12"/>
                                        </p:tgtEl>
                                      </p:cBhvr>
                                    </p:animEffect>
                                    <p:anim calcmode="lin" valueType="num">
                                      <p:cBhvr additive="base">
                                        <p:cTn id="52" dur="600" fill="hold"/>
                                        <p:tgtEl>
                                          <p:spTgt spid="12"/>
                                        </p:tgtEl>
                                        <p:attrNameLst>
                                          <p:attrName>ppt_x</p:attrName>
                                        </p:attrNameLst>
                                      </p:cBhvr>
                                      <p:tavLst>
                                        <p:tav tm="0">
                                          <p:val>
                                            <p:strVal val="#ppt_x"/>
                                          </p:val>
                                        </p:tav>
                                        <p:tav tm="100000">
                                          <p:val>
                                            <p:strVal val="#ppt_x"/>
                                          </p:val>
                                        </p:tav>
                                      </p:tavLst>
                                    </p:anim>
                                    <p:anim calcmode="lin" valueType="num">
                                      <p:cBhvr additive="base">
                                        <p:cTn id="53" dur="600" fill="hold"/>
                                        <p:tgtEl>
                                          <p:spTgt spid="12"/>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30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600"/>
                                        <p:tgtEl>
                                          <p:spTgt spid="13"/>
                                        </p:tgtEl>
                                      </p:cBhvr>
                                    </p:animEffect>
                                    <p:anim calcmode="lin" valueType="num">
                                      <p:cBhvr additive="base">
                                        <p:cTn id="57" dur="600" fill="hold"/>
                                        <p:tgtEl>
                                          <p:spTgt spid="13"/>
                                        </p:tgtEl>
                                        <p:attrNameLst>
                                          <p:attrName>ppt_x</p:attrName>
                                        </p:attrNameLst>
                                      </p:cBhvr>
                                      <p:tavLst>
                                        <p:tav tm="0">
                                          <p:val>
                                            <p:strVal val="#ppt_x"/>
                                          </p:val>
                                        </p:tav>
                                        <p:tav tm="100000">
                                          <p:val>
                                            <p:strVal val="#ppt_x"/>
                                          </p:val>
                                        </p:tav>
                                      </p:tavLst>
                                    </p:anim>
                                    <p:anim calcmode="lin" valueType="num">
                                      <p:cBhvr additive="base">
                                        <p:cTn id="58" dur="6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MỤC TIÊU &amp; QUY TRÌNH TỔNG QUAN</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02 / 14</a:t>
            </a:r>
            <a:endParaRPr lang="en-US" sz="1100" dirty="0"/>
          </a:p>
        </p:txBody>
      </p:sp>
      <p:sp>
        <p:nvSpPr>
          <p:cNvPr id="4" name="Khối 4"/>
          <p:cNvSpPr/>
          <p:nvPr/>
        </p:nvSpPr>
        <p:spPr>
          <a:xfrm>
            <a:off x="548640" y="1325880"/>
            <a:ext cx="1712854"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Mục tiêu</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548640" y="1874520"/>
            <a:ext cx="4160520" cy="1371600"/>
          </a:xfrm>
          <a:prstGeom prst="roundRect">
            <a:avLst>
              <a:gd name="adj" fmla="val 1066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7" name="Hình 7" descr="preencoded.png"/>
          <p:cNvPicPr>
            <a:picLocks noChangeAspect="1"/>
          </p:cNvPicPr>
          <p:nvPr/>
        </p:nvPicPr>
        <p:blipFill>
          <a:blip r:embed="rId4"/>
          <a:stretch>
            <a:fillRect/>
          </a:stretch>
        </p:blipFill>
        <p:spPr>
          <a:xfrm>
            <a:off x="731520" y="2276856"/>
            <a:ext cx="566928" cy="566928"/>
          </a:xfrm>
          <a:prstGeom prst="rect">
            <a:avLst/>
          </a:prstGeom>
        </p:spPr>
      </p:pic>
      <p:sp>
        <p:nvSpPr>
          <p:cNvPr id="8" name="Khối 8"/>
          <p:cNvSpPr txBox="1"/>
          <p:nvPr/>
        </p:nvSpPr>
        <p:spPr>
          <a:xfrm>
            <a:off x="1481328" y="1947672"/>
            <a:ext cx="3090672" cy="1225296"/>
          </a:xfrm>
          <a:prstGeom prst="rect">
            <a:avLst/>
          </a:prstGeom>
          <a:noFill/>
          <a:ln/>
        </p:spPr>
        <p:txBody>
          <a:bodyPr wrap="square" lIns="0" tIns="0" rIns="0" bIns="0" rtlCol="0" anchor="ctr"/>
          <a:lstStyle/>
          <a:p>
            <a:pPr marL="0" indent="0">
              <a:lnSpc>
                <a:spcPct val="108000"/>
              </a:lnSpc>
              <a:buNone/>
            </a:pPr>
            <a:r>
              <a:rPr lang="en-US" sz="1800" dirty="0">
                <a:solidFill>
                  <a:srgbClr val="1B2A4A"/>
                </a:solidFill>
                <a:latin typeface="Roboto" pitchFamily="34" charset="0"/>
                <a:ea typeface="Roboto" pitchFamily="34" charset="-122"/>
                <a:cs typeface="Roboto" pitchFamily="34" charset="-120"/>
              </a:rPr>
              <a:t>Dự đoán giá nhà (</a:t>
            </a:r>
            <a:r>
              <a:rPr lang="en-US" sz="1800" dirty="0">
                <a:solidFill>
                  <a:srgbClr val="1F6BF0"/>
                </a:solidFill>
                <a:latin typeface="Roboto" pitchFamily="34" charset="0"/>
                <a:ea typeface="Roboto" pitchFamily="34" charset="-122"/>
                <a:cs typeface="Roboto" pitchFamily="34" charset="-120"/>
              </a:rPr>
              <a:t>SalePrice</a:t>
            </a:r>
            <a:r>
              <a:rPr lang="en-US" sz="1800" dirty="0">
                <a:solidFill>
                  <a:srgbClr val="1B2A4A"/>
                </a:solidFill>
                <a:latin typeface="Roboto" pitchFamily="34" charset="0"/>
                <a:ea typeface="Roboto" pitchFamily="34" charset="-122"/>
                <a:cs typeface="Roboto" pitchFamily="34" charset="-120"/>
              </a:rPr>
              <a:t>) trên thang logarit.</a:t>
            </a:r>
            <a:endParaRPr lang="en-US" sz="1800" dirty="0"/>
          </a:p>
        </p:txBody>
      </p:sp>
      <p:sp>
        <p:nvSpPr>
          <p:cNvPr id="9" name="Khối 9"/>
          <p:cNvSpPr/>
          <p:nvPr/>
        </p:nvSpPr>
        <p:spPr>
          <a:xfrm>
            <a:off x="548640" y="3364992"/>
            <a:ext cx="4160520" cy="1371600"/>
          </a:xfrm>
          <a:prstGeom prst="roundRect">
            <a:avLst>
              <a:gd name="adj" fmla="val 1066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0" name="Hình 10" descr="preencoded.png"/>
          <p:cNvPicPr>
            <a:picLocks noChangeAspect="1"/>
          </p:cNvPicPr>
          <p:nvPr/>
        </p:nvPicPr>
        <p:blipFill>
          <a:blip r:embed="rId5"/>
          <a:stretch>
            <a:fillRect/>
          </a:stretch>
        </p:blipFill>
        <p:spPr>
          <a:xfrm>
            <a:off x="731520" y="3767328"/>
            <a:ext cx="566928" cy="566928"/>
          </a:xfrm>
          <a:prstGeom prst="rect">
            <a:avLst/>
          </a:prstGeom>
        </p:spPr>
      </p:pic>
      <p:sp>
        <p:nvSpPr>
          <p:cNvPr id="11" name="Khối 11"/>
          <p:cNvSpPr txBox="1"/>
          <p:nvPr/>
        </p:nvSpPr>
        <p:spPr>
          <a:xfrm>
            <a:off x="1481328" y="3438144"/>
            <a:ext cx="3090672" cy="1225296"/>
          </a:xfrm>
          <a:prstGeom prst="rect">
            <a:avLst/>
          </a:prstGeom>
          <a:noFill/>
          <a:ln/>
        </p:spPr>
        <p:txBody>
          <a:bodyPr wrap="square" lIns="0" tIns="0" rIns="0" bIns="0" rtlCol="0" anchor="ctr"/>
          <a:lstStyle/>
          <a:p>
            <a:pPr marL="0" indent="0">
              <a:lnSpc>
                <a:spcPct val="108000"/>
              </a:lnSpc>
              <a:buNone/>
            </a:pPr>
            <a:r>
              <a:rPr lang="en-US" sz="1800" dirty="0">
                <a:solidFill>
                  <a:srgbClr val="1B2A4A"/>
                </a:solidFill>
                <a:latin typeface="Roboto" pitchFamily="34" charset="0"/>
                <a:ea typeface="Roboto" pitchFamily="34" charset="-122"/>
                <a:cs typeface="Roboto" pitchFamily="34" charset="-120"/>
              </a:rPr>
              <a:t>Xác định kỹ thuật Feature Selection nào thực sự cải thiện so với việc dùng toàn bộ đặc trưng.</a:t>
            </a:r>
            <a:endParaRPr lang="en-US" sz="1800" dirty="0"/>
          </a:p>
        </p:txBody>
      </p:sp>
      <p:sp>
        <p:nvSpPr>
          <p:cNvPr id="12" name="Khối 12"/>
          <p:cNvSpPr/>
          <p:nvPr/>
        </p:nvSpPr>
        <p:spPr>
          <a:xfrm>
            <a:off x="548640" y="4855464"/>
            <a:ext cx="4160520" cy="1371600"/>
          </a:xfrm>
          <a:prstGeom prst="roundRect">
            <a:avLst>
              <a:gd name="adj" fmla="val 1066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3" name="Hình 13" descr="preencoded.png"/>
          <p:cNvPicPr>
            <a:picLocks noChangeAspect="1"/>
          </p:cNvPicPr>
          <p:nvPr/>
        </p:nvPicPr>
        <p:blipFill>
          <a:blip r:embed="rId6"/>
          <a:stretch>
            <a:fillRect/>
          </a:stretch>
        </p:blipFill>
        <p:spPr>
          <a:xfrm>
            <a:off x="731520" y="5257800"/>
            <a:ext cx="566928" cy="566928"/>
          </a:xfrm>
          <a:prstGeom prst="rect">
            <a:avLst/>
          </a:prstGeom>
        </p:spPr>
      </p:pic>
      <p:sp>
        <p:nvSpPr>
          <p:cNvPr id="14" name="Khối 14"/>
          <p:cNvSpPr txBox="1"/>
          <p:nvPr/>
        </p:nvSpPr>
        <p:spPr>
          <a:xfrm>
            <a:off x="1481328" y="4928616"/>
            <a:ext cx="3090672" cy="1225296"/>
          </a:xfrm>
          <a:prstGeom prst="rect">
            <a:avLst/>
          </a:prstGeom>
          <a:noFill/>
          <a:ln/>
        </p:spPr>
        <p:txBody>
          <a:bodyPr wrap="square" lIns="0" tIns="0" rIns="0" bIns="0" rtlCol="0" anchor="ctr"/>
          <a:lstStyle/>
          <a:p>
            <a:pPr marL="0" indent="0">
              <a:lnSpc>
                <a:spcPct val="108000"/>
              </a:lnSpc>
              <a:buNone/>
            </a:pPr>
            <a:r>
              <a:rPr lang="en-US" sz="1800" dirty="0">
                <a:solidFill>
                  <a:srgbClr val="1B2A4A"/>
                </a:solidFill>
                <a:latin typeface="Roboto" pitchFamily="34" charset="0"/>
                <a:ea typeface="Roboto" pitchFamily="34" charset="-122"/>
                <a:cs typeface="Roboto" pitchFamily="34" charset="-120"/>
              </a:rPr>
              <a:t>So sánh công bằng 3 mô hình bằng 5-Fold Cross-Validation và tập Test độc lập.</a:t>
            </a:r>
            <a:endParaRPr lang="en-US" sz="1800" dirty="0"/>
          </a:p>
        </p:txBody>
      </p:sp>
      <p:sp>
        <p:nvSpPr>
          <p:cNvPr id="15" name="Khối 15"/>
          <p:cNvSpPr/>
          <p:nvPr/>
        </p:nvSpPr>
        <p:spPr>
          <a:xfrm>
            <a:off x="5029200" y="1325880"/>
            <a:ext cx="2739908"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Quy trình 5 bước</a:t>
            </a:r>
            <a:endParaRPr lang="en-US" sz="1800" dirty="0"/>
          </a:p>
        </p:txBody>
      </p:sp>
      <p:sp>
        <p:nvSpPr>
          <p:cNvPr id="16" name="Khối 16"/>
          <p:cNvSpPr/>
          <p:nvPr/>
        </p:nvSpPr>
        <p:spPr>
          <a:xfrm>
            <a:off x="521208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7" name="Khối 17"/>
          <p:cNvSpPr/>
          <p:nvPr/>
        </p:nvSpPr>
        <p:spPr>
          <a:xfrm>
            <a:off x="5029200" y="1874520"/>
            <a:ext cx="6611112" cy="786384"/>
          </a:xfrm>
          <a:prstGeom prst="roundRect">
            <a:avLst>
              <a:gd name="adj" fmla="val 1860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8" name="Khối 18"/>
          <p:cNvSpPr/>
          <p:nvPr/>
        </p:nvSpPr>
        <p:spPr>
          <a:xfrm>
            <a:off x="5175504" y="2011680"/>
            <a:ext cx="512064" cy="512064"/>
          </a:xfrm>
          <a:prstGeom prst="ellipse">
            <a:avLst/>
          </a:prstGeom>
          <a:solidFill>
            <a:srgbClr val="1F6BF0"/>
          </a:solidFill>
          <a:ln/>
        </p:spPr>
        <p:txBody>
          <a:bodyPr wrap="square" lIns="0" tIns="0" rIns="0" bIns="0" rtlCol="0" anchor="ctr"/>
          <a:lstStyle/>
          <a:p>
            <a:pPr marL="0" indent="0" algn="ctr">
              <a:buNone/>
            </a:pPr>
            <a:r>
              <a:rPr lang="en-US" sz="2000" dirty="0">
                <a:solidFill>
                  <a:srgbClr val="FFFFFF"/>
                </a:solidFill>
                <a:latin typeface="Anton" pitchFamily="34" charset="0"/>
                <a:ea typeface="Anton" pitchFamily="34" charset="-122"/>
                <a:cs typeface="Anton" pitchFamily="34" charset="-120"/>
              </a:rPr>
              <a:t>1</a:t>
            </a:r>
            <a:endParaRPr lang="en-US" sz="2000" dirty="0"/>
          </a:p>
        </p:txBody>
      </p:sp>
      <p:sp>
        <p:nvSpPr>
          <p:cNvPr id="19" name="Khối 19"/>
          <p:cNvSpPr txBox="1"/>
          <p:nvPr/>
        </p:nvSpPr>
        <p:spPr>
          <a:xfrm>
            <a:off x="5870448" y="1911096"/>
            <a:ext cx="5623560" cy="713232"/>
          </a:xfrm>
          <a:prstGeom prst="rect">
            <a:avLst/>
          </a:prstGeom>
          <a:noFill/>
          <a:ln/>
        </p:spPr>
        <p:txBody>
          <a:bodyPr wrap="square" lIns="0" tIns="0" rIns="0" bIns="0" rtlCol="0" anchor="ctr"/>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Tiền xử lý:</a:t>
            </a:r>
            <a:r>
              <a:rPr lang="en-US" sz="1800" dirty="0">
                <a:solidFill>
                  <a:srgbClr val="1B2A4A"/>
                </a:solidFill>
                <a:latin typeface="Roboto" pitchFamily="34" charset="0"/>
                <a:ea typeface="Roboto" pitchFamily="34" charset="-122"/>
                <a:cs typeface="Roboto" pitchFamily="34" charset="-120"/>
              </a:rPr>
              <a:t> Kế thừa Lab 03, có bổ sung các bước làm sạch nâng cao.</a:t>
            </a:r>
            <a:endParaRPr lang="en-US" sz="1800" dirty="0"/>
          </a:p>
        </p:txBody>
      </p:sp>
      <p:sp>
        <p:nvSpPr>
          <p:cNvPr id="20" name="Khối 20"/>
          <p:cNvSpPr/>
          <p:nvPr/>
        </p:nvSpPr>
        <p:spPr>
          <a:xfrm>
            <a:off x="5029200" y="2766060"/>
            <a:ext cx="6611112" cy="786384"/>
          </a:xfrm>
          <a:prstGeom prst="roundRect">
            <a:avLst>
              <a:gd name="adj" fmla="val 1860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1" name="Khối 21"/>
          <p:cNvSpPr/>
          <p:nvPr/>
        </p:nvSpPr>
        <p:spPr>
          <a:xfrm>
            <a:off x="5175504" y="2903220"/>
            <a:ext cx="512064" cy="512064"/>
          </a:xfrm>
          <a:prstGeom prst="ellipse">
            <a:avLst/>
          </a:prstGeom>
          <a:solidFill>
            <a:srgbClr val="1F6BF0"/>
          </a:solidFill>
          <a:ln/>
        </p:spPr>
        <p:txBody>
          <a:bodyPr wrap="square" lIns="0" tIns="0" rIns="0" bIns="0" rtlCol="0" anchor="ctr"/>
          <a:lstStyle/>
          <a:p>
            <a:pPr marL="0" indent="0" algn="ctr">
              <a:buNone/>
            </a:pPr>
            <a:r>
              <a:rPr lang="en-US" sz="2000" dirty="0">
                <a:solidFill>
                  <a:srgbClr val="FFFFFF"/>
                </a:solidFill>
                <a:latin typeface="Anton" pitchFamily="34" charset="0"/>
                <a:ea typeface="Anton" pitchFamily="34" charset="-122"/>
                <a:cs typeface="Anton" pitchFamily="34" charset="-120"/>
              </a:rPr>
              <a:t>2</a:t>
            </a:r>
            <a:endParaRPr lang="en-US" sz="2000" dirty="0"/>
          </a:p>
        </p:txBody>
      </p:sp>
      <p:sp>
        <p:nvSpPr>
          <p:cNvPr id="22" name="Khối 22"/>
          <p:cNvSpPr txBox="1"/>
          <p:nvPr/>
        </p:nvSpPr>
        <p:spPr>
          <a:xfrm>
            <a:off x="5870448" y="2802636"/>
            <a:ext cx="5623560" cy="713232"/>
          </a:xfrm>
          <a:prstGeom prst="rect">
            <a:avLst/>
          </a:prstGeom>
          <a:noFill/>
          <a:ln/>
        </p:spPr>
        <p:txBody>
          <a:bodyPr wrap="square" lIns="0" tIns="0" rIns="0" bIns="0" rtlCol="0" anchor="ctr"/>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Tách dữ liệu:</a:t>
            </a:r>
            <a:r>
              <a:rPr lang="en-US" sz="1800" dirty="0">
                <a:solidFill>
                  <a:srgbClr val="1B2A4A"/>
                </a:solidFill>
                <a:latin typeface="Roboto" pitchFamily="34" charset="0"/>
                <a:ea typeface="Roboto" pitchFamily="34" charset="-122"/>
                <a:cs typeface="Roboto" pitchFamily="34" charset="-120"/>
              </a:rPr>
              <a:t> Chia Train 80% / Test 20% (</a:t>
            </a:r>
            <a:r>
              <a:rPr lang="en-US" sz="1800" dirty="0">
                <a:solidFill>
                  <a:srgbClr val="1F6BF0"/>
                </a:solidFill>
                <a:latin typeface="Roboto" pitchFamily="34" charset="0"/>
                <a:ea typeface="Roboto" pitchFamily="34" charset="-122"/>
                <a:cs typeface="Roboto" pitchFamily="34" charset="-120"/>
              </a:rPr>
              <a:t>random_state = 42</a:t>
            </a:r>
            <a:r>
              <a:rPr lang="en-US" sz="1800" dirty="0">
                <a:solidFill>
                  <a:srgbClr val="1B2A4A"/>
                </a:solidFill>
                <a:latin typeface="Roboto" pitchFamily="34" charset="0"/>
                <a:ea typeface="Roboto" pitchFamily="34" charset="-122"/>
                <a:cs typeface="Roboto" pitchFamily="34" charset="-120"/>
              </a:rPr>
              <a:t>).</a:t>
            </a:r>
            <a:endParaRPr lang="en-US" sz="1800" dirty="0"/>
          </a:p>
        </p:txBody>
      </p:sp>
      <p:sp>
        <p:nvSpPr>
          <p:cNvPr id="23" name="Khối 23"/>
          <p:cNvSpPr/>
          <p:nvPr/>
        </p:nvSpPr>
        <p:spPr>
          <a:xfrm>
            <a:off x="5029200" y="3657600"/>
            <a:ext cx="6611112" cy="786384"/>
          </a:xfrm>
          <a:prstGeom prst="roundRect">
            <a:avLst>
              <a:gd name="adj" fmla="val 1860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4" name="Khối 24"/>
          <p:cNvSpPr/>
          <p:nvPr/>
        </p:nvSpPr>
        <p:spPr>
          <a:xfrm>
            <a:off x="5175504" y="3794760"/>
            <a:ext cx="512064" cy="512064"/>
          </a:xfrm>
          <a:prstGeom prst="ellipse">
            <a:avLst/>
          </a:prstGeom>
          <a:solidFill>
            <a:srgbClr val="1F6BF0"/>
          </a:solidFill>
          <a:ln/>
        </p:spPr>
        <p:txBody>
          <a:bodyPr wrap="square" lIns="0" tIns="0" rIns="0" bIns="0" rtlCol="0" anchor="ctr"/>
          <a:lstStyle/>
          <a:p>
            <a:pPr marL="0" indent="0" algn="ctr">
              <a:buNone/>
            </a:pPr>
            <a:r>
              <a:rPr lang="en-US" sz="2000" dirty="0">
                <a:solidFill>
                  <a:srgbClr val="FFFFFF"/>
                </a:solidFill>
                <a:latin typeface="Anton" pitchFamily="34" charset="0"/>
                <a:ea typeface="Anton" pitchFamily="34" charset="-122"/>
                <a:cs typeface="Anton" pitchFamily="34" charset="-120"/>
              </a:rPr>
              <a:t>3</a:t>
            </a:r>
            <a:endParaRPr lang="en-US" sz="2000" dirty="0"/>
          </a:p>
        </p:txBody>
      </p:sp>
      <p:sp>
        <p:nvSpPr>
          <p:cNvPr id="25" name="Khối 25"/>
          <p:cNvSpPr txBox="1"/>
          <p:nvPr/>
        </p:nvSpPr>
        <p:spPr>
          <a:xfrm>
            <a:off x="5870448" y="3694176"/>
            <a:ext cx="5623560" cy="713232"/>
          </a:xfrm>
          <a:prstGeom prst="rect">
            <a:avLst/>
          </a:prstGeom>
          <a:noFill/>
          <a:ln/>
        </p:spPr>
        <p:txBody>
          <a:bodyPr wrap="square" lIns="0" tIns="0" rIns="0" bIns="0" rtlCol="0" anchor="ctr"/>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Thử nghiệm Feature Selection:</a:t>
            </a:r>
            <a:r>
              <a:rPr lang="en-US" sz="1800" dirty="0">
                <a:solidFill>
                  <a:srgbClr val="1B2A4A"/>
                </a:solidFill>
                <a:latin typeface="Roboto" pitchFamily="34" charset="0"/>
                <a:ea typeface="Roboto" pitchFamily="34" charset="-122"/>
                <a:cs typeface="Roboto" pitchFamily="34" charset="-120"/>
              </a:rPr>
              <a:t> So sánh 6 kỹ thuật Feature Selection × 3 mô hình bằng 5-Fold CV.</a:t>
            </a:r>
            <a:endParaRPr lang="en-US" sz="1800" dirty="0"/>
          </a:p>
        </p:txBody>
      </p:sp>
      <p:sp>
        <p:nvSpPr>
          <p:cNvPr id="26" name="Khối 26"/>
          <p:cNvSpPr/>
          <p:nvPr/>
        </p:nvSpPr>
        <p:spPr>
          <a:xfrm>
            <a:off x="5029200" y="4549140"/>
            <a:ext cx="6611112" cy="786384"/>
          </a:xfrm>
          <a:prstGeom prst="roundRect">
            <a:avLst>
              <a:gd name="adj" fmla="val 1860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7" name="Khối 27"/>
          <p:cNvSpPr/>
          <p:nvPr/>
        </p:nvSpPr>
        <p:spPr>
          <a:xfrm>
            <a:off x="5175504" y="4686300"/>
            <a:ext cx="512064" cy="512064"/>
          </a:xfrm>
          <a:prstGeom prst="ellipse">
            <a:avLst/>
          </a:prstGeom>
          <a:solidFill>
            <a:srgbClr val="1F6BF0"/>
          </a:solidFill>
          <a:ln/>
        </p:spPr>
        <p:txBody>
          <a:bodyPr wrap="square" lIns="0" tIns="0" rIns="0" bIns="0" rtlCol="0" anchor="ctr"/>
          <a:lstStyle/>
          <a:p>
            <a:pPr marL="0" indent="0" algn="ctr">
              <a:buNone/>
            </a:pPr>
            <a:r>
              <a:rPr lang="en-US" sz="2000" dirty="0">
                <a:solidFill>
                  <a:srgbClr val="FFFFFF"/>
                </a:solidFill>
                <a:latin typeface="Anton" pitchFamily="34" charset="0"/>
                <a:ea typeface="Anton" pitchFamily="34" charset="-122"/>
                <a:cs typeface="Anton" pitchFamily="34" charset="-120"/>
              </a:rPr>
              <a:t>4</a:t>
            </a:r>
            <a:endParaRPr lang="en-US" sz="2000" dirty="0"/>
          </a:p>
        </p:txBody>
      </p:sp>
      <p:sp>
        <p:nvSpPr>
          <p:cNvPr id="28" name="Khối 28"/>
          <p:cNvSpPr txBox="1"/>
          <p:nvPr/>
        </p:nvSpPr>
        <p:spPr>
          <a:xfrm>
            <a:off x="5870448" y="4585716"/>
            <a:ext cx="5623560" cy="713232"/>
          </a:xfrm>
          <a:prstGeom prst="rect">
            <a:avLst/>
          </a:prstGeom>
          <a:noFill/>
          <a:ln/>
        </p:spPr>
        <p:txBody>
          <a:bodyPr wrap="square" lIns="0" tIns="0" rIns="0" bIns="0" rtlCol="0" anchor="ctr"/>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Tối ưu hóa:</a:t>
            </a:r>
            <a:r>
              <a:rPr lang="en-US" sz="1800" dirty="0">
                <a:solidFill>
                  <a:srgbClr val="1B2A4A"/>
                </a:solidFill>
                <a:latin typeface="Roboto" pitchFamily="34" charset="0"/>
                <a:ea typeface="Roboto" pitchFamily="34" charset="-122"/>
                <a:cs typeface="Roboto" pitchFamily="34" charset="-120"/>
              </a:rPr>
              <a:t> Tinh chỉnh siêu tham số bằng </a:t>
            </a:r>
            <a:r>
              <a:rPr lang="en-US" sz="1800" dirty="0">
                <a:solidFill>
                  <a:srgbClr val="1F6BF0"/>
                </a:solidFill>
                <a:latin typeface="Roboto" pitchFamily="34" charset="0"/>
                <a:ea typeface="Roboto" pitchFamily="34" charset="-122"/>
                <a:cs typeface="Roboto" pitchFamily="34" charset="-120"/>
              </a:rPr>
              <a:t>GridSearchCV</a:t>
            </a:r>
            <a:r>
              <a:rPr lang="en-US" sz="1800" dirty="0">
                <a:solidFill>
                  <a:srgbClr val="1B2A4A"/>
                </a:solidFill>
                <a:latin typeface="Roboto" pitchFamily="34" charset="0"/>
                <a:ea typeface="Roboto" pitchFamily="34" charset="-122"/>
                <a:cs typeface="Roboto" pitchFamily="34" charset="-120"/>
              </a:rPr>
              <a:t>.</a:t>
            </a:r>
            <a:endParaRPr lang="en-US" sz="1800" dirty="0"/>
          </a:p>
        </p:txBody>
      </p:sp>
      <p:sp>
        <p:nvSpPr>
          <p:cNvPr id="29" name="Khối 29"/>
          <p:cNvSpPr/>
          <p:nvPr/>
        </p:nvSpPr>
        <p:spPr>
          <a:xfrm>
            <a:off x="5029200" y="5440680"/>
            <a:ext cx="6611112" cy="786384"/>
          </a:xfrm>
          <a:prstGeom prst="roundRect">
            <a:avLst>
              <a:gd name="adj" fmla="val 1860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30" name="Khối 30"/>
          <p:cNvSpPr/>
          <p:nvPr/>
        </p:nvSpPr>
        <p:spPr>
          <a:xfrm>
            <a:off x="5175504" y="5577840"/>
            <a:ext cx="512064" cy="512064"/>
          </a:xfrm>
          <a:prstGeom prst="ellipse">
            <a:avLst/>
          </a:prstGeom>
          <a:solidFill>
            <a:srgbClr val="FF9F1A"/>
          </a:solidFill>
          <a:ln/>
        </p:spPr>
        <p:txBody>
          <a:bodyPr wrap="square" lIns="0" tIns="0" rIns="0" bIns="0" rtlCol="0" anchor="ctr"/>
          <a:lstStyle/>
          <a:p>
            <a:pPr marL="0" indent="0" algn="ctr">
              <a:buNone/>
            </a:pPr>
            <a:r>
              <a:rPr lang="en-US" sz="2000" dirty="0">
                <a:solidFill>
                  <a:srgbClr val="FFFFFF"/>
                </a:solidFill>
                <a:latin typeface="Anton" pitchFamily="34" charset="0"/>
                <a:ea typeface="Anton" pitchFamily="34" charset="-122"/>
                <a:cs typeface="Anton" pitchFamily="34" charset="-120"/>
              </a:rPr>
              <a:t>5</a:t>
            </a:r>
            <a:endParaRPr lang="en-US" sz="2000" dirty="0"/>
          </a:p>
        </p:txBody>
      </p:sp>
      <p:sp>
        <p:nvSpPr>
          <p:cNvPr id="31" name="Khối 31"/>
          <p:cNvSpPr txBox="1"/>
          <p:nvPr/>
        </p:nvSpPr>
        <p:spPr>
          <a:xfrm>
            <a:off x="5870448" y="5477256"/>
            <a:ext cx="5623560" cy="713232"/>
          </a:xfrm>
          <a:prstGeom prst="rect">
            <a:avLst/>
          </a:prstGeom>
          <a:noFill/>
          <a:ln/>
        </p:spPr>
        <p:txBody>
          <a:bodyPr wrap="square" lIns="0" tIns="0" rIns="0" bIns="0" rtlCol="0" anchor="ctr"/>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Đánh giá &amp; Phân tích:</a:t>
            </a:r>
            <a:r>
              <a:rPr lang="en-US" sz="1800" dirty="0">
                <a:solidFill>
                  <a:srgbClr val="1B2A4A"/>
                </a:solidFill>
                <a:latin typeface="Roboto" pitchFamily="34" charset="0"/>
                <a:ea typeface="Roboto" pitchFamily="34" charset="-122"/>
                <a:cs typeface="Roboto" pitchFamily="34" charset="-120"/>
              </a:rPr>
              <a:t> Đánh giá cuối trên tập Test độc lập + phân tích số dư (residuals).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53" presetClass="entr" presetSubtype="16" fill="hold" nodeType="withEffect">
                                  <p:stCondLst>
                                    <p:cond delay="25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42" presetClass="entr" presetSubtype="0" fill="hold" grpId="0" nodeType="with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53" presetClass="entr" presetSubtype="16" fill="hold" nodeType="withEffect">
                                  <p:stCondLst>
                                    <p:cond delay="40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par>
                                <p:cTn id="36" presetID="42" presetClass="entr" presetSubtype="0" fill="hold" grpId="0" nodeType="withEffect">
                                  <p:stCondLst>
                                    <p:cond delay="30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45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par>
                                <p:cTn id="46" presetID="53" presetClass="entr" presetSubtype="16" fill="hold" nodeType="withEffect">
                                  <p:stCondLst>
                                    <p:cond delay="550"/>
                                  </p:stCondLst>
                                  <p:childTnLst>
                                    <p:set>
                                      <p:cBhvr>
                                        <p:cTn id="47" dur="1" fill="hold">
                                          <p:stCondLst>
                                            <p:cond delay="0"/>
                                          </p:stCondLst>
                                        </p:cTn>
                                        <p:tgtEl>
                                          <p:spTgt spid="13"/>
                                        </p:tgtEl>
                                        <p:attrNameLst>
                                          <p:attrName>style.visibility</p:attrName>
                                        </p:attrNameLst>
                                      </p:cBhvr>
                                      <p:to>
                                        <p:strVal val="visible"/>
                                      </p:to>
                                    </p:set>
                                    <p:anim calcmode="lin" valueType="num">
                                      <p:cBhvr>
                                        <p:cTn id="48" dur="500" fill="hold"/>
                                        <p:tgtEl>
                                          <p:spTgt spid="13"/>
                                        </p:tgtEl>
                                        <p:attrNameLst>
                                          <p:attrName>ppt_w</p:attrName>
                                        </p:attrNameLst>
                                      </p:cBhvr>
                                      <p:tavLst>
                                        <p:tav tm="0">
                                          <p:val>
                                            <p:fltVal val="0"/>
                                          </p:val>
                                        </p:tav>
                                        <p:tav tm="100000">
                                          <p:val>
                                            <p:strVal val="#ppt_w"/>
                                          </p:val>
                                        </p:tav>
                                      </p:tavLst>
                                    </p:anim>
                                    <p:anim calcmode="lin" valueType="num">
                                      <p:cBhvr>
                                        <p:cTn id="49" dur="500" fill="hold"/>
                                        <p:tgtEl>
                                          <p:spTgt spid="13"/>
                                        </p:tgtEl>
                                        <p:attrNameLst>
                                          <p:attrName>ppt_h</p:attrName>
                                        </p:attrNameLst>
                                      </p:cBhvr>
                                      <p:tavLst>
                                        <p:tav tm="0">
                                          <p:val>
                                            <p:fltVal val="0"/>
                                          </p:val>
                                        </p:tav>
                                        <p:tav tm="100000">
                                          <p:val>
                                            <p:strVal val="#ppt_h"/>
                                          </p:val>
                                        </p:tav>
                                      </p:tavLst>
                                    </p:anim>
                                    <p:animEffect transition="in" filter="fade">
                                      <p:cBhvr>
                                        <p:cTn id="50" dur="500"/>
                                        <p:tgtEl>
                                          <p:spTgt spid="13"/>
                                        </p:tgtEl>
                                      </p:cBhvr>
                                    </p:animEffect>
                                  </p:childTnLst>
                                </p:cTn>
                              </p:par>
                              <p:par>
                                <p:cTn id="51" presetID="42" presetClass="entr" presetSubtype="0" fill="hold" grpId="0" nodeType="withEffect">
                                  <p:stCondLst>
                                    <p:cond delay="45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additive="base">
                                        <p:cTn id="54" dur="600" fill="hold"/>
                                        <p:tgtEl>
                                          <p:spTgt spid="14"/>
                                        </p:tgtEl>
                                        <p:attrNameLst>
                                          <p:attrName>ppt_x</p:attrName>
                                        </p:attrNameLst>
                                      </p:cBhvr>
                                      <p:tavLst>
                                        <p:tav tm="0">
                                          <p:val>
                                            <p:strVal val="#ppt_x"/>
                                          </p:val>
                                        </p:tav>
                                        <p:tav tm="100000">
                                          <p:val>
                                            <p:strVal val="#ppt_x"/>
                                          </p:val>
                                        </p:tav>
                                      </p:tavLst>
                                    </p:anim>
                                    <p:anim calcmode="lin" valueType="num">
                                      <p:cBhvr additive="base">
                                        <p:cTn id="55" dur="6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left)">
                                      <p:cBhvr>
                                        <p:cTn id="60" dur="500"/>
                                        <p:tgtEl>
                                          <p:spTgt spid="15"/>
                                        </p:tgtEl>
                                      </p:cBhvr>
                                    </p:animEffect>
                                  </p:childTnLst>
                                </p:cTn>
                              </p:par>
                              <p:par>
                                <p:cTn id="61" presetID="10" presetClass="entr" presetSubtype="0" fill="hold" grpId="0" nodeType="withEffect">
                                  <p:stCondLst>
                                    <p:cond delay="15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42" presetClass="entr" presetSubtype="0" fill="hold" grpId="0" nodeType="withEffect">
                                  <p:stCondLst>
                                    <p:cond delay="15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600"/>
                                        <p:tgtEl>
                                          <p:spTgt spid="17"/>
                                        </p:tgtEl>
                                      </p:cBhvr>
                                    </p:animEffect>
                                    <p:anim calcmode="lin" valueType="num">
                                      <p:cBhvr additive="base">
                                        <p:cTn id="67" dur="600" fill="hold"/>
                                        <p:tgtEl>
                                          <p:spTgt spid="17"/>
                                        </p:tgtEl>
                                        <p:attrNameLst>
                                          <p:attrName>ppt_x</p:attrName>
                                        </p:attrNameLst>
                                      </p:cBhvr>
                                      <p:tavLst>
                                        <p:tav tm="0">
                                          <p:val>
                                            <p:strVal val="#ppt_x"/>
                                          </p:val>
                                        </p:tav>
                                        <p:tav tm="100000">
                                          <p:val>
                                            <p:strVal val="#ppt_x"/>
                                          </p:val>
                                        </p:tav>
                                      </p:tavLst>
                                    </p:anim>
                                    <p:anim calcmode="lin" valueType="num">
                                      <p:cBhvr additive="base">
                                        <p:cTn id="68" dur="600" fill="hold"/>
                                        <p:tgtEl>
                                          <p:spTgt spid="17"/>
                                        </p:tgtEl>
                                        <p:attrNameLst>
                                          <p:attrName>ppt_y</p:attrName>
                                        </p:attrNameLst>
                                      </p:cBhvr>
                                      <p:tavLst>
                                        <p:tav tm="0">
                                          <p:val>
                                            <p:strVal val="#ppt_y+.1"/>
                                          </p:val>
                                        </p:tav>
                                        <p:tav tm="100000">
                                          <p:val>
                                            <p:strVal val="#ppt_y"/>
                                          </p:val>
                                        </p:tav>
                                      </p:tavLst>
                                    </p:anim>
                                  </p:childTnLst>
                                </p:cTn>
                              </p:par>
                              <p:par>
                                <p:cTn id="69" presetID="53" presetClass="entr" presetSubtype="16" fill="hold" grpId="0" nodeType="withEffect">
                                  <p:stCondLst>
                                    <p:cond delay="250"/>
                                  </p:stCondLst>
                                  <p:childTnLst>
                                    <p:set>
                                      <p:cBhvr>
                                        <p:cTn id="70" dur="1" fill="hold">
                                          <p:stCondLst>
                                            <p:cond delay="0"/>
                                          </p:stCondLst>
                                        </p:cTn>
                                        <p:tgtEl>
                                          <p:spTgt spid="18"/>
                                        </p:tgtEl>
                                        <p:attrNameLst>
                                          <p:attrName>style.visibility</p:attrName>
                                        </p:attrNameLst>
                                      </p:cBhvr>
                                      <p:to>
                                        <p:strVal val="visible"/>
                                      </p:to>
                                    </p:set>
                                    <p:anim calcmode="lin" valueType="num">
                                      <p:cBhvr>
                                        <p:cTn id="71" dur="500" fill="hold"/>
                                        <p:tgtEl>
                                          <p:spTgt spid="18"/>
                                        </p:tgtEl>
                                        <p:attrNameLst>
                                          <p:attrName>ppt_w</p:attrName>
                                        </p:attrNameLst>
                                      </p:cBhvr>
                                      <p:tavLst>
                                        <p:tav tm="0">
                                          <p:val>
                                            <p:fltVal val="0"/>
                                          </p:val>
                                        </p:tav>
                                        <p:tav tm="100000">
                                          <p:val>
                                            <p:strVal val="#ppt_w"/>
                                          </p:val>
                                        </p:tav>
                                      </p:tavLst>
                                    </p:anim>
                                    <p:anim calcmode="lin" valueType="num">
                                      <p:cBhvr>
                                        <p:cTn id="72" dur="500" fill="hold"/>
                                        <p:tgtEl>
                                          <p:spTgt spid="18"/>
                                        </p:tgtEl>
                                        <p:attrNameLst>
                                          <p:attrName>ppt_h</p:attrName>
                                        </p:attrNameLst>
                                      </p:cBhvr>
                                      <p:tavLst>
                                        <p:tav tm="0">
                                          <p:val>
                                            <p:fltVal val="0"/>
                                          </p:val>
                                        </p:tav>
                                        <p:tav tm="100000">
                                          <p:val>
                                            <p:strVal val="#ppt_h"/>
                                          </p:val>
                                        </p:tav>
                                      </p:tavLst>
                                    </p:anim>
                                    <p:animEffect transition="in" filter="fade">
                                      <p:cBhvr>
                                        <p:cTn id="73" dur="500"/>
                                        <p:tgtEl>
                                          <p:spTgt spid="18"/>
                                        </p:tgtEl>
                                      </p:cBhvr>
                                    </p:animEffect>
                                  </p:childTnLst>
                                </p:cTn>
                              </p:par>
                              <p:par>
                                <p:cTn id="74" presetID="42" presetClass="entr" presetSubtype="0" fill="hold" grpId="0" nodeType="withEffect">
                                  <p:stCondLst>
                                    <p:cond delay="15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600"/>
                                        <p:tgtEl>
                                          <p:spTgt spid="19"/>
                                        </p:tgtEl>
                                      </p:cBhvr>
                                    </p:animEffect>
                                    <p:anim calcmode="lin" valueType="num">
                                      <p:cBhvr additive="base">
                                        <p:cTn id="77" dur="600" fill="hold"/>
                                        <p:tgtEl>
                                          <p:spTgt spid="19"/>
                                        </p:tgtEl>
                                        <p:attrNameLst>
                                          <p:attrName>ppt_x</p:attrName>
                                        </p:attrNameLst>
                                      </p:cBhvr>
                                      <p:tavLst>
                                        <p:tav tm="0">
                                          <p:val>
                                            <p:strVal val="#ppt_x"/>
                                          </p:val>
                                        </p:tav>
                                        <p:tav tm="100000">
                                          <p:val>
                                            <p:strVal val="#ppt_x"/>
                                          </p:val>
                                        </p:tav>
                                      </p:tavLst>
                                    </p:anim>
                                    <p:anim calcmode="lin" valueType="num">
                                      <p:cBhvr additive="base">
                                        <p:cTn id="78"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600"/>
                                        <p:tgtEl>
                                          <p:spTgt spid="20"/>
                                        </p:tgtEl>
                                      </p:cBhvr>
                                    </p:animEffect>
                                    <p:anim calcmode="lin" valueType="num">
                                      <p:cBhvr additive="base">
                                        <p:cTn id="84" dur="600" fill="hold"/>
                                        <p:tgtEl>
                                          <p:spTgt spid="20"/>
                                        </p:tgtEl>
                                        <p:attrNameLst>
                                          <p:attrName>ppt_x</p:attrName>
                                        </p:attrNameLst>
                                      </p:cBhvr>
                                      <p:tavLst>
                                        <p:tav tm="0">
                                          <p:val>
                                            <p:strVal val="#ppt_x"/>
                                          </p:val>
                                        </p:tav>
                                        <p:tav tm="100000">
                                          <p:val>
                                            <p:strVal val="#ppt_x"/>
                                          </p:val>
                                        </p:tav>
                                      </p:tavLst>
                                    </p:anim>
                                    <p:anim calcmode="lin" valueType="num">
                                      <p:cBhvr additive="base">
                                        <p:cTn id="85" dur="600" fill="hold"/>
                                        <p:tgtEl>
                                          <p:spTgt spid="20"/>
                                        </p:tgtEl>
                                        <p:attrNameLst>
                                          <p:attrName>ppt_y</p:attrName>
                                        </p:attrNameLst>
                                      </p:cBhvr>
                                      <p:tavLst>
                                        <p:tav tm="0">
                                          <p:val>
                                            <p:strVal val="#ppt_y+.1"/>
                                          </p:val>
                                        </p:tav>
                                        <p:tav tm="100000">
                                          <p:val>
                                            <p:strVal val="#ppt_y"/>
                                          </p:val>
                                        </p:tav>
                                      </p:tavLst>
                                    </p:anim>
                                  </p:childTnLst>
                                </p:cTn>
                              </p:par>
                              <p:par>
                                <p:cTn id="86" presetID="53" presetClass="entr" presetSubtype="16" fill="hold" grpId="0" nodeType="withEffect">
                                  <p:stCondLst>
                                    <p:cond delay="100"/>
                                  </p:stCondLst>
                                  <p:childTnLst>
                                    <p:set>
                                      <p:cBhvr>
                                        <p:cTn id="87" dur="1" fill="hold">
                                          <p:stCondLst>
                                            <p:cond delay="0"/>
                                          </p:stCondLst>
                                        </p:cTn>
                                        <p:tgtEl>
                                          <p:spTgt spid="21"/>
                                        </p:tgtEl>
                                        <p:attrNameLst>
                                          <p:attrName>style.visibility</p:attrName>
                                        </p:attrNameLst>
                                      </p:cBhvr>
                                      <p:to>
                                        <p:strVal val="visible"/>
                                      </p:to>
                                    </p:set>
                                    <p:anim calcmode="lin" valueType="num">
                                      <p:cBhvr>
                                        <p:cTn id="88" dur="500" fill="hold"/>
                                        <p:tgtEl>
                                          <p:spTgt spid="21"/>
                                        </p:tgtEl>
                                        <p:attrNameLst>
                                          <p:attrName>ppt_w</p:attrName>
                                        </p:attrNameLst>
                                      </p:cBhvr>
                                      <p:tavLst>
                                        <p:tav tm="0">
                                          <p:val>
                                            <p:fltVal val="0"/>
                                          </p:val>
                                        </p:tav>
                                        <p:tav tm="100000">
                                          <p:val>
                                            <p:strVal val="#ppt_w"/>
                                          </p:val>
                                        </p:tav>
                                      </p:tavLst>
                                    </p:anim>
                                    <p:anim calcmode="lin" valueType="num">
                                      <p:cBhvr>
                                        <p:cTn id="89" dur="500" fill="hold"/>
                                        <p:tgtEl>
                                          <p:spTgt spid="21"/>
                                        </p:tgtEl>
                                        <p:attrNameLst>
                                          <p:attrName>ppt_h</p:attrName>
                                        </p:attrNameLst>
                                      </p:cBhvr>
                                      <p:tavLst>
                                        <p:tav tm="0">
                                          <p:val>
                                            <p:fltVal val="0"/>
                                          </p:val>
                                        </p:tav>
                                        <p:tav tm="100000">
                                          <p:val>
                                            <p:strVal val="#ppt_h"/>
                                          </p:val>
                                        </p:tav>
                                      </p:tavLst>
                                    </p:anim>
                                    <p:animEffect transition="in" filter="fade">
                                      <p:cBhvr>
                                        <p:cTn id="90" dur="500"/>
                                        <p:tgtEl>
                                          <p:spTgt spid="21"/>
                                        </p:tgtEl>
                                      </p:cBhvr>
                                    </p:animEffect>
                                  </p:childTnLst>
                                </p:cTn>
                              </p:par>
                              <p:par>
                                <p:cTn id="91" presetID="42"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600"/>
                                        <p:tgtEl>
                                          <p:spTgt spid="22"/>
                                        </p:tgtEl>
                                      </p:cBhvr>
                                    </p:animEffect>
                                    <p:anim calcmode="lin" valueType="num">
                                      <p:cBhvr additive="base">
                                        <p:cTn id="94" dur="600" fill="hold"/>
                                        <p:tgtEl>
                                          <p:spTgt spid="22"/>
                                        </p:tgtEl>
                                        <p:attrNameLst>
                                          <p:attrName>ppt_x</p:attrName>
                                        </p:attrNameLst>
                                      </p:cBhvr>
                                      <p:tavLst>
                                        <p:tav tm="0">
                                          <p:val>
                                            <p:strVal val="#ppt_x"/>
                                          </p:val>
                                        </p:tav>
                                        <p:tav tm="100000">
                                          <p:val>
                                            <p:strVal val="#ppt_x"/>
                                          </p:val>
                                        </p:tav>
                                      </p:tavLst>
                                    </p:anim>
                                    <p:anim calcmode="lin" valueType="num">
                                      <p:cBhvr additive="base">
                                        <p:cTn id="95" dur="6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600"/>
                                        <p:tgtEl>
                                          <p:spTgt spid="23"/>
                                        </p:tgtEl>
                                      </p:cBhvr>
                                    </p:animEffect>
                                    <p:anim calcmode="lin" valueType="num">
                                      <p:cBhvr additive="base">
                                        <p:cTn id="101" dur="600" fill="hold"/>
                                        <p:tgtEl>
                                          <p:spTgt spid="23"/>
                                        </p:tgtEl>
                                        <p:attrNameLst>
                                          <p:attrName>ppt_x</p:attrName>
                                        </p:attrNameLst>
                                      </p:cBhvr>
                                      <p:tavLst>
                                        <p:tav tm="0">
                                          <p:val>
                                            <p:strVal val="#ppt_x"/>
                                          </p:val>
                                        </p:tav>
                                        <p:tav tm="100000">
                                          <p:val>
                                            <p:strVal val="#ppt_x"/>
                                          </p:val>
                                        </p:tav>
                                      </p:tavLst>
                                    </p:anim>
                                    <p:anim calcmode="lin" valueType="num">
                                      <p:cBhvr additive="base">
                                        <p:cTn id="102" dur="600" fill="hold"/>
                                        <p:tgtEl>
                                          <p:spTgt spid="23"/>
                                        </p:tgtEl>
                                        <p:attrNameLst>
                                          <p:attrName>ppt_y</p:attrName>
                                        </p:attrNameLst>
                                      </p:cBhvr>
                                      <p:tavLst>
                                        <p:tav tm="0">
                                          <p:val>
                                            <p:strVal val="#ppt_y+.1"/>
                                          </p:val>
                                        </p:tav>
                                        <p:tav tm="100000">
                                          <p:val>
                                            <p:strVal val="#ppt_y"/>
                                          </p:val>
                                        </p:tav>
                                      </p:tavLst>
                                    </p:anim>
                                  </p:childTnLst>
                                </p:cTn>
                              </p:par>
                              <p:par>
                                <p:cTn id="103" presetID="53" presetClass="entr" presetSubtype="16" fill="hold" grpId="0" nodeType="withEffect">
                                  <p:stCondLst>
                                    <p:cond delay="100"/>
                                  </p:stCondLst>
                                  <p:childTnLst>
                                    <p:set>
                                      <p:cBhvr>
                                        <p:cTn id="104" dur="1" fill="hold">
                                          <p:stCondLst>
                                            <p:cond delay="0"/>
                                          </p:stCondLst>
                                        </p:cTn>
                                        <p:tgtEl>
                                          <p:spTgt spid="24"/>
                                        </p:tgtEl>
                                        <p:attrNameLst>
                                          <p:attrName>style.visibility</p:attrName>
                                        </p:attrNameLst>
                                      </p:cBhvr>
                                      <p:to>
                                        <p:strVal val="visible"/>
                                      </p:to>
                                    </p:set>
                                    <p:anim calcmode="lin" valueType="num">
                                      <p:cBhvr>
                                        <p:cTn id="105" dur="500" fill="hold"/>
                                        <p:tgtEl>
                                          <p:spTgt spid="24"/>
                                        </p:tgtEl>
                                        <p:attrNameLst>
                                          <p:attrName>ppt_w</p:attrName>
                                        </p:attrNameLst>
                                      </p:cBhvr>
                                      <p:tavLst>
                                        <p:tav tm="0">
                                          <p:val>
                                            <p:fltVal val="0"/>
                                          </p:val>
                                        </p:tav>
                                        <p:tav tm="100000">
                                          <p:val>
                                            <p:strVal val="#ppt_w"/>
                                          </p:val>
                                        </p:tav>
                                      </p:tavLst>
                                    </p:anim>
                                    <p:anim calcmode="lin" valueType="num">
                                      <p:cBhvr>
                                        <p:cTn id="106" dur="500" fill="hold"/>
                                        <p:tgtEl>
                                          <p:spTgt spid="24"/>
                                        </p:tgtEl>
                                        <p:attrNameLst>
                                          <p:attrName>ppt_h</p:attrName>
                                        </p:attrNameLst>
                                      </p:cBhvr>
                                      <p:tavLst>
                                        <p:tav tm="0">
                                          <p:val>
                                            <p:fltVal val="0"/>
                                          </p:val>
                                        </p:tav>
                                        <p:tav tm="100000">
                                          <p:val>
                                            <p:strVal val="#ppt_h"/>
                                          </p:val>
                                        </p:tav>
                                      </p:tavLst>
                                    </p:anim>
                                    <p:animEffect transition="in" filter="fade">
                                      <p:cBhvr>
                                        <p:cTn id="107" dur="500"/>
                                        <p:tgtEl>
                                          <p:spTgt spid="24"/>
                                        </p:tgtEl>
                                      </p:cBhvr>
                                    </p:animEffect>
                                  </p:childTnLst>
                                </p:cTn>
                              </p:par>
                              <p:par>
                                <p:cTn id="108" presetID="42" presetClass="entr" presetSubtype="0"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600"/>
                                        <p:tgtEl>
                                          <p:spTgt spid="25"/>
                                        </p:tgtEl>
                                      </p:cBhvr>
                                    </p:animEffect>
                                    <p:anim calcmode="lin" valueType="num">
                                      <p:cBhvr additive="base">
                                        <p:cTn id="111" dur="600" fill="hold"/>
                                        <p:tgtEl>
                                          <p:spTgt spid="25"/>
                                        </p:tgtEl>
                                        <p:attrNameLst>
                                          <p:attrName>ppt_x</p:attrName>
                                        </p:attrNameLst>
                                      </p:cBhvr>
                                      <p:tavLst>
                                        <p:tav tm="0">
                                          <p:val>
                                            <p:strVal val="#ppt_x"/>
                                          </p:val>
                                        </p:tav>
                                        <p:tav tm="100000">
                                          <p:val>
                                            <p:strVal val="#ppt_x"/>
                                          </p:val>
                                        </p:tav>
                                      </p:tavLst>
                                    </p:anim>
                                    <p:anim calcmode="lin" valueType="num">
                                      <p:cBhvr additive="base">
                                        <p:cTn id="112" dur="6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grpId="0" nodeType="click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600"/>
                                        <p:tgtEl>
                                          <p:spTgt spid="26"/>
                                        </p:tgtEl>
                                      </p:cBhvr>
                                    </p:animEffect>
                                    <p:anim calcmode="lin" valueType="num">
                                      <p:cBhvr additive="base">
                                        <p:cTn id="118" dur="600" fill="hold"/>
                                        <p:tgtEl>
                                          <p:spTgt spid="26"/>
                                        </p:tgtEl>
                                        <p:attrNameLst>
                                          <p:attrName>ppt_x</p:attrName>
                                        </p:attrNameLst>
                                      </p:cBhvr>
                                      <p:tavLst>
                                        <p:tav tm="0">
                                          <p:val>
                                            <p:strVal val="#ppt_x"/>
                                          </p:val>
                                        </p:tav>
                                        <p:tav tm="100000">
                                          <p:val>
                                            <p:strVal val="#ppt_x"/>
                                          </p:val>
                                        </p:tav>
                                      </p:tavLst>
                                    </p:anim>
                                    <p:anim calcmode="lin" valueType="num">
                                      <p:cBhvr additive="base">
                                        <p:cTn id="119" dur="600" fill="hold"/>
                                        <p:tgtEl>
                                          <p:spTgt spid="26"/>
                                        </p:tgtEl>
                                        <p:attrNameLst>
                                          <p:attrName>ppt_y</p:attrName>
                                        </p:attrNameLst>
                                      </p:cBhvr>
                                      <p:tavLst>
                                        <p:tav tm="0">
                                          <p:val>
                                            <p:strVal val="#ppt_y+.1"/>
                                          </p:val>
                                        </p:tav>
                                        <p:tav tm="100000">
                                          <p:val>
                                            <p:strVal val="#ppt_y"/>
                                          </p:val>
                                        </p:tav>
                                      </p:tavLst>
                                    </p:anim>
                                  </p:childTnLst>
                                </p:cTn>
                              </p:par>
                              <p:par>
                                <p:cTn id="120" presetID="53" presetClass="entr" presetSubtype="16" fill="hold" grpId="0" nodeType="withEffect">
                                  <p:stCondLst>
                                    <p:cond delay="100"/>
                                  </p:stCondLst>
                                  <p:childTnLst>
                                    <p:set>
                                      <p:cBhvr>
                                        <p:cTn id="121" dur="1" fill="hold">
                                          <p:stCondLst>
                                            <p:cond delay="0"/>
                                          </p:stCondLst>
                                        </p:cTn>
                                        <p:tgtEl>
                                          <p:spTgt spid="27"/>
                                        </p:tgtEl>
                                        <p:attrNameLst>
                                          <p:attrName>style.visibility</p:attrName>
                                        </p:attrNameLst>
                                      </p:cBhvr>
                                      <p:to>
                                        <p:strVal val="visible"/>
                                      </p:to>
                                    </p:set>
                                    <p:anim calcmode="lin" valueType="num">
                                      <p:cBhvr>
                                        <p:cTn id="122" dur="500" fill="hold"/>
                                        <p:tgtEl>
                                          <p:spTgt spid="27"/>
                                        </p:tgtEl>
                                        <p:attrNameLst>
                                          <p:attrName>ppt_w</p:attrName>
                                        </p:attrNameLst>
                                      </p:cBhvr>
                                      <p:tavLst>
                                        <p:tav tm="0">
                                          <p:val>
                                            <p:fltVal val="0"/>
                                          </p:val>
                                        </p:tav>
                                        <p:tav tm="100000">
                                          <p:val>
                                            <p:strVal val="#ppt_w"/>
                                          </p:val>
                                        </p:tav>
                                      </p:tavLst>
                                    </p:anim>
                                    <p:anim calcmode="lin" valueType="num">
                                      <p:cBhvr>
                                        <p:cTn id="123" dur="500" fill="hold"/>
                                        <p:tgtEl>
                                          <p:spTgt spid="27"/>
                                        </p:tgtEl>
                                        <p:attrNameLst>
                                          <p:attrName>ppt_h</p:attrName>
                                        </p:attrNameLst>
                                      </p:cBhvr>
                                      <p:tavLst>
                                        <p:tav tm="0">
                                          <p:val>
                                            <p:fltVal val="0"/>
                                          </p:val>
                                        </p:tav>
                                        <p:tav tm="100000">
                                          <p:val>
                                            <p:strVal val="#ppt_h"/>
                                          </p:val>
                                        </p:tav>
                                      </p:tavLst>
                                    </p:anim>
                                    <p:animEffect transition="in" filter="fade">
                                      <p:cBhvr>
                                        <p:cTn id="124" dur="500"/>
                                        <p:tgtEl>
                                          <p:spTgt spid="27"/>
                                        </p:tgtEl>
                                      </p:cBhvr>
                                    </p:animEffect>
                                  </p:childTnLst>
                                </p:cTn>
                              </p:par>
                              <p:par>
                                <p:cTn id="125" presetID="42" presetClass="entr" presetSubtype="0"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600"/>
                                        <p:tgtEl>
                                          <p:spTgt spid="28"/>
                                        </p:tgtEl>
                                      </p:cBhvr>
                                    </p:animEffect>
                                    <p:anim calcmode="lin" valueType="num">
                                      <p:cBhvr additive="base">
                                        <p:cTn id="128" dur="600" fill="hold"/>
                                        <p:tgtEl>
                                          <p:spTgt spid="28"/>
                                        </p:tgtEl>
                                        <p:attrNameLst>
                                          <p:attrName>ppt_x</p:attrName>
                                        </p:attrNameLst>
                                      </p:cBhvr>
                                      <p:tavLst>
                                        <p:tav tm="0">
                                          <p:val>
                                            <p:strVal val="#ppt_x"/>
                                          </p:val>
                                        </p:tav>
                                        <p:tav tm="100000">
                                          <p:val>
                                            <p:strVal val="#ppt_x"/>
                                          </p:val>
                                        </p:tav>
                                      </p:tavLst>
                                    </p:anim>
                                    <p:anim calcmode="lin" valueType="num">
                                      <p:cBhvr additive="base">
                                        <p:cTn id="129" dur="6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grpId="0" nodeType="click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600"/>
                                        <p:tgtEl>
                                          <p:spTgt spid="29"/>
                                        </p:tgtEl>
                                      </p:cBhvr>
                                    </p:animEffect>
                                    <p:anim calcmode="lin" valueType="num">
                                      <p:cBhvr additive="base">
                                        <p:cTn id="135" dur="600" fill="hold"/>
                                        <p:tgtEl>
                                          <p:spTgt spid="29"/>
                                        </p:tgtEl>
                                        <p:attrNameLst>
                                          <p:attrName>ppt_x</p:attrName>
                                        </p:attrNameLst>
                                      </p:cBhvr>
                                      <p:tavLst>
                                        <p:tav tm="0">
                                          <p:val>
                                            <p:strVal val="#ppt_x"/>
                                          </p:val>
                                        </p:tav>
                                        <p:tav tm="100000">
                                          <p:val>
                                            <p:strVal val="#ppt_x"/>
                                          </p:val>
                                        </p:tav>
                                      </p:tavLst>
                                    </p:anim>
                                    <p:anim calcmode="lin" valueType="num">
                                      <p:cBhvr additive="base">
                                        <p:cTn id="136" dur="600" fill="hold"/>
                                        <p:tgtEl>
                                          <p:spTgt spid="29"/>
                                        </p:tgtEl>
                                        <p:attrNameLst>
                                          <p:attrName>ppt_y</p:attrName>
                                        </p:attrNameLst>
                                      </p:cBhvr>
                                      <p:tavLst>
                                        <p:tav tm="0">
                                          <p:val>
                                            <p:strVal val="#ppt_y+.1"/>
                                          </p:val>
                                        </p:tav>
                                        <p:tav tm="100000">
                                          <p:val>
                                            <p:strVal val="#ppt_y"/>
                                          </p:val>
                                        </p:tav>
                                      </p:tavLst>
                                    </p:anim>
                                  </p:childTnLst>
                                </p:cTn>
                              </p:par>
                              <p:par>
                                <p:cTn id="137" presetID="53" presetClass="entr" presetSubtype="16" fill="hold" grpId="0" nodeType="withEffect">
                                  <p:stCondLst>
                                    <p:cond delay="100"/>
                                  </p:stCondLst>
                                  <p:childTnLst>
                                    <p:set>
                                      <p:cBhvr>
                                        <p:cTn id="138" dur="1" fill="hold">
                                          <p:stCondLst>
                                            <p:cond delay="0"/>
                                          </p:stCondLst>
                                        </p:cTn>
                                        <p:tgtEl>
                                          <p:spTgt spid="30"/>
                                        </p:tgtEl>
                                        <p:attrNameLst>
                                          <p:attrName>style.visibility</p:attrName>
                                        </p:attrNameLst>
                                      </p:cBhvr>
                                      <p:to>
                                        <p:strVal val="visible"/>
                                      </p:to>
                                    </p:set>
                                    <p:anim calcmode="lin" valueType="num">
                                      <p:cBhvr>
                                        <p:cTn id="139" dur="500" fill="hold"/>
                                        <p:tgtEl>
                                          <p:spTgt spid="30"/>
                                        </p:tgtEl>
                                        <p:attrNameLst>
                                          <p:attrName>ppt_w</p:attrName>
                                        </p:attrNameLst>
                                      </p:cBhvr>
                                      <p:tavLst>
                                        <p:tav tm="0">
                                          <p:val>
                                            <p:fltVal val="0"/>
                                          </p:val>
                                        </p:tav>
                                        <p:tav tm="100000">
                                          <p:val>
                                            <p:strVal val="#ppt_w"/>
                                          </p:val>
                                        </p:tav>
                                      </p:tavLst>
                                    </p:anim>
                                    <p:anim calcmode="lin" valueType="num">
                                      <p:cBhvr>
                                        <p:cTn id="140" dur="500" fill="hold"/>
                                        <p:tgtEl>
                                          <p:spTgt spid="30"/>
                                        </p:tgtEl>
                                        <p:attrNameLst>
                                          <p:attrName>ppt_h</p:attrName>
                                        </p:attrNameLst>
                                      </p:cBhvr>
                                      <p:tavLst>
                                        <p:tav tm="0">
                                          <p:val>
                                            <p:fltVal val="0"/>
                                          </p:val>
                                        </p:tav>
                                        <p:tav tm="100000">
                                          <p:val>
                                            <p:strVal val="#ppt_h"/>
                                          </p:val>
                                        </p:tav>
                                      </p:tavLst>
                                    </p:anim>
                                    <p:animEffect transition="in" filter="fade">
                                      <p:cBhvr>
                                        <p:cTn id="141" dur="500"/>
                                        <p:tgtEl>
                                          <p:spTgt spid="30"/>
                                        </p:tgtEl>
                                      </p:cBhvr>
                                    </p:animEffect>
                                  </p:childTnLst>
                                </p:cTn>
                              </p:par>
                              <p:par>
                                <p:cTn id="142" presetID="42" presetClass="entr" presetSubtype="0" fill="hold" grpId="0" nodeType="with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600"/>
                                        <p:tgtEl>
                                          <p:spTgt spid="31"/>
                                        </p:tgtEl>
                                      </p:cBhvr>
                                    </p:animEffect>
                                    <p:anim calcmode="lin" valueType="num">
                                      <p:cBhvr additive="base">
                                        <p:cTn id="145" dur="600" fill="hold"/>
                                        <p:tgtEl>
                                          <p:spTgt spid="31"/>
                                        </p:tgtEl>
                                        <p:attrNameLst>
                                          <p:attrName>ppt_x</p:attrName>
                                        </p:attrNameLst>
                                      </p:cBhvr>
                                      <p:tavLst>
                                        <p:tav tm="0">
                                          <p:val>
                                            <p:strVal val="#ppt_x"/>
                                          </p:val>
                                        </p:tav>
                                        <p:tav tm="100000">
                                          <p:val>
                                            <p:strVal val="#ppt_x"/>
                                          </p:val>
                                        </p:tav>
                                      </p:tavLst>
                                    </p:anim>
                                    <p:anim calcmode="lin" valueType="num">
                                      <p:cBhvr additive="base">
                                        <p:cTn id="146" dur="6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DỮ LIỆU &amp; XỬ LÝ NGOẠI LỆ</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03 / 14</a:t>
            </a:r>
            <a:endParaRPr lang="en-US" sz="1100" dirty="0"/>
          </a:p>
        </p:txBody>
      </p:sp>
      <p:sp>
        <p:nvSpPr>
          <p:cNvPr id="4" name="Khối 4"/>
          <p:cNvSpPr/>
          <p:nvPr/>
        </p:nvSpPr>
        <p:spPr>
          <a:xfrm>
            <a:off x="548640" y="1325880"/>
            <a:ext cx="1584472"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Dữ liệu</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548640" y="1856232"/>
            <a:ext cx="11094415" cy="1572768"/>
          </a:xfrm>
          <a:prstGeom prst="roundRect">
            <a:avLst>
              <a:gd name="adj" fmla="val 930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7" name="Hình 7" descr="preencoded.png"/>
          <p:cNvPicPr>
            <a:picLocks noChangeAspect="1"/>
          </p:cNvPicPr>
          <p:nvPr/>
        </p:nvPicPr>
        <p:blipFill>
          <a:blip r:embed="rId4"/>
          <a:stretch>
            <a:fillRect/>
          </a:stretch>
        </p:blipFill>
        <p:spPr>
          <a:xfrm>
            <a:off x="777240" y="2313432"/>
            <a:ext cx="658368" cy="658368"/>
          </a:xfrm>
          <a:prstGeom prst="rect">
            <a:avLst/>
          </a:prstGeom>
        </p:spPr>
      </p:pic>
      <p:sp>
        <p:nvSpPr>
          <p:cNvPr id="8" name="Khối 8"/>
          <p:cNvSpPr txBox="1"/>
          <p:nvPr/>
        </p:nvSpPr>
        <p:spPr>
          <a:xfrm>
            <a:off x="1691640" y="1920240"/>
            <a:ext cx="7863840" cy="1444752"/>
          </a:xfrm>
          <a:prstGeom prst="rect">
            <a:avLst/>
          </a:prstGeom>
          <a:noFill/>
          <a:ln/>
        </p:spPr>
        <p:txBody>
          <a:bodyPr wrap="square" lIns="0" tIns="0" rIns="0" bIns="0" rtlCol="0" anchor="ctr"/>
          <a:lstStyle/>
          <a:p>
            <a:pPr marL="254000" indent="-254000">
              <a:lnSpc>
                <a:spcPct val="108000"/>
              </a:lnSpc>
              <a:spcAft>
                <a:spcPts val="800"/>
              </a:spcAft>
              <a:buSzPct val="100000"/>
              <a:buChar char="●"/>
            </a:pPr>
            <a:r>
              <a:rPr lang="en-US" sz="1900" dirty="0">
                <a:solidFill>
                  <a:srgbClr val="1B2A4A"/>
                </a:solidFill>
                <a:latin typeface="Roboto" pitchFamily="34" charset="0"/>
                <a:ea typeface="Roboto" pitchFamily="34" charset="-122"/>
                <a:cs typeface="Roboto" pitchFamily="34" charset="-120"/>
              </a:rPr>
              <a:t>Sử dụng tập </a:t>
            </a:r>
            <a:r>
              <a:rPr lang="en-US" sz="1900" dirty="0">
                <a:solidFill>
                  <a:srgbClr val="1F6BF0"/>
                </a:solidFill>
                <a:latin typeface="Roboto" pitchFamily="34" charset="0"/>
                <a:ea typeface="Roboto" pitchFamily="34" charset="-122"/>
                <a:cs typeface="Roboto" pitchFamily="34" charset="-120"/>
              </a:rPr>
              <a:t>train.csv</a:t>
            </a:r>
            <a:r>
              <a:rPr lang="en-US" sz="1900" dirty="0">
                <a:solidFill>
                  <a:srgbClr val="1B2A4A"/>
                </a:solidFill>
                <a:latin typeface="Roboto" pitchFamily="34" charset="0"/>
                <a:ea typeface="Roboto" pitchFamily="34" charset="-122"/>
                <a:cs typeface="Roboto" pitchFamily="34" charset="-120"/>
              </a:rPr>
              <a:t> của Kaggle House Prices — tập con của bộ Ames gốc (2.930 quan sát, Dean De Cock 2011).</a:t>
            </a:r>
            <a:endParaRPr lang="en-US" sz="1900" dirty="0"/>
          </a:p>
          <a:p>
            <a:pPr marL="254000" indent="-254000">
              <a:lnSpc>
                <a:spcPct val="108000"/>
              </a:lnSpc>
              <a:buSzPct val="100000"/>
              <a:buChar char="●"/>
            </a:pPr>
            <a:r>
              <a:rPr lang="en-US" sz="1900" dirty="0">
                <a:solidFill>
                  <a:srgbClr val="1B2A4A"/>
                </a:solidFill>
                <a:latin typeface="Roboto" pitchFamily="34" charset="0"/>
                <a:ea typeface="Roboto" pitchFamily="34" charset="-122"/>
                <a:cs typeface="Roboto" pitchFamily="34" charset="-120"/>
              </a:rPr>
              <a:t>Kích thước thô: </a:t>
            </a:r>
            <a:r>
              <a:rPr lang="en-US" sz="1900" b="1" dirty="0">
                <a:solidFill>
                  <a:srgbClr val="0B3FB8"/>
                </a:solidFill>
                <a:latin typeface="Roboto" pitchFamily="34" charset="0"/>
                <a:ea typeface="Roboto" pitchFamily="34" charset="-122"/>
                <a:cs typeface="Roboto" pitchFamily="34" charset="-120"/>
              </a:rPr>
              <a:t>1.460 dòng × 81 cột</a:t>
            </a:r>
            <a:r>
              <a:rPr lang="en-US" sz="1900" dirty="0">
                <a:solidFill>
                  <a:srgbClr val="1B2A4A"/>
                </a:solidFill>
                <a:latin typeface="Roboto" pitchFamily="34" charset="0"/>
                <a:ea typeface="Roboto" pitchFamily="34" charset="-122"/>
                <a:cs typeface="Roboto" pitchFamily="34" charset="-120"/>
              </a:rPr>
              <a:t>.</a:t>
            </a:r>
            <a:endParaRPr lang="en-US" sz="1900" dirty="0"/>
          </a:p>
        </p:txBody>
      </p:sp>
      <p:pic>
        <p:nvPicPr>
          <p:cNvPr id="9" name="Hình 9" descr="/tmp/claude-0/-home-claude/a2e5e3b8-31f0-57f6-8a5d-2b87477c4227/scratchpad/work/assets/ill_house.png"/>
          <p:cNvPicPr>
            <a:picLocks noChangeAspect="1"/>
          </p:cNvPicPr>
          <p:nvPr/>
        </p:nvPicPr>
        <p:blipFill>
          <a:blip r:embed="rId5"/>
          <a:stretch>
            <a:fillRect/>
          </a:stretch>
        </p:blipFill>
        <p:spPr>
          <a:xfrm>
            <a:off x="9646920" y="1627632"/>
            <a:ext cx="2011680" cy="1564640"/>
          </a:xfrm>
          <a:prstGeom prst="rect">
            <a:avLst/>
          </a:prstGeom>
        </p:spPr>
      </p:pic>
      <p:sp>
        <p:nvSpPr>
          <p:cNvPr id="10" name="Khối 10"/>
          <p:cNvSpPr/>
          <p:nvPr/>
        </p:nvSpPr>
        <p:spPr>
          <a:xfrm>
            <a:off x="548640" y="3675888"/>
            <a:ext cx="3766962"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Xử lý Ngoại lệ (Outlier)</a:t>
            </a:r>
            <a:endParaRPr lang="en-US" sz="1800" dirty="0"/>
          </a:p>
        </p:txBody>
      </p:sp>
      <p:sp>
        <p:nvSpPr>
          <p:cNvPr id="11" name="Khối 11"/>
          <p:cNvSpPr/>
          <p:nvPr/>
        </p:nvSpPr>
        <p:spPr>
          <a:xfrm>
            <a:off x="731520" y="3785616"/>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2" name="Khối 12"/>
          <p:cNvSpPr/>
          <p:nvPr/>
        </p:nvSpPr>
        <p:spPr>
          <a:xfrm>
            <a:off x="548640" y="4352544"/>
            <a:ext cx="3566160" cy="1901952"/>
          </a:xfrm>
          <a:prstGeom prst="roundRect">
            <a:avLst>
              <a:gd name="adj" fmla="val 769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3" name="Hình 13" descr="preencoded.png"/>
          <p:cNvPicPr>
            <a:picLocks noChangeAspect="1"/>
          </p:cNvPicPr>
          <p:nvPr/>
        </p:nvPicPr>
        <p:blipFill>
          <a:blip r:embed="rId6"/>
          <a:stretch>
            <a:fillRect/>
          </a:stretch>
        </p:blipFill>
        <p:spPr>
          <a:xfrm>
            <a:off x="3401568" y="4114800"/>
            <a:ext cx="512064" cy="512064"/>
          </a:xfrm>
          <a:prstGeom prst="rect">
            <a:avLst/>
          </a:prstGeom>
        </p:spPr>
      </p:pic>
      <p:sp>
        <p:nvSpPr>
          <p:cNvPr id="14" name="Khối 14"/>
          <p:cNvSpPr txBox="1"/>
          <p:nvPr/>
        </p:nvSpPr>
        <p:spPr>
          <a:xfrm>
            <a:off x="777240" y="4553712"/>
            <a:ext cx="3108960" cy="1645920"/>
          </a:xfrm>
          <a:prstGeom prst="rect">
            <a:avLst/>
          </a:prstGeom>
          <a:noFill/>
          <a:ln/>
        </p:spPr>
        <p:txBody>
          <a:bodyPr wrap="square" lIns="0" tIns="0" rIns="0" bIns="0" rtlCol="0" anchor="t"/>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Tiêu chí theo De Cock:</a:t>
            </a:r>
            <a:r>
              <a:rPr lang="en-US" sz="1800" dirty="0">
                <a:solidFill>
                  <a:srgbClr val="1B2A4A"/>
                </a:solidFill>
                <a:latin typeface="Roboto" pitchFamily="34" charset="0"/>
                <a:ea typeface="Roboto" pitchFamily="34" charset="-122"/>
                <a:cs typeface="Roboto" pitchFamily="34" charset="-120"/>
              </a:rPr>
              <a:t> Loại bỏ các căn hộ có diện tích sàn trên mặt đất </a:t>
            </a:r>
            <a:r>
              <a:rPr lang="en-US" sz="1800" dirty="0">
                <a:solidFill>
                  <a:srgbClr val="1F6BF0"/>
                </a:solidFill>
                <a:latin typeface="Roboto" pitchFamily="34" charset="0"/>
                <a:ea typeface="Roboto" pitchFamily="34" charset="-122"/>
                <a:cs typeface="Roboto" pitchFamily="34" charset="-120"/>
              </a:rPr>
              <a:t>GrLivArea</a:t>
            </a:r>
            <a:r>
              <a:rPr lang="en-US" sz="1800" dirty="0">
                <a:solidFill>
                  <a:srgbClr val="1B2A4A"/>
                </a:solidFill>
                <a:latin typeface="Roboto" pitchFamily="34" charset="0"/>
                <a:ea typeface="Roboto" pitchFamily="34" charset="-122"/>
                <a:cs typeface="Roboto" pitchFamily="34" charset="-120"/>
              </a:rPr>
              <a:t> &gt; 4.000 sq ft.</a:t>
            </a:r>
            <a:endParaRPr lang="en-US" sz="1800" dirty="0"/>
          </a:p>
        </p:txBody>
      </p:sp>
      <p:sp>
        <p:nvSpPr>
          <p:cNvPr id="15" name="Khối 15"/>
          <p:cNvSpPr/>
          <p:nvPr/>
        </p:nvSpPr>
        <p:spPr>
          <a:xfrm>
            <a:off x="4311396" y="4352544"/>
            <a:ext cx="3566160" cy="1901952"/>
          </a:xfrm>
          <a:prstGeom prst="roundRect">
            <a:avLst>
              <a:gd name="adj" fmla="val 769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6" name="Hình 16" descr="preencoded.png"/>
          <p:cNvPicPr>
            <a:picLocks noChangeAspect="1"/>
          </p:cNvPicPr>
          <p:nvPr/>
        </p:nvPicPr>
        <p:blipFill>
          <a:blip r:embed="rId7"/>
          <a:stretch>
            <a:fillRect/>
          </a:stretch>
        </p:blipFill>
        <p:spPr>
          <a:xfrm>
            <a:off x="7164324" y="4114800"/>
            <a:ext cx="512064" cy="512064"/>
          </a:xfrm>
          <a:prstGeom prst="rect">
            <a:avLst/>
          </a:prstGeom>
        </p:spPr>
      </p:pic>
      <p:sp>
        <p:nvSpPr>
          <p:cNvPr id="17" name="Khối 17"/>
          <p:cNvSpPr txBox="1"/>
          <p:nvPr/>
        </p:nvSpPr>
        <p:spPr>
          <a:xfrm>
            <a:off x="4539996" y="4553712"/>
            <a:ext cx="3108960" cy="1645920"/>
          </a:xfrm>
          <a:prstGeom prst="rect">
            <a:avLst/>
          </a:prstGeom>
          <a:noFill/>
          <a:ln/>
        </p:spPr>
        <p:txBody>
          <a:bodyPr wrap="square" lIns="0" tIns="0" rIns="0" bIns="0" rtlCol="0" anchor="t"/>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Phương pháp:</a:t>
            </a:r>
            <a:r>
              <a:rPr lang="en-US" sz="1800" dirty="0">
                <a:solidFill>
                  <a:srgbClr val="1B2A4A"/>
                </a:solidFill>
                <a:latin typeface="Roboto" pitchFamily="34" charset="0"/>
                <a:ea typeface="Roboto" pitchFamily="34" charset="-122"/>
                <a:cs typeface="Roboto" pitchFamily="34" charset="-120"/>
              </a:rPr>
              <a:t> Sử dụng quy tắc tổng quát, không xóa cứng theo danh sách Id để tránh phụ thuộc vào phiên bản dữ liệu.</a:t>
            </a:r>
            <a:endParaRPr lang="en-US" sz="1800" dirty="0"/>
          </a:p>
        </p:txBody>
      </p:sp>
      <p:sp>
        <p:nvSpPr>
          <p:cNvPr id="18" name="Khối 18"/>
          <p:cNvSpPr/>
          <p:nvPr/>
        </p:nvSpPr>
        <p:spPr>
          <a:xfrm>
            <a:off x="8074152" y="4352544"/>
            <a:ext cx="3566160" cy="1901952"/>
          </a:xfrm>
          <a:prstGeom prst="roundRect">
            <a:avLst>
              <a:gd name="adj" fmla="val 769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9" name="Hình 19" descr="preencoded.png"/>
          <p:cNvPicPr>
            <a:picLocks noChangeAspect="1"/>
          </p:cNvPicPr>
          <p:nvPr/>
        </p:nvPicPr>
        <p:blipFill>
          <a:blip r:embed="rId8"/>
          <a:stretch>
            <a:fillRect/>
          </a:stretch>
        </p:blipFill>
        <p:spPr>
          <a:xfrm>
            <a:off x="10927080" y="4114800"/>
            <a:ext cx="512064" cy="512064"/>
          </a:xfrm>
          <a:prstGeom prst="rect">
            <a:avLst/>
          </a:prstGeom>
        </p:spPr>
      </p:pic>
      <p:sp>
        <p:nvSpPr>
          <p:cNvPr id="20" name="Khối 20"/>
          <p:cNvSpPr txBox="1"/>
          <p:nvPr/>
        </p:nvSpPr>
        <p:spPr>
          <a:xfrm>
            <a:off x="8302752" y="4553712"/>
            <a:ext cx="3108960" cy="1645920"/>
          </a:xfrm>
          <a:prstGeom prst="rect">
            <a:avLst/>
          </a:prstGeom>
          <a:noFill/>
          <a:ln/>
        </p:spPr>
        <p:txBody>
          <a:bodyPr wrap="square" lIns="0" tIns="0" rIns="0" bIns="0" rtlCol="0" anchor="t"/>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Kết quả:</a:t>
            </a:r>
            <a:r>
              <a:rPr lang="en-US" sz="1800" dirty="0">
                <a:solidFill>
                  <a:srgbClr val="1B2A4A"/>
                </a:solidFill>
                <a:latin typeface="Roboto" pitchFamily="34" charset="0"/>
                <a:ea typeface="Roboto" pitchFamily="34" charset="-122"/>
                <a:cs typeface="Roboto" pitchFamily="34" charset="-120"/>
              </a:rPr>
              <a:t> Số căn bị loại: </a:t>
            </a:r>
            <a:r>
              <a:rPr lang="en-US" sz="1800" b="1" dirty="0">
                <a:solidFill>
                  <a:srgbClr val="0B3FB8"/>
                </a:solidFill>
                <a:latin typeface="Roboto" pitchFamily="34" charset="0"/>
                <a:ea typeface="Roboto" pitchFamily="34" charset="-122"/>
                <a:cs typeface="Roboto" pitchFamily="34" charset="-120"/>
              </a:rPr>
              <a:t>4</a:t>
            </a:r>
            <a:r>
              <a:rPr lang="en-US" sz="1800" dirty="0">
                <a:solidFill>
                  <a:srgbClr val="1B2A4A"/>
                </a:solidFill>
                <a:latin typeface="Roboto" pitchFamily="34" charset="0"/>
                <a:ea typeface="Roboto" pitchFamily="34" charset="-122"/>
                <a:cs typeface="Roboto" pitchFamily="34" charset="-120"/>
              </a:rPr>
              <a:t> → Kích thước còn lại: </a:t>
            </a:r>
            <a:r>
              <a:rPr lang="en-US" sz="1800" b="1" dirty="0">
                <a:solidFill>
                  <a:srgbClr val="0B3FB8"/>
                </a:solidFill>
                <a:latin typeface="Roboto" pitchFamily="34" charset="0"/>
                <a:ea typeface="Roboto" pitchFamily="34" charset="-122"/>
                <a:cs typeface="Roboto" pitchFamily="34" charset="-120"/>
              </a:rPr>
              <a:t>1.456 dòng</a:t>
            </a:r>
            <a:r>
              <a:rPr lang="en-US" sz="1800" dirty="0">
                <a:solidFill>
                  <a:srgbClr val="1B2A4A"/>
                </a:solidFill>
                <a:latin typeface="Roboto" pitchFamily="34" charset="0"/>
                <a:ea typeface="Roboto" pitchFamily="34" charset="-122"/>
                <a:cs typeface="Roboto" pitchFamily="34" charset="-120"/>
              </a:rPr>
              <a:t>.</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53" presetClass="entr" presetSubtype="16" fill="hold" nodeType="withEffect">
                                  <p:stCondLst>
                                    <p:cond delay="25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42" presetClass="entr" presetSubtype="0" fill="hold" grpId="0" nodeType="with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53" presetClass="entr" presetSubtype="16" fill="hold" nodeType="withEffect">
                                  <p:stCondLst>
                                    <p:cond delay="35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par>
                                <p:cTn id="36" presetID="10" presetClass="entr" presetSubtype="0" fill="hold" grpId="0" nodeType="withEffect">
                                  <p:stCondLst>
                                    <p:cond delay="1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42" presetClass="entr" presetSubtype="0" fill="hold" grpId="0" nodeType="withEffect">
                                  <p:stCondLst>
                                    <p:cond delay="1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600"/>
                                        <p:tgtEl>
                                          <p:spTgt spid="12"/>
                                        </p:tgtEl>
                                      </p:cBhvr>
                                    </p:animEffect>
                                    <p:anim calcmode="lin" valueType="num">
                                      <p:cBhvr additive="base">
                                        <p:cTn id="42" dur="600" fill="hold"/>
                                        <p:tgtEl>
                                          <p:spTgt spid="12"/>
                                        </p:tgtEl>
                                        <p:attrNameLst>
                                          <p:attrName>ppt_x</p:attrName>
                                        </p:attrNameLst>
                                      </p:cBhvr>
                                      <p:tavLst>
                                        <p:tav tm="0">
                                          <p:val>
                                            <p:strVal val="#ppt_x"/>
                                          </p:val>
                                        </p:tav>
                                        <p:tav tm="100000">
                                          <p:val>
                                            <p:strVal val="#ppt_x"/>
                                          </p:val>
                                        </p:tav>
                                      </p:tavLst>
                                    </p:anim>
                                    <p:anim calcmode="lin" valueType="num">
                                      <p:cBhvr additive="base">
                                        <p:cTn id="43" dur="600" fill="hold"/>
                                        <p:tgtEl>
                                          <p:spTgt spid="12"/>
                                        </p:tgtEl>
                                        <p:attrNameLst>
                                          <p:attrName>ppt_y</p:attrName>
                                        </p:attrNameLst>
                                      </p:cBhvr>
                                      <p:tavLst>
                                        <p:tav tm="0">
                                          <p:val>
                                            <p:strVal val="#ppt_y+.1"/>
                                          </p:val>
                                        </p:tav>
                                        <p:tav tm="100000">
                                          <p:val>
                                            <p:strVal val="#ppt_y"/>
                                          </p:val>
                                        </p:tav>
                                      </p:tavLst>
                                    </p:anim>
                                  </p:childTnLst>
                                </p:cTn>
                              </p:par>
                              <p:par>
                                <p:cTn id="44" presetID="53" presetClass="entr" presetSubtype="16" fill="hold"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par>
                                <p:cTn id="49" presetID="42" presetClass="entr" presetSubtype="0" fill="hold" grpId="0" nodeType="withEffect">
                                  <p:stCondLst>
                                    <p:cond delay="15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additive="base">
                                        <p:cTn id="52" dur="600" fill="hold"/>
                                        <p:tgtEl>
                                          <p:spTgt spid="14"/>
                                        </p:tgtEl>
                                        <p:attrNameLst>
                                          <p:attrName>ppt_x</p:attrName>
                                        </p:attrNameLst>
                                      </p:cBhvr>
                                      <p:tavLst>
                                        <p:tav tm="0">
                                          <p:val>
                                            <p:strVal val="#ppt_x"/>
                                          </p:val>
                                        </p:tav>
                                        <p:tav tm="100000">
                                          <p:val>
                                            <p:strVal val="#ppt_x"/>
                                          </p:val>
                                        </p:tav>
                                      </p:tavLst>
                                    </p:anim>
                                    <p:anim calcmode="lin" valueType="num">
                                      <p:cBhvr additive="base">
                                        <p:cTn id="53" dur="6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additive="base">
                                        <p:cTn id="59" dur="600" fill="hold"/>
                                        <p:tgtEl>
                                          <p:spTgt spid="15"/>
                                        </p:tgtEl>
                                        <p:attrNameLst>
                                          <p:attrName>ppt_x</p:attrName>
                                        </p:attrNameLst>
                                      </p:cBhvr>
                                      <p:tavLst>
                                        <p:tav tm="0">
                                          <p:val>
                                            <p:strVal val="#ppt_x"/>
                                          </p:val>
                                        </p:tav>
                                        <p:tav tm="100000">
                                          <p:val>
                                            <p:strVal val="#ppt_x"/>
                                          </p:val>
                                        </p:tav>
                                      </p:tavLst>
                                    </p:anim>
                                    <p:anim calcmode="lin" valueType="num">
                                      <p:cBhvr additive="base">
                                        <p:cTn id="60" dur="600" fill="hold"/>
                                        <p:tgtEl>
                                          <p:spTgt spid="15"/>
                                        </p:tgtEl>
                                        <p:attrNameLst>
                                          <p:attrName>ppt_y</p:attrName>
                                        </p:attrNameLst>
                                      </p:cBhvr>
                                      <p:tavLst>
                                        <p:tav tm="0">
                                          <p:val>
                                            <p:strVal val="#ppt_y+.1"/>
                                          </p:val>
                                        </p:tav>
                                        <p:tav tm="100000">
                                          <p:val>
                                            <p:strVal val="#ppt_y"/>
                                          </p:val>
                                        </p:tav>
                                      </p:tavLst>
                                    </p:anim>
                                  </p:childTnLst>
                                </p:cTn>
                              </p:par>
                              <p:par>
                                <p:cTn id="61" presetID="53" presetClass="entr" presetSubtype="16" fill="hold" nodeType="withEffect">
                                  <p:stCondLst>
                                    <p:cond delay="10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par>
                                <p:cTn id="66"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additive="base">
                                        <p:cTn id="69" dur="600" fill="hold"/>
                                        <p:tgtEl>
                                          <p:spTgt spid="17"/>
                                        </p:tgtEl>
                                        <p:attrNameLst>
                                          <p:attrName>ppt_x</p:attrName>
                                        </p:attrNameLst>
                                      </p:cBhvr>
                                      <p:tavLst>
                                        <p:tav tm="0">
                                          <p:val>
                                            <p:strVal val="#ppt_x"/>
                                          </p:val>
                                        </p:tav>
                                        <p:tav tm="100000">
                                          <p:val>
                                            <p:strVal val="#ppt_x"/>
                                          </p:val>
                                        </p:tav>
                                      </p:tavLst>
                                    </p:anim>
                                    <p:anim calcmode="lin" valueType="num">
                                      <p:cBhvr additive="base">
                                        <p:cTn id="70" dur="6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53" presetClass="entr" presetSubtype="16" fill="hold" nodeType="withEffect">
                                  <p:stCondLst>
                                    <p:cond delay="100"/>
                                  </p:stCondLst>
                                  <p:childTnLst>
                                    <p:set>
                                      <p:cBhvr>
                                        <p:cTn id="79" dur="1" fill="hold">
                                          <p:stCondLst>
                                            <p:cond delay="0"/>
                                          </p:stCondLst>
                                        </p:cTn>
                                        <p:tgtEl>
                                          <p:spTgt spid="19"/>
                                        </p:tgtEl>
                                        <p:attrNameLst>
                                          <p:attrName>style.visibility</p:attrName>
                                        </p:attrNameLst>
                                      </p:cBhvr>
                                      <p:to>
                                        <p:strVal val="visible"/>
                                      </p:to>
                                    </p:set>
                                    <p:anim calcmode="lin" valueType="num">
                                      <p:cBhvr>
                                        <p:cTn id="80" dur="500" fill="hold"/>
                                        <p:tgtEl>
                                          <p:spTgt spid="19"/>
                                        </p:tgtEl>
                                        <p:attrNameLst>
                                          <p:attrName>ppt_w</p:attrName>
                                        </p:attrNameLst>
                                      </p:cBhvr>
                                      <p:tavLst>
                                        <p:tav tm="0">
                                          <p:val>
                                            <p:fltVal val="0"/>
                                          </p:val>
                                        </p:tav>
                                        <p:tav tm="100000">
                                          <p:val>
                                            <p:strVal val="#ppt_w"/>
                                          </p:val>
                                        </p:tav>
                                      </p:tavLst>
                                    </p:anim>
                                    <p:anim calcmode="lin" valueType="num">
                                      <p:cBhvr>
                                        <p:cTn id="81" dur="500" fill="hold"/>
                                        <p:tgtEl>
                                          <p:spTgt spid="19"/>
                                        </p:tgtEl>
                                        <p:attrNameLst>
                                          <p:attrName>ppt_h</p:attrName>
                                        </p:attrNameLst>
                                      </p:cBhvr>
                                      <p:tavLst>
                                        <p:tav tm="0">
                                          <p:val>
                                            <p:fltVal val="0"/>
                                          </p:val>
                                        </p:tav>
                                        <p:tav tm="100000">
                                          <p:val>
                                            <p:strVal val="#ppt_h"/>
                                          </p:val>
                                        </p:tav>
                                      </p:tavLst>
                                    </p:anim>
                                    <p:animEffect transition="in" filter="fade">
                                      <p:cBhvr>
                                        <p:cTn id="82" dur="500"/>
                                        <p:tgtEl>
                                          <p:spTgt spid="19"/>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1" grpId="0" animBg="1"/>
      <p:bldP spid="12" grpId="0" animBg="1"/>
      <p:bldP spid="14" grpId="0" animBg="1"/>
      <p:bldP spid="15" grpId="0" animBg="1"/>
      <p:bldP spid="17" grpId="0" animBg="1"/>
      <p:bldP spid="18"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XỬ LÝ GIÁ TRỊ KHUYẾT THEO NGHIỆP VỤ</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04 / 14</a:t>
            </a:r>
            <a:endParaRPr lang="en-US" sz="1100" dirty="0"/>
          </a:p>
        </p:txBody>
      </p:sp>
      <p:graphicFrame>
        <p:nvGraphicFramePr>
          <p:cNvPr id="4" name="Bảng 4"/>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022344"/>
        </p:xfrm>
        <a:graphic>
          <a:graphicData uri="http://schemas.openxmlformats.org/drawingml/2006/table">
            <a:tbl>
              <a:tblPr/>
              <a:tblGrid>
                <a:gridCol w="416052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402336">
                <a:tc>
                  <a:txBody>
                    <a:bodyPr/>
                    <a:lstStyle/>
                    <a:p>
                      <a:pPr marL="0" indent="0" algn="l">
                        <a:buNone/>
                      </a:pPr>
                      <a:r>
                        <a:rPr lang="en-US" sz="1500" b="1" dirty="0">
                          <a:solidFill>
                            <a:srgbClr val="FFFFFF"/>
                          </a:solidFill>
                          <a:latin typeface="Roboto" pitchFamily="34" charset="0"/>
                          <a:ea typeface="Roboto" pitchFamily="34" charset="-122"/>
                          <a:cs typeface="Roboto" pitchFamily="34" charset="-120"/>
                        </a:rPr>
                        <a:t>Nhóm biến</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500" b="1" dirty="0">
                          <a:solidFill>
                            <a:srgbClr val="FFFFFF"/>
                          </a:solidFill>
                          <a:latin typeface="Roboto" pitchFamily="34" charset="0"/>
                          <a:ea typeface="Roboto" pitchFamily="34" charset="-122"/>
                          <a:cs typeface="Roboto" pitchFamily="34" charset="-120"/>
                        </a:rPr>
                        <a:t>Cách điền</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500" b="1" dirty="0">
                          <a:solidFill>
                            <a:srgbClr val="FFFFFF"/>
                          </a:solidFill>
                          <a:latin typeface="Roboto" pitchFamily="34" charset="0"/>
                          <a:ea typeface="Roboto" pitchFamily="34" charset="-122"/>
                          <a:cs typeface="Roboto" pitchFamily="34" charset="-120"/>
                        </a:rPr>
                        <a:t>Lý do</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822960">
                <a:tc>
                  <a:txBody>
                    <a:bodyPr/>
                    <a:lstStyle/>
                    <a:p>
                      <a:pPr marL="0" indent="0" algn="l">
                        <a:buNone/>
                      </a:pPr>
                      <a:r>
                        <a:rPr lang="en-US" sz="1500" b="1" dirty="0">
                          <a:solidFill>
                            <a:srgbClr val="0F2A5F"/>
                          </a:solidFill>
                          <a:latin typeface="Roboto" pitchFamily="34" charset="0"/>
                          <a:ea typeface="Roboto" pitchFamily="34" charset="-122"/>
                          <a:cs typeface="Roboto" pitchFamily="34" charset="-120"/>
                        </a:rPr>
                        <a:t>15 biến định tính</a:t>
                      </a:r>
                      <a:endParaRPr lang="en-US" sz="1500" dirty="0">
                        <a:latin typeface="Roboto" charset="0"/>
                        <a:ea typeface="Roboto" charset="0"/>
                        <a:cs typeface="Roboto" charset="0"/>
                      </a:endParaRPr>
                    </a:p>
                    <a:p>
                      <a:pPr marL="0" indent="0" algn="l">
                        <a:buNone/>
                      </a:pPr>
                      <a:r>
                        <a:rPr lang="en-US" sz="1500" dirty="0">
                          <a:solidFill>
                            <a:srgbClr val="1B2A4A"/>
                          </a:solidFill>
                          <a:latin typeface="Roboto" pitchFamily="34" charset="0"/>
                          <a:ea typeface="Roboto" pitchFamily="34" charset="-122"/>
                          <a:cs typeface="Roboto" pitchFamily="34" charset="-120"/>
                        </a:rPr>
                        <a:t>(PoolQC, Alley, Fence, FireplaceQu, Garage*, Bsmt*, MasVnrType…)</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6BF0"/>
                          </a:solidFill>
                          <a:latin typeface="Roboto" pitchFamily="34" charset="0"/>
                          <a:ea typeface="Roboto" pitchFamily="34" charset="-122"/>
                          <a:cs typeface="Roboto" pitchFamily="34" charset="-120"/>
                        </a:rPr>
                        <a:t>"None"</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Giá trị thiếu đại diện cho việc căn nhà không có tiện ích đó</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lgn="l">
                        <a:buNone/>
                      </a:pPr>
                      <a:r>
                        <a:rPr lang="en-US" sz="1500" b="1" dirty="0">
                          <a:solidFill>
                            <a:srgbClr val="0F2A5F"/>
                          </a:solidFill>
                          <a:latin typeface="Roboto" pitchFamily="34" charset="0"/>
                          <a:ea typeface="Roboto" pitchFamily="34" charset="-122"/>
                          <a:cs typeface="Roboto" pitchFamily="34" charset="-120"/>
                        </a:rPr>
                        <a:t>9 biến số</a:t>
                      </a:r>
                      <a:endParaRPr lang="en-US" sz="1500" dirty="0">
                        <a:latin typeface="Roboto" charset="0"/>
                        <a:ea typeface="Roboto" charset="0"/>
                        <a:cs typeface="Roboto" charset="0"/>
                      </a:endParaRPr>
                    </a:p>
                    <a:p>
                      <a:pPr marL="0" indent="0" algn="l">
                        <a:buNone/>
                      </a:pPr>
                      <a:r>
                        <a:rPr lang="en-US" sz="1500" dirty="0">
                          <a:solidFill>
                            <a:srgbClr val="1B2A4A"/>
                          </a:solidFill>
                          <a:latin typeface="Roboto" pitchFamily="34" charset="0"/>
                          <a:ea typeface="Roboto" pitchFamily="34" charset="-122"/>
                          <a:cs typeface="Roboto" pitchFamily="34" charset="-120"/>
                        </a:rPr>
                        <a:t>(GarageArea, GarageCars, TotalBsmtSF, BsmtFinSF1/2, BsmtUnfSF, Bsmt*Bath, MasVnrArea)</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500" dirty="0">
                          <a:solidFill>
                            <a:srgbClr val="1F6BF0"/>
                          </a:solidFill>
                          <a:latin typeface="Roboto" pitchFamily="34" charset="0"/>
                          <a:ea typeface="Roboto" pitchFamily="34" charset="-122"/>
                          <a:cs typeface="Roboto" pitchFamily="34" charset="-120"/>
                        </a:rPr>
                        <a:t>0</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Không có tiện ích tương ứng thì diện tích/số lượng bằng 0</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585216">
                <a:tc>
                  <a:txBody>
                    <a:bodyPr/>
                    <a:lstStyle/>
                    <a:p>
                      <a:pPr marL="0" indent="0" algn="l">
                        <a:buNone/>
                      </a:pPr>
                      <a:r>
                        <a:rPr lang="en-US" sz="1500" b="1" dirty="0">
                          <a:solidFill>
                            <a:srgbClr val="0F2A5F"/>
                          </a:solidFill>
                          <a:latin typeface="Roboto" pitchFamily="34" charset="0"/>
                          <a:ea typeface="Roboto" pitchFamily="34" charset="-122"/>
                          <a:cs typeface="Roboto" pitchFamily="34" charset="-120"/>
                        </a:rPr>
                        <a:t>GarageYrBlt</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6BF0"/>
                          </a:solidFill>
                          <a:latin typeface="Roboto" pitchFamily="34" charset="0"/>
                          <a:ea typeface="Roboto" pitchFamily="34" charset="-122"/>
                          <a:cs typeface="Roboto" pitchFamily="34" charset="-120"/>
                        </a:rPr>
                        <a:t>= YearBuilt</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Giữ biến ở dạng năm hợp lý (năm xây dựng garage = năm xây nhà)</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lgn="l">
                        <a:buNone/>
                      </a:pPr>
                      <a:r>
                        <a:rPr lang="en-US" sz="1500" b="1" dirty="0">
                          <a:solidFill>
                            <a:srgbClr val="0F2A5F"/>
                          </a:solidFill>
                          <a:latin typeface="Roboto" pitchFamily="34" charset="0"/>
                          <a:ea typeface="Roboto" pitchFamily="34" charset="-122"/>
                          <a:cs typeface="Roboto" pitchFamily="34" charset="-120"/>
                        </a:rPr>
                        <a:t>LotFrontage</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Median theo </a:t>
                      </a:r>
                      <a:r>
                        <a:rPr lang="en-US" sz="1500" dirty="0">
                          <a:solidFill>
                            <a:srgbClr val="1F6BF0"/>
                          </a:solidFill>
                          <a:latin typeface="Roboto" pitchFamily="34" charset="0"/>
                          <a:ea typeface="Roboto" pitchFamily="34" charset="-122"/>
                          <a:cs typeface="Roboto" pitchFamily="34" charset="-120"/>
                        </a:rPr>
                        <a:t>Neighborhood</a:t>
                      </a:r>
                      <a:r>
                        <a:rPr lang="en-US" sz="1500" dirty="0">
                          <a:solidFill>
                            <a:srgbClr val="1B2A4A"/>
                          </a:solidFill>
                          <a:latin typeface="Roboto" pitchFamily="34" charset="0"/>
                          <a:ea typeface="Roboto" pitchFamily="34" charset="-122"/>
                          <a:cs typeface="Roboto" pitchFamily="34" charset="-120"/>
                        </a:rPr>
                        <a:t>, sau đó Median toàn cục</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Mặt tiền nhà có sự tương đồng cao trong cùng khu vực</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4"/>
                  </a:ext>
                </a:extLst>
              </a:tr>
              <a:tr h="585216">
                <a:tc>
                  <a:txBody>
                    <a:bodyPr/>
                    <a:lstStyle/>
                    <a:p>
                      <a:pPr marL="0" indent="0" algn="l">
                        <a:buNone/>
                      </a:pPr>
                      <a:r>
                        <a:rPr lang="en-US" sz="1500" b="1" dirty="0">
                          <a:solidFill>
                            <a:srgbClr val="0F2A5F"/>
                          </a:solidFill>
                          <a:latin typeface="Roboto" pitchFamily="34" charset="0"/>
                          <a:ea typeface="Roboto" pitchFamily="34" charset="-122"/>
                          <a:cs typeface="Roboto" pitchFamily="34" charset="-120"/>
                        </a:rPr>
                        <a:t>Các biến còn lại</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Mode (định tính) / Median (số)</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A"/>
                          </a:solidFill>
                          <a:latin typeface="Roboto" pitchFamily="34" charset="0"/>
                          <a:ea typeface="Roboto" pitchFamily="34" charset="-122"/>
                          <a:cs typeface="Roboto" pitchFamily="34" charset="-120"/>
                        </a:rPr>
                        <a:t>Phương án dự phòng chuẩn hóa</a:t>
                      </a:r>
                      <a:endParaRPr lang="en-US" sz="15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Khối 5"/>
          <p:cNvSpPr/>
          <p:nvPr/>
        </p:nvSpPr>
        <p:spPr>
          <a:xfrm>
            <a:off x="548640" y="5358384"/>
            <a:ext cx="7543800" cy="914400"/>
          </a:xfrm>
          <a:prstGeom prst="roundRect">
            <a:avLst>
              <a:gd name="adj" fmla="val 16000"/>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6" name="Hình 6" descr="preencoded.png"/>
          <p:cNvPicPr>
            <a:picLocks noChangeAspect="1"/>
          </p:cNvPicPr>
          <p:nvPr/>
        </p:nvPicPr>
        <p:blipFill>
          <a:blip r:embed="rId4"/>
          <a:stretch>
            <a:fillRect/>
          </a:stretch>
        </p:blipFill>
        <p:spPr>
          <a:xfrm>
            <a:off x="731520" y="5577840"/>
            <a:ext cx="475488" cy="475488"/>
          </a:xfrm>
          <a:prstGeom prst="rect">
            <a:avLst/>
          </a:prstGeom>
        </p:spPr>
      </p:pic>
      <p:sp>
        <p:nvSpPr>
          <p:cNvPr id="7" name="Khối 7"/>
          <p:cNvSpPr txBox="1"/>
          <p:nvPr/>
        </p:nvSpPr>
        <p:spPr>
          <a:xfrm>
            <a:off x="1371600" y="5394960"/>
            <a:ext cx="6583680" cy="841248"/>
          </a:xfrm>
          <a:prstGeom prst="rect">
            <a:avLst/>
          </a:prstGeom>
          <a:noFill/>
          <a:ln/>
        </p:spPr>
        <p:txBody>
          <a:bodyPr wrap="square" lIns="0" tIns="0" rIns="0" bIns="0" rtlCol="0" anchor="ctr"/>
          <a:lstStyle/>
          <a:p>
            <a:pPr marL="0" indent="0">
              <a:lnSpc>
                <a:spcPct val="108000"/>
              </a:lnSpc>
              <a:buNone/>
            </a:pPr>
            <a:r>
              <a:rPr lang="en-US" sz="1600" b="1" dirty="0">
                <a:solidFill>
                  <a:srgbClr val="0B3FB8"/>
                </a:solidFill>
                <a:latin typeface="Roboto" pitchFamily="34" charset="0"/>
                <a:ea typeface="Roboto" pitchFamily="34" charset="-122"/>
                <a:cs typeface="Roboto" pitchFamily="34" charset="-120"/>
              </a:rPr>
              <a:t>Chuẩn hóa kiểu dữ liệu:</a:t>
            </a:r>
            <a:r>
              <a:rPr lang="en-US" sz="1600" dirty="0">
                <a:solidFill>
                  <a:srgbClr val="1B2A4A"/>
                </a:solidFill>
                <a:latin typeface="Roboto" pitchFamily="34" charset="0"/>
                <a:ea typeface="Roboto" pitchFamily="34" charset="-122"/>
                <a:cs typeface="Roboto" pitchFamily="34" charset="-120"/>
              </a:rPr>
              <a:t> </a:t>
            </a:r>
            <a:r>
              <a:rPr lang="en-US" sz="1600" dirty="0">
                <a:solidFill>
                  <a:srgbClr val="1F6BF0"/>
                </a:solidFill>
                <a:latin typeface="Roboto" pitchFamily="34" charset="0"/>
                <a:ea typeface="Roboto" pitchFamily="34" charset="-122"/>
                <a:cs typeface="Roboto" pitchFamily="34" charset="-120"/>
              </a:rPr>
              <a:t>MSSubClass</a:t>
            </a:r>
            <a:r>
              <a:rPr lang="en-US" sz="1600" dirty="0">
                <a:solidFill>
                  <a:srgbClr val="1B2A4A"/>
                </a:solidFill>
                <a:latin typeface="Roboto" pitchFamily="34" charset="0"/>
                <a:ea typeface="Roboto" pitchFamily="34" charset="-122"/>
                <a:cs typeface="Roboto" pitchFamily="34" charset="-120"/>
              </a:rPr>
              <a:t>, </a:t>
            </a:r>
            <a:r>
              <a:rPr lang="en-US" sz="1600" dirty="0">
                <a:solidFill>
                  <a:srgbClr val="1F6BF0"/>
                </a:solidFill>
                <a:latin typeface="Roboto" pitchFamily="34" charset="0"/>
                <a:ea typeface="Roboto" pitchFamily="34" charset="-122"/>
                <a:cs typeface="Roboto" pitchFamily="34" charset="-120"/>
              </a:rPr>
              <a:t>MoSold</a:t>
            </a:r>
            <a:r>
              <a:rPr lang="en-US" sz="1600" dirty="0">
                <a:solidFill>
                  <a:srgbClr val="1B2A4A"/>
                </a:solidFill>
                <a:latin typeface="Roboto" pitchFamily="34" charset="0"/>
                <a:ea typeface="Roboto" pitchFamily="34" charset="-122"/>
                <a:cs typeface="Roboto" pitchFamily="34" charset="-120"/>
              </a:rPr>
              <a:t> chuyển thành biến phân loại; </a:t>
            </a:r>
            <a:r>
              <a:rPr lang="en-US" sz="1600" dirty="0">
                <a:solidFill>
                  <a:srgbClr val="1F6BF0"/>
                </a:solidFill>
                <a:latin typeface="Roboto" pitchFamily="34" charset="0"/>
                <a:ea typeface="Roboto" pitchFamily="34" charset="-122"/>
                <a:cs typeface="Roboto" pitchFamily="34" charset="-120"/>
              </a:rPr>
              <a:t>YrSold</a:t>
            </a:r>
            <a:r>
              <a:rPr lang="en-US" sz="1600" dirty="0">
                <a:solidFill>
                  <a:srgbClr val="1B2A4A"/>
                </a:solidFill>
                <a:latin typeface="Roboto" pitchFamily="34" charset="0"/>
                <a:ea typeface="Roboto" pitchFamily="34" charset="-122"/>
                <a:cs typeface="Roboto" pitchFamily="34" charset="-120"/>
              </a:rPr>
              <a:t> giữ dạng số để bảo toàn xu hướng thời gian 2006–2010.</a:t>
            </a:r>
            <a:endParaRPr lang="en-US" sz="1600" dirty="0"/>
          </a:p>
        </p:txBody>
      </p:sp>
      <p:sp>
        <p:nvSpPr>
          <p:cNvPr id="8" name="Khối 8"/>
          <p:cNvSpPr/>
          <p:nvPr/>
        </p:nvSpPr>
        <p:spPr>
          <a:xfrm>
            <a:off x="8275320" y="5358384"/>
            <a:ext cx="3364992" cy="914400"/>
          </a:xfrm>
          <a:prstGeom prst="roundRect">
            <a:avLst>
              <a:gd name="adj" fmla="val 16000"/>
            </a:avLst>
          </a:prstGeom>
          <a:solidFill>
            <a:srgbClr val="FFF3DC"/>
          </a:solidFill>
          <a:ln w="12700">
            <a:solidFill>
              <a:srgbClr val="FFD68A"/>
            </a:solidFill>
            <a:prstDash val="solid"/>
          </a:ln>
          <a:effectLst>
            <a:outerShdw blurRad="177800" dist="50800" dir="5400000" algn="bl" rotWithShape="0">
              <a:srgbClr val="1557E0">
                <a:alpha val="14000"/>
              </a:srgbClr>
            </a:outerShdw>
          </a:effectLst>
        </p:spPr>
        <p:txBody>
          <a:bodyPr/>
          <a:lstStyle/>
          <a:p>
            <a:endParaRPr lang="en-US"/>
          </a:p>
        </p:txBody>
      </p:sp>
      <p:pic>
        <p:nvPicPr>
          <p:cNvPr id="9" name="Hình 9" descr="preencoded.png"/>
          <p:cNvPicPr>
            <a:picLocks noChangeAspect="1"/>
          </p:cNvPicPr>
          <p:nvPr/>
        </p:nvPicPr>
        <p:blipFill>
          <a:blip r:embed="rId5"/>
          <a:stretch>
            <a:fillRect/>
          </a:stretch>
        </p:blipFill>
        <p:spPr>
          <a:xfrm>
            <a:off x="8458200" y="5577840"/>
            <a:ext cx="475488" cy="475488"/>
          </a:xfrm>
          <a:prstGeom prst="rect">
            <a:avLst/>
          </a:prstGeom>
        </p:spPr>
      </p:pic>
      <p:sp>
        <p:nvSpPr>
          <p:cNvPr id="10" name="Khối 10"/>
          <p:cNvSpPr txBox="1"/>
          <p:nvPr/>
        </p:nvSpPr>
        <p:spPr>
          <a:xfrm>
            <a:off x="9098280" y="5394960"/>
            <a:ext cx="2423160" cy="841248"/>
          </a:xfrm>
          <a:prstGeom prst="rect">
            <a:avLst/>
          </a:prstGeom>
          <a:noFill/>
          <a:ln/>
        </p:spPr>
        <p:txBody>
          <a:bodyPr wrap="square" lIns="0" tIns="0" rIns="0" bIns="0" rtlCol="0" anchor="ctr"/>
          <a:lstStyle/>
          <a:p>
            <a:pPr marL="0" indent="0">
              <a:lnSpc>
                <a:spcPct val="108000"/>
              </a:lnSpc>
              <a:buNone/>
            </a:pPr>
            <a:r>
              <a:rPr lang="en-US" sz="1600" b="1" dirty="0">
                <a:solidFill>
                  <a:srgbClr val="0B3FB8"/>
                </a:solidFill>
                <a:latin typeface="Roboto" pitchFamily="34" charset="0"/>
                <a:ea typeface="Roboto" pitchFamily="34" charset="-122"/>
                <a:cs typeface="Roboto" pitchFamily="34" charset="-120"/>
              </a:rPr>
              <a:t>Kết quả:</a:t>
            </a:r>
            <a:r>
              <a:rPr lang="en-US" sz="1600" dirty="0">
                <a:solidFill>
                  <a:srgbClr val="1B2A4A"/>
                </a:solidFill>
                <a:latin typeface="Roboto" pitchFamily="34" charset="0"/>
                <a:ea typeface="Roboto" pitchFamily="34" charset="-122"/>
                <a:cs typeface="Roboto" pitchFamily="34" charset="-120"/>
              </a:rPr>
              <a:t> Số ô khuyết còn lại sau xử lý: </a:t>
            </a:r>
            <a:r>
              <a:rPr lang="en-US" sz="1600" b="1" dirty="0">
                <a:solidFill>
                  <a:srgbClr val="0B3FB8"/>
                </a:solidFill>
                <a:latin typeface="Roboto" pitchFamily="34" charset="0"/>
                <a:ea typeface="Roboto" pitchFamily="34" charset="-122"/>
                <a:cs typeface="Roboto" pitchFamily="34" charset="-120"/>
              </a:rPr>
              <a:t>0</a:t>
            </a:r>
            <a:r>
              <a:rPr lang="en-US" sz="1600" dirty="0">
                <a:solidFill>
                  <a:srgbClr val="1B2A4A"/>
                </a:solidFill>
                <a:latin typeface="Roboto" pitchFamily="34" charset="0"/>
                <a:ea typeface="Roboto" pitchFamily="34" charset="-122"/>
                <a:cs typeface="Roboto" pitchFamily="34" charset="-120"/>
              </a:rPr>
              <a: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fill="hold"/>
                                        <p:tgtEl>
                                          <p:spTgt spid="5"/>
                                        </p:tgtEl>
                                        <p:attrNameLst>
                                          <p:attrName>ppt_x</p:attrName>
                                        </p:attrNameLst>
                                      </p:cBhvr>
                                      <p:tavLst>
                                        <p:tav tm="0">
                                          <p:val>
                                            <p:strVal val="#ppt_x"/>
                                          </p:val>
                                        </p:tav>
                                        <p:tav tm="100000">
                                          <p:val>
                                            <p:strVal val="#ppt_x"/>
                                          </p:val>
                                        </p:tav>
                                      </p:tavLst>
                                    </p:anim>
                                    <p:anim calcmode="lin" valueType="num">
                                      <p:cBhvr additive="base">
                                        <p:cTn id="14" dur="600" fill="hold"/>
                                        <p:tgtEl>
                                          <p:spTgt spid="5"/>
                                        </p:tgtEl>
                                        <p:attrNameLst>
                                          <p:attrName>ppt_y</p:attrName>
                                        </p:attrNameLst>
                                      </p:cBhvr>
                                      <p:tavLst>
                                        <p:tav tm="0">
                                          <p:val>
                                            <p:strVal val="#ppt_y+.1"/>
                                          </p:val>
                                        </p:tav>
                                        <p:tav tm="100000">
                                          <p:val>
                                            <p:strVal val="#ppt_y"/>
                                          </p:val>
                                        </p:tav>
                                      </p:tavLst>
                                    </p:anim>
                                  </p:childTnLst>
                                </p:cTn>
                              </p:par>
                              <p:par>
                                <p:cTn id="15" presetID="53" presetClass="entr" presetSubtype="16" fill="hold" nodeType="withEffect">
                                  <p:stCondLst>
                                    <p:cond delay="10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fill="hold"/>
                                        <p:tgtEl>
                                          <p:spTgt spid="7"/>
                                        </p:tgtEl>
                                        <p:attrNameLst>
                                          <p:attrName>ppt_x</p:attrName>
                                        </p:attrNameLst>
                                      </p:cBhvr>
                                      <p:tavLst>
                                        <p:tav tm="0">
                                          <p:val>
                                            <p:strVal val="#ppt_x"/>
                                          </p:val>
                                        </p:tav>
                                        <p:tav tm="100000">
                                          <p:val>
                                            <p:strVal val="#ppt_x"/>
                                          </p:val>
                                        </p:tav>
                                      </p:tavLst>
                                    </p:anim>
                                    <p:anim calcmode="lin" valueType="num">
                                      <p:cBhvr additive="base">
                                        <p:cTn id="24" dur="6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additive="base">
                                        <p:cTn id="30" dur="600" fill="hold"/>
                                        <p:tgtEl>
                                          <p:spTgt spid="8"/>
                                        </p:tgtEl>
                                        <p:attrNameLst>
                                          <p:attrName>ppt_x</p:attrName>
                                        </p:attrNameLst>
                                      </p:cBhvr>
                                      <p:tavLst>
                                        <p:tav tm="0">
                                          <p:val>
                                            <p:strVal val="#ppt_x"/>
                                          </p:val>
                                        </p:tav>
                                        <p:tav tm="100000">
                                          <p:val>
                                            <p:strVal val="#ppt_x"/>
                                          </p:val>
                                        </p:tav>
                                      </p:tavLst>
                                    </p:anim>
                                    <p:anim calcmode="lin" valueType="num">
                                      <p:cBhvr additive="base">
                                        <p:cTn id="31" dur="600" fill="hold"/>
                                        <p:tgtEl>
                                          <p:spTgt spid="8"/>
                                        </p:tgtEl>
                                        <p:attrNameLst>
                                          <p:attrName>ppt_y</p:attrName>
                                        </p:attrNameLst>
                                      </p:cBhvr>
                                      <p:tavLst>
                                        <p:tav tm="0">
                                          <p:val>
                                            <p:strVal val="#ppt_y+.1"/>
                                          </p:val>
                                        </p:tav>
                                        <p:tav tm="100000">
                                          <p:val>
                                            <p:strVal val="#ppt_y"/>
                                          </p:val>
                                        </p:tav>
                                      </p:tavLst>
                                    </p:anim>
                                  </p:childTnLst>
                                </p:cTn>
                              </p:par>
                              <p:par>
                                <p:cTn id="32" presetID="53" presetClass="entr" presetSubtype="16" fill="hold" nodeType="withEffect">
                                  <p:stCondLst>
                                    <p:cond delay="10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additive="base">
                                        <p:cTn id="40" dur="600" fill="hold"/>
                                        <p:tgtEl>
                                          <p:spTgt spid="10"/>
                                        </p:tgtEl>
                                        <p:attrNameLst>
                                          <p:attrName>ppt_x</p:attrName>
                                        </p:attrNameLst>
                                      </p:cBhvr>
                                      <p:tavLst>
                                        <p:tav tm="0">
                                          <p:val>
                                            <p:strVal val="#ppt_x"/>
                                          </p:val>
                                        </p:tav>
                                        <p:tav tm="100000">
                                          <p:val>
                                            <p:strVal val="#ppt_x"/>
                                          </p:val>
                                        </p:tav>
                                      </p:tavLst>
                                    </p:anim>
                                    <p:anim calcmode="lin" valueType="num">
                                      <p:cBhvr additive="base">
                                        <p:cTn id="41" dur="6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FEATURE ENGINEERING &amp; BIẾN ĐỔI LOGARIT</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05 / 14</a:t>
            </a:r>
            <a:endParaRPr lang="en-US" sz="1100" dirty="0"/>
          </a:p>
        </p:txBody>
      </p:sp>
      <p:sp>
        <p:nvSpPr>
          <p:cNvPr id="4" name="Khối 4"/>
          <p:cNvSpPr/>
          <p:nvPr/>
        </p:nvSpPr>
        <p:spPr>
          <a:xfrm>
            <a:off x="548640" y="1325880"/>
            <a:ext cx="3125053"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5 biến mới khởi tạo</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548640" y="1874520"/>
            <a:ext cx="5532120" cy="777240"/>
          </a:xfrm>
          <a:prstGeom prst="roundRect">
            <a:avLst>
              <a:gd name="adj" fmla="val 18824"/>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7" name="Khối 7"/>
          <p:cNvSpPr/>
          <p:nvPr/>
        </p:nvSpPr>
        <p:spPr>
          <a:xfrm>
            <a:off x="694944" y="2029968"/>
            <a:ext cx="457200" cy="457200"/>
          </a:xfrm>
          <a:prstGeom prst="roundRect">
            <a:avLst>
              <a:gd name="adj" fmla="val 20000"/>
            </a:avLst>
          </a:prstGeom>
          <a:solidFill>
            <a:srgbClr val="EAF3FF"/>
          </a:solidFill>
          <a:ln w="12700">
            <a:solidFill>
              <a:srgbClr val="CFE0FF"/>
            </a:solidFill>
          </a:ln>
        </p:spPr>
        <p:txBody>
          <a:bodyPr wrap="square" lIns="0" tIns="0" rIns="0" bIns="0" rtlCol="0" anchor="ctr"/>
          <a:lstStyle/>
          <a:p>
            <a:pPr marL="0" indent="0" algn="ctr">
              <a:buNone/>
            </a:pPr>
            <a:r>
              <a:rPr lang="en-US" sz="1800" b="1" i="1" dirty="0">
                <a:solidFill>
                  <a:srgbClr val="1F6BF0"/>
                </a:solidFill>
                <a:latin typeface="Roboto" pitchFamily="34" charset="0"/>
                <a:ea typeface="Roboto" pitchFamily="34" charset="-122"/>
                <a:cs typeface="Roboto" pitchFamily="34" charset="-120"/>
              </a:rPr>
              <a:t>ƒ</a:t>
            </a:r>
            <a:endParaRPr lang="en-US" sz="1800" dirty="0"/>
          </a:p>
        </p:txBody>
      </p:sp>
      <p:sp>
        <p:nvSpPr>
          <p:cNvPr id="8" name="Khối 8"/>
          <p:cNvSpPr txBox="1"/>
          <p:nvPr/>
        </p:nvSpPr>
        <p:spPr>
          <a:xfrm>
            <a:off x="1298448" y="1911096"/>
            <a:ext cx="4663440" cy="704088"/>
          </a:xfrm>
          <a:prstGeom prst="rect">
            <a:avLst/>
          </a:prstGeom>
          <a:noFill/>
          <a:ln/>
        </p:spPr>
        <p:txBody>
          <a:bodyPr wrap="square" lIns="0" tIns="0" rIns="0" bIns="0" rtlCol="0" anchor="ctr"/>
          <a:lstStyle/>
          <a:p>
            <a:pPr marL="0" indent="0">
              <a:lnSpc>
                <a:spcPct val="108000"/>
              </a:lnSpc>
              <a:buNone/>
            </a:pPr>
            <a:r>
              <a:rPr lang="en-US" sz="1700" dirty="0">
                <a:solidFill>
                  <a:srgbClr val="1F6BF0"/>
                </a:solidFill>
                <a:latin typeface="Roboto" pitchFamily="34" charset="0"/>
                <a:ea typeface="Roboto" pitchFamily="34" charset="-122"/>
                <a:cs typeface="Roboto" pitchFamily="34" charset="-120"/>
              </a:rPr>
              <a:t>TotalSF</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TotalBsmtSF</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1stFlrSF</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2ndFlrSF</a:t>
            </a:r>
            <a:endParaRPr lang="en-US" sz="1700" dirty="0"/>
          </a:p>
        </p:txBody>
      </p:sp>
      <p:sp>
        <p:nvSpPr>
          <p:cNvPr id="9" name="Khối 9"/>
          <p:cNvSpPr/>
          <p:nvPr/>
        </p:nvSpPr>
        <p:spPr>
          <a:xfrm>
            <a:off x="548640" y="2752344"/>
            <a:ext cx="5532120" cy="777240"/>
          </a:xfrm>
          <a:prstGeom prst="roundRect">
            <a:avLst>
              <a:gd name="adj" fmla="val 18824"/>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0" name="Khối 10"/>
          <p:cNvSpPr/>
          <p:nvPr/>
        </p:nvSpPr>
        <p:spPr>
          <a:xfrm>
            <a:off x="694944" y="2907792"/>
            <a:ext cx="457200" cy="457200"/>
          </a:xfrm>
          <a:prstGeom prst="roundRect">
            <a:avLst>
              <a:gd name="adj" fmla="val 20000"/>
            </a:avLst>
          </a:prstGeom>
          <a:solidFill>
            <a:srgbClr val="EAF3FF"/>
          </a:solidFill>
          <a:ln w="12700">
            <a:solidFill>
              <a:srgbClr val="CFE0FF"/>
            </a:solidFill>
          </a:ln>
        </p:spPr>
        <p:txBody>
          <a:bodyPr wrap="square" lIns="0" tIns="0" rIns="0" bIns="0" rtlCol="0" anchor="ctr"/>
          <a:lstStyle/>
          <a:p>
            <a:pPr marL="0" indent="0" algn="ctr">
              <a:buNone/>
            </a:pPr>
            <a:r>
              <a:rPr lang="en-US" sz="1800" b="1" i="1" dirty="0">
                <a:solidFill>
                  <a:srgbClr val="1F6BF0"/>
                </a:solidFill>
                <a:latin typeface="Roboto" pitchFamily="34" charset="0"/>
                <a:ea typeface="Roboto" pitchFamily="34" charset="-122"/>
                <a:cs typeface="Roboto" pitchFamily="34" charset="-120"/>
              </a:rPr>
              <a:t>ƒ</a:t>
            </a:r>
            <a:endParaRPr lang="en-US" sz="1800" dirty="0"/>
          </a:p>
        </p:txBody>
      </p:sp>
      <p:sp>
        <p:nvSpPr>
          <p:cNvPr id="11" name="Khối 11"/>
          <p:cNvSpPr txBox="1"/>
          <p:nvPr/>
        </p:nvSpPr>
        <p:spPr>
          <a:xfrm>
            <a:off x="1298448" y="2788920"/>
            <a:ext cx="4663440" cy="704088"/>
          </a:xfrm>
          <a:prstGeom prst="rect">
            <a:avLst/>
          </a:prstGeom>
          <a:noFill/>
          <a:ln/>
        </p:spPr>
        <p:txBody>
          <a:bodyPr wrap="square" lIns="0" tIns="0" rIns="0" bIns="0" rtlCol="0" anchor="ctr"/>
          <a:lstStyle/>
          <a:p>
            <a:pPr marL="0" indent="0">
              <a:lnSpc>
                <a:spcPct val="108000"/>
              </a:lnSpc>
              <a:buNone/>
            </a:pPr>
            <a:r>
              <a:rPr lang="en-US" sz="1700" dirty="0">
                <a:solidFill>
                  <a:srgbClr val="1F6BF0"/>
                </a:solidFill>
                <a:latin typeface="Roboto" pitchFamily="34" charset="0"/>
                <a:ea typeface="Roboto" pitchFamily="34" charset="-122"/>
                <a:cs typeface="Roboto" pitchFamily="34" charset="-120"/>
              </a:rPr>
              <a:t>TotalBath</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FullBath</a:t>
            </a:r>
            <a:r>
              <a:rPr lang="en-US" sz="1700" dirty="0">
                <a:solidFill>
                  <a:srgbClr val="1B2A4A"/>
                </a:solidFill>
                <a:latin typeface="Roboto" pitchFamily="34" charset="0"/>
                <a:ea typeface="Roboto" pitchFamily="34" charset="-122"/>
                <a:cs typeface="Roboto" pitchFamily="34" charset="-120"/>
              </a:rPr>
              <a:t> + 0.5 · </a:t>
            </a:r>
            <a:r>
              <a:rPr lang="en-US" sz="1700" dirty="0">
                <a:solidFill>
                  <a:srgbClr val="1F6BF0"/>
                </a:solidFill>
                <a:latin typeface="Roboto" pitchFamily="34" charset="0"/>
                <a:ea typeface="Roboto" pitchFamily="34" charset="-122"/>
                <a:cs typeface="Roboto" pitchFamily="34" charset="-120"/>
              </a:rPr>
              <a:t>HalfBath</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BsmtFullBath</a:t>
            </a:r>
            <a:r>
              <a:rPr lang="en-US" sz="1700" dirty="0">
                <a:solidFill>
                  <a:srgbClr val="1B2A4A"/>
                </a:solidFill>
                <a:latin typeface="Roboto" pitchFamily="34" charset="0"/>
                <a:ea typeface="Roboto" pitchFamily="34" charset="-122"/>
                <a:cs typeface="Roboto" pitchFamily="34" charset="-120"/>
              </a:rPr>
              <a:t> + 0.5 · </a:t>
            </a:r>
            <a:r>
              <a:rPr lang="en-US" sz="1700" dirty="0">
                <a:solidFill>
                  <a:srgbClr val="1F6BF0"/>
                </a:solidFill>
                <a:latin typeface="Roboto" pitchFamily="34" charset="0"/>
                <a:ea typeface="Roboto" pitchFamily="34" charset="-122"/>
                <a:cs typeface="Roboto" pitchFamily="34" charset="-120"/>
              </a:rPr>
              <a:t>BsmtHalfBath</a:t>
            </a:r>
            <a:endParaRPr lang="en-US" sz="1700" dirty="0"/>
          </a:p>
        </p:txBody>
      </p:sp>
      <p:sp>
        <p:nvSpPr>
          <p:cNvPr id="12" name="Khối 12"/>
          <p:cNvSpPr/>
          <p:nvPr/>
        </p:nvSpPr>
        <p:spPr>
          <a:xfrm>
            <a:off x="548640" y="3630168"/>
            <a:ext cx="5532120" cy="777240"/>
          </a:xfrm>
          <a:prstGeom prst="roundRect">
            <a:avLst>
              <a:gd name="adj" fmla="val 18824"/>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3" name="Khối 13"/>
          <p:cNvSpPr/>
          <p:nvPr/>
        </p:nvSpPr>
        <p:spPr>
          <a:xfrm>
            <a:off x="694944" y="3785616"/>
            <a:ext cx="457200" cy="457200"/>
          </a:xfrm>
          <a:prstGeom prst="roundRect">
            <a:avLst>
              <a:gd name="adj" fmla="val 20000"/>
            </a:avLst>
          </a:prstGeom>
          <a:solidFill>
            <a:srgbClr val="EAF3FF"/>
          </a:solidFill>
          <a:ln w="12700">
            <a:solidFill>
              <a:srgbClr val="CFE0FF"/>
            </a:solidFill>
          </a:ln>
        </p:spPr>
        <p:txBody>
          <a:bodyPr wrap="square" lIns="0" tIns="0" rIns="0" bIns="0" rtlCol="0" anchor="ctr"/>
          <a:lstStyle/>
          <a:p>
            <a:pPr marL="0" indent="0" algn="ctr">
              <a:buNone/>
            </a:pPr>
            <a:r>
              <a:rPr lang="en-US" sz="1800" b="1" i="1" dirty="0">
                <a:solidFill>
                  <a:srgbClr val="1F6BF0"/>
                </a:solidFill>
                <a:latin typeface="Roboto" pitchFamily="34" charset="0"/>
                <a:ea typeface="Roboto" pitchFamily="34" charset="-122"/>
                <a:cs typeface="Roboto" pitchFamily="34" charset="-120"/>
              </a:rPr>
              <a:t>ƒ</a:t>
            </a:r>
            <a:endParaRPr lang="en-US" sz="1800" dirty="0"/>
          </a:p>
        </p:txBody>
      </p:sp>
      <p:sp>
        <p:nvSpPr>
          <p:cNvPr id="14" name="Khối 14"/>
          <p:cNvSpPr txBox="1"/>
          <p:nvPr/>
        </p:nvSpPr>
        <p:spPr>
          <a:xfrm>
            <a:off x="1298448" y="3666744"/>
            <a:ext cx="4663440" cy="704088"/>
          </a:xfrm>
          <a:prstGeom prst="rect">
            <a:avLst/>
          </a:prstGeom>
          <a:noFill/>
          <a:ln/>
        </p:spPr>
        <p:txBody>
          <a:bodyPr wrap="square" lIns="0" tIns="0" rIns="0" bIns="0" rtlCol="0" anchor="ctr"/>
          <a:lstStyle/>
          <a:p>
            <a:pPr marL="0" indent="0">
              <a:lnSpc>
                <a:spcPct val="108000"/>
              </a:lnSpc>
              <a:buNone/>
            </a:pPr>
            <a:r>
              <a:rPr lang="en-US" sz="1700" dirty="0">
                <a:solidFill>
                  <a:srgbClr val="1F6BF0"/>
                </a:solidFill>
                <a:latin typeface="Roboto" pitchFamily="34" charset="0"/>
                <a:ea typeface="Roboto" pitchFamily="34" charset="-122"/>
                <a:cs typeface="Roboto" pitchFamily="34" charset="-120"/>
              </a:rPr>
              <a:t>HouseAge</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YrSold</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YearBuilt</a:t>
            </a:r>
            <a:endParaRPr lang="en-US" sz="1700" dirty="0"/>
          </a:p>
        </p:txBody>
      </p:sp>
      <p:sp>
        <p:nvSpPr>
          <p:cNvPr id="15" name="Khối 15"/>
          <p:cNvSpPr/>
          <p:nvPr/>
        </p:nvSpPr>
        <p:spPr>
          <a:xfrm>
            <a:off x="548640" y="4507992"/>
            <a:ext cx="5532120" cy="777240"/>
          </a:xfrm>
          <a:prstGeom prst="roundRect">
            <a:avLst>
              <a:gd name="adj" fmla="val 18824"/>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6" name="Khối 16"/>
          <p:cNvSpPr/>
          <p:nvPr/>
        </p:nvSpPr>
        <p:spPr>
          <a:xfrm>
            <a:off x="694944" y="4663440"/>
            <a:ext cx="457200" cy="457200"/>
          </a:xfrm>
          <a:prstGeom prst="roundRect">
            <a:avLst>
              <a:gd name="adj" fmla="val 20000"/>
            </a:avLst>
          </a:prstGeom>
          <a:solidFill>
            <a:srgbClr val="EAF3FF"/>
          </a:solidFill>
          <a:ln w="12700">
            <a:solidFill>
              <a:srgbClr val="CFE0FF"/>
            </a:solidFill>
          </a:ln>
        </p:spPr>
        <p:txBody>
          <a:bodyPr wrap="square" lIns="0" tIns="0" rIns="0" bIns="0" rtlCol="0" anchor="ctr"/>
          <a:lstStyle/>
          <a:p>
            <a:pPr marL="0" indent="0" algn="ctr">
              <a:buNone/>
            </a:pPr>
            <a:r>
              <a:rPr lang="en-US" sz="1800" b="1" i="1" dirty="0">
                <a:solidFill>
                  <a:srgbClr val="1F6BF0"/>
                </a:solidFill>
                <a:latin typeface="Roboto" pitchFamily="34" charset="0"/>
                <a:ea typeface="Roboto" pitchFamily="34" charset="-122"/>
                <a:cs typeface="Roboto" pitchFamily="34" charset="-120"/>
              </a:rPr>
              <a:t>ƒ</a:t>
            </a:r>
            <a:endParaRPr lang="en-US" sz="1800" dirty="0"/>
          </a:p>
        </p:txBody>
      </p:sp>
      <p:sp>
        <p:nvSpPr>
          <p:cNvPr id="17" name="Khối 17"/>
          <p:cNvSpPr txBox="1"/>
          <p:nvPr/>
        </p:nvSpPr>
        <p:spPr>
          <a:xfrm>
            <a:off x="1298448" y="4544568"/>
            <a:ext cx="4663440" cy="704088"/>
          </a:xfrm>
          <a:prstGeom prst="rect">
            <a:avLst/>
          </a:prstGeom>
          <a:noFill/>
          <a:ln/>
        </p:spPr>
        <p:txBody>
          <a:bodyPr wrap="square" lIns="0" tIns="0" rIns="0" bIns="0" rtlCol="0" anchor="ctr"/>
          <a:lstStyle/>
          <a:p>
            <a:pPr marL="0" indent="0">
              <a:lnSpc>
                <a:spcPct val="108000"/>
              </a:lnSpc>
              <a:buNone/>
            </a:pPr>
            <a:r>
              <a:rPr lang="en-US" sz="1700" dirty="0">
                <a:solidFill>
                  <a:srgbClr val="1F6BF0"/>
                </a:solidFill>
                <a:latin typeface="Roboto" pitchFamily="34" charset="0"/>
                <a:ea typeface="Roboto" pitchFamily="34" charset="-122"/>
                <a:cs typeface="Roboto" pitchFamily="34" charset="-120"/>
              </a:rPr>
              <a:t>RemodAge</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YrSold</a:t>
            </a:r>
            <a:r>
              <a:rPr lang="en-US" sz="1700" dirty="0">
                <a:solidFill>
                  <a:srgbClr val="1B2A4A"/>
                </a:solidFill>
                <a:latin typeface="Roboto" pitchFamily="34" charset="0"/>
                <a:ea typeface="Roboto" pitchFamily="34" charset="-122"/>
                <a:cs typeface="Roboto" pitchFamily="34" charset="-120"/>
              </a:rPr>
              <a:t> − </a:t>
            </a:r>
            <a:r>
              <a:rPr lang="en-US" sz="1700" dirty="0">
                <a:solidFill>
                  <a:srgbClr val="1F6BF0"/>
                </a:solidFill>
                <a:latin typeface="Roboto" pitchFamily="34" charset="0"/>
                <a:ea typeface="Roboto" pitchFamily="34" charset="-122"/>
                <a:cs typeface="Roboto" pitchFamily="34" charset="-120"/>
              </a:rPr>
              <a:t>YearRemodAdd</a:t>
            </a:r>
            <a:r>
              <a:rPr lang="en-US" sz="1700" dirty="0">
                <a:solidFill>
                  <a:srgbClr val="1B2A4A"/>
                </a:solidFill>
                <a:latin typeface="Roboto" pitchFamily="34" charset="0"/>
                <a:ea typeface="Roboto" pitchFamily="34" charset="-122"/>
                <a:cs typeface="Roboto" pitchFamily="34" charset="-120"/>
              </a:rPr>
              <a:t> (chặn dưới 0)</a:t>
            </a:r>
            <a:endParaRPr lang="en-US" sz="1700" dirty="0"/>
          </a:p>
        </p:txBody>
      </p:sp>
      <p:sp>
        <p:nvSpPr>
          <p:cNvPr id="18" name="Khối 18"/>
          <p:cNvSpPr/>
          <p:nvPr/>
        </p:nvSpPr>
        <p:spPr>
          <a:xfrm>
            <a:off x="548640" y="5385816"/>
            <a:ext cx="5532120" cy="777240"/>
          </a:xfrm>
          <a:prstGeom prst="roundRect">
            <a:avLst>
              <a:gd name="adj" fmla="val 18824"/>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9" name="Khối 19"/>
          <p:cNvSpPr/>
          <p:nvPr/>
        </p:nvSpPr>
        <p:spPr>
          <a:xfrm>
            <a:off x="694944" y="5541264"/>
            <a:ext cx="457200" cy="457200"/>
          </a:xfrm>
          <a:prstGeom prst="roundRect">
            <a:avLst>
              <a:gd name="adj" fmla="val 20000"/>
            </a:avLst>
          </a:prstGeom>
          <a:solidFill>
            <a:srgbClr val="EAF3FF"/>
          </a:solidFill>
          <a:ln w="12700">
            <a:solidFill>
              <a:srgbClr val="CFE0FF"/>
            </a:solidFill>
          </a:ln>
        </p:spPr>
        <p:txBody>
          <a:bodyPr wrap="square" lIns="0" tIns="0" rIns="0" bIns="0" rtlCol="0" anchor="ctr"/>
          <a:lstStyle/>
          <a:p>
            <a:pPr marL="0" indent="0" algn="ctr">
              <a:buNone/>
            </a:pPr>
            <a:r>
              <a:rPr lang="en-US" sz="1800" b="1" i="1" dirty="0">
                <a:solidFill>
                  <a:srgbClr val="1F6BF0"/>
                </a:solidFill>
                <a:latin typeface="Roboto" pitchFamily="34" charset="0"/>
                <a:ea typeface="Roboto" pitchFamily="34" charset="-122"/>
                <a:cs typeface="Roboto" pitchFamily="34" charset="-120"/>
              </a:rPr>
              <a:t>ƒ</a:t>
            </a:r>
            <a:endParaRPr lang="en-US" sz="1800" dirty="0"/>
          </a:p>
        </p:txBody>
      </p:sp>
      <p:sp>
        <p:nvSpPr>
          <p:cNvPr id="20" name="Khối 20"/>
          <p:cNvSpPr txBox="1"/>
          <p:nvPr/>
        </p:nvSpPr>
        <p:spPr>
          <a:xfrm>
            <a:off x="1298448" y="5422392"/>
            <a:ext cx="4663440" cy="704088"/>
          </a:xfrm>
          <a:prstGeom prst="rect">
            <a:avLst/>
          </a:prstGeom>
          <a:noFill/>
          <a:ln/>
        </p:spPr>
        <p:txBody>
          <a:bodyPr wrap="square" lIns="0" tIns="0" rIns="0" bIns="0" rtlCol="0" anchor="ctr"/>
          <a:lstStyle/>
          <a:p>
            <a:pPr marL="0" indent="0">
              <a:lnSpc>
                <a:spcPct val="108000"/>
              </a:lnSpc>
              <a:buNone/>
            </a:pPr>
            <a:r>
              <a:rPr lang="en-US" sz="1700" dirty="0">
                <a:solidFill>
                  <a:srgbClr val="1F6BF0"/>
                </a:solidFill>
                <a:latin typeface="Roboto" pitchFamily="34" charset="0"/>
                <a:ea typeface="Roboto" pitchFamily="34" charset="-122"/>
                <a:cs typeface="Roboto" pitchFamily="34" charset="-120"/>
              </a:rPr>
              <a:t>HasBasement</a:t>
            </a:r>
            <a:r>
              <a:rPr lang="en-US" sz="1700" dirty="0">
                <a:solidFill>
                  <a:srgbClr val="1B2A4A"/>
                </a:solidFill>
                <a:latin typeface="Roboto" pitchFamily="34" charset="0"/>
                <a:ea typeface="Roboto" pitchFamily="34" charset="-122"/>
                <a:cs typeface="Roboto" pitchFamily="34" charset="-120"/>
              </a:rPr>
              <a:t> = 1 nếu </a:t>
            </a:r>
            <a:r>
              <a:rPr lang="en-US" sz="1700" dirty="0">
                <a:solidFill>
                  <a:srgbClr val="1F6BF0"/>
                </a:solidFill>
                <a:latin typeface="Roboto" pitchFamily="34" charset="0"/>
                <a:ea typeface="Roboto" pitchFamily="34" charset="-122"/>
                <a:cs typeface="Roboto" pitchFamily="34" charset="-120"/>
              </a:rPr>
              <a:t>TotalBsmtSF</a:t>
            </a:r>
            <a:r>
              <a:rPr lang="en-US" sz="1700" dirty="0">
                <a:solidFill>
                  <a:srgbClr val="1B2A4A"/>
                </a:solidFill>
                <a:latin typeface="Roboto" pitchFamily="34" charset="0"/>
                <a:ea typeface="Roboto" pitchFamily="34" charset="-122"/>
                <a:cs typeface="Roboto" pitchFamily="34" charset="-120"/>
              </a:rPr>
              <a:t> &gt; 0</a:t>
            </a:r>
            <a:endParaRPr lang="en-US" sz="1700" dirty="0"/>
          </a:p>
        </p:txBody>
      </p:sp>
      <p:sp>
        <p:nvSpPr>
          <p:cNvPr id="21" name="Khối 21"/>
          <p:cNvSpPr/>
          <p:nvPr/>
        </p:nvSpPr>
        <p:spPr>
          <a:xfrm>
            <a:off x="6355080" y="1325880"/>
            <a:ext cx="2483145"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Biến đổi log1p</a:t>
            </a:r>
            <a:endParaRPr lang="en-US" sz="1800" dirty="0"/>
          </a:p>
        </p:txBody>
      </p:sp>
      <p:sp>
        <p:nvSpPr>
          <p:cNvPr id="22" name="Khối 22"/>
          <p:cNvSpPr/>
          <p:nvPr/>
        </p:nvSpPr>
        <p:spPr>
          <a:xfrm>
            <a:off x="653796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23" name="Khối 23"/>
          <p:cNvSpPr/>
          <p:nvPr/>
        </p:nvSpPr>
        <p:spPr>
          <a:xfrm>
            <a:off x="6355080" y="1874520"/>
            <a:ext cx="5285232" cy="1572768"/>
          </a:xfrm>
          <a:prstGeom prst="roundRect">
            <a:avLst>
              <a:gd name="adj" fmla="val 930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4" name="Khối 24"/>
          <p:cNvSpPr txBox="1"/>
          <p:nvPr/>
        </p:nvSpPr>
        <p:spPr>
          <a:xfrm>
            <a:off x="6556248" y="1938528"/>
            <a:ext cx="4919472" cy="1444752"/>
          </a:xfrm>
          <a:prstGeom prst="rect">
            <a:avLst/>
          </a:prstGeom>
          <a:noFill/>
          <a:ln/>
        </p:spPr>
        <p:txBody>
          <a:bodyPr wrap="square" lIns="0" tIns="0" rIns="0" bIns="0" rtlCol="0" anchor="ctr"/>
          <a:lstStyle/>
          <a:p>
            <a:pPr marL="228600" indent="-228600">
              <a:lnSpc>
                <a:spcPct val="108000"/>
              </a:lnSpc>
              <a:spcAft>
                <a:spcPts val="700"/>
              </a:spcAft>
              <a:buSzPct val="100000"/>
              <a:buChar char="●"/>
            </a:pPr>
            <a:r>
              <a:rPr lang="en-US" sz="1700" b="1" dirty="0">
                <a:solidFill>
                  <a:srgbClr val="0B3FB8"/>
                </a:solidFill>
                <a:latin typeface="Roboto" pitchFamily="34" charset="0"/>
                <a:ea typeface="Roboto" pitchFamily="34" charset="-122"/>
                <a:cs typeface="Roboto" pitchFamily="34" charset="-120"/>
              </a:rPr>
              <a:t>Biến mục tiêu:</a:t>
            </a:r>
            <a:r>
              <a:rPr lang="en-US" sz="1700" dirty="0">
                <a:solidFill>
                  <a:srgbClr val="1B2A4A"/>
                </a:solidFill>
                <a:latin typeface="Roboto" pitchFamily="34" charset="0"/>
                <a:ea typeface="Roboto" pitchFamily="34" charset="-122"/>
                <a:cs typeface="Roboto" pitchFamily="34" charset="-120"/>
              </a:rPr>
              <a:t> </a:t>
            </a:r>
            <a:r>
              <a:rPr lang="en-US" sz="1700" dirty="0">
                <a:solidFill>
                  <a:srgbClr val="1F6BF0"/>
                </a:solidFill>
                <a:latin typeface="Roboto" pitchFamily="34" charset="0"/>
                <a:ea typeface="Roboto" pitchFamily="34" charset="-122"/>
                <a:cs typeface="Roboto" pitchFamily="34" charset="-120"/>
              </a:rPr>
              <a:t>LogSalePrice</a:t>
            </a:r>
            <a:r>
              <a:rPr lang="en-US" sz="1700" dirty="0">
                <a:solidFill>
                  <a:srgbClr val="1B2A4A"/>
                </a:solidFill>
                <a:latin typeface="Roboto" pitchFamily="34" charset="0"/>
                <a:ea typeface="Roboto" pitchFamily="34" charset="-122"/>
                <a:cs typeface="Roboto" pitchFamily="34" charset="-120"/>
              </a:rPr>
              <a:t> = log(1 + SalePrice).</a:t>
            </a:r>
            <a:endParaRPr lang="en-US" sz="1700" dirty="0"/>
          </a:p>
          <a:p>
            <a:pPr marL="228600" indent="-228600">
              <a:lnSpc>
                <a:spcPct val="108000"/>
              </a:lnSpc>
              <a:buSzPct val="100000"/>
              <a:buChar char="●"/>
            </a:pPr>
            <a:r>
              <a:rPr lang="en-US" sz="1700" b="1" dirty="0">
                <a:solidFill>
                  <a:srgbClr val="0B3FB8"/>
                </a:solidFill>
                <a:latin typeface="Roboto" pitchFamily="34" charset="0"/>
                <a:ea typeface="Roboto" pitchFamily="34" charset="-122"/>
                <a:cs typeface="Roboto" pitchFamily="34" charset="-120"/>
              </a:rPr>
              <a:t>Biến đầu vào lệch phải</a:t>
            </a:r>
            <a:r>
              <a:rPr lang="en-US" sz="1700" dirty="0">
                <a:solidFill>
                  <a:srgbClr val="1B2A4A"/>
                </a:solidFill>
                <a:latin typeface="Roboto" pitchFamily="34" charset="0"/>
                <a:ea typeface="Roboto" pitchFamily="34" charset="-122"/>
                <a:cs typeface="Roboto" pitchFamily="34" charset="-120"/>
              </a:rPr>
              <a:t> (|skew| &gt; 0.75): </a:t>
            </a:r>
            <a:r>
              <a:rPr lang="en-US" sz="1700" dirty="0">
                <a:solidFill>
                  <a:srgbClr val="1F6BF0"/>
                </a:solidFill>
                <a:latin typeface="Roboto" pitchFamily="34" charset="0"/>
                <a:ea typeface="Roboto" pitchFamily="34" charset="-122"/>
                <a:cs typeface="Roboto" pitchFamily="34" charset="-120"/>
              </a:rPr>
              <a:t>GrLivArea</a:t>
            </a:r>
            <a:r>
              <a:rPr lang="en-US" sz="1700" dirty="0">
                <a:solidFill>
                  <a:srgbClr val="1B2A4A"/>
                </a:solidFill>
                <a:latin typeface="Roboto" pitchFamily="34" charset="0"/>
                <a:ea typeface="Roboto" pitchFamily="34" charset="-122"/>
                <a:cs typeface="Roboto" pitchFamily="34" charset="-120"/>
              </a:rPr>
              <a:t>, </a:t>
            </a:r>
            <a:r>
              <a:rPr lang="en-US" sz="1700" dirty="0">
                <a:solidFill>
                  <a:srgbClr val="1F6BF0"/>
                </a:solidFill>
                <a:latin typeface="Roboto" pitchFamily="34" charset="0"/>
                <a:ea typeface="Roboto" pitchFamily="34" charset="-122"/>
                <a:cs typeface="Roboto" pitchFamily="34" charset="-120"/>
              </a:rPr>
              <a:t>LotArea</a:t>
            </a:r>
            <a:r>
              <a:rPr lang="en-US" sz="1700" dirty="0">
                <a:solidFill>
                  <a:srgbClr val="1B2A4A"/>
                </a:solidFill>
                <a:latin typeface="Roboto" pitchFamily="34" charset="0"/>
                <a:ea typeface="Roboto" pitchFamily="34" charset="-122"/>
                <a:cs typeface="Roboto" pitchFamily="34" charset="-120"/>
              </a:rPr>
              <a:t>, </a:t>
            </a:r>
            <a:r>
              <a:rPr lang="en-US" sz="1700" dirty="0">
                <a:solidFill>
                  <a:srgbClr val="1F6BF0"/>
                </a:solidFill>
                <a:latin typeface="Roboto" pitchFamily="34" charset="0"/>
                <a:ea typeface="Roboto" pitchFamily="34" charset="-122"/>
                <a:cs typeface="Roboto" pitchFamily="34" charset="-120"/>
              </a:rPr>
              <a:t>TotalSF</a:t>
            </a:r>
            <a:r>
              <a:rPr lang="en-US" sz="1700" dirty="0">
                <a:solidFill>
                  <a:srgbClr val="1B2A4A"/>
                </a:solidFill>
                <a:latin typeface="Roboto" pitchFamily="34" charset="0"/>
                <a:ea typeface="Roboto" pitchFamily="34" charset="-122"/>
                <a:cs typeface="Roboto" pitchFamily="34" charset="-120"/>
              </a:rPr>
              <a:t>, </a:t>
            </a:r>
            <a:r>
              <a:rPr lang="en-US" sz="1700" dirty="0">
                <a:solidFill>
                  <a:srgbClr val="1F6BF0"/>
                </a:solidFill>
                <a:latin typeface="Roboto" pitchFamily="34" charset="0"/>
                <a:ea typeface="Roboto" pitchFamily="34" charset="-122"/>
                <a:cs typeface="Roboto" pitchFamily="34" charset="-120"/>
              </a:rPr>
              <a:t>LotFrontage</a:t>
            </a:r>
            <a:r>
              <a:rPr lang="en-US" sz="1700" dirty="0">
                <a:solidFill>
                  <a:srgbClr val="1B2A4A"/>
                </a:solidFill>
                <a:latin typeface="Roboto" pitchFamily="34" charset="0"/>
                <a:ea typeface="Roboto" pitchFamily="34" charset="-122"/>
                <a:cs typeface="Roboto" pitchFamily="34" charset="-120"/>
              </a:rPr>
              <a:t>.</a:t>
            </a:r>
            <a:endParaRPr lang="en-US" sz="1700" dirty="0"/>
          </a:p>
        </p:txBody>
      </p:sp>
      <p:graphicFrame>
        <p:nvGraphicFramePr>
          <p:cNvPr id="25" name="Bảng 25"/>
          <p:cNvGraphicFramePr>
            <a:graphicFrameLocks noGrp="1"/>
          </p:cNvGraphicFramePr>
          <p:nvPr>
            <p:extLst>
              <p:ext uri="{D42A27DB-BD31-4B8C-83A1-F6EECF244321}">
                <p14:modId xmlns:p14="http://schemas.microsoft.com/office/powerpoint/2010/main" val="1579011935"/>
              </p:ext>
            </p:extLst>
          </p:nvPr>
        </p:nvGraphicFramePr>
        <p:xfrm>
          <a:off x="6355080" y="3611880"/>
          <a:ext cx="5285232" cy="2763520"/>
        </p:xfrm>
        <a:graphic>
          <a:graphicData uri="http://schemas.openxmlformats.org/drawingml/2006/table">
            <a:tbl>
              <a:tblPr/>
              <a:tblGrid>
                <a:gridCol w="1920240">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tblGrid>
              <a:tr h="457200">
                <a:tc>
                  <a:txBody>
                    <a:bodyPr/>
                    <a:lstStyle/>
                    <a:p>
                      <a:pPr marL="0" indent="0" algn="l">
                        <a:buNone/>
                      </a:pPr>
                      <a:r>
                        <a:rPr lang="en-US" sz="1600" b="1" dirty="0">
                          <a:solidFill>
                            <a:srgbClr val="FFFFFF"/>
                          </a:solidFill>
                          <a:latin typeface="Roboto" pitchFamily="34" charset="0"/>
                          <a:ea typeface="Roboto" pitchFamily="34" charset="-122"/>
                          <a:cs typeface="Roboto" pitchFamily="34" charset="-120"/>
                        </a:rPr>
                        <a:t>Biến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600" b="1" dirty="0">
                          <a:solidFill>
                            <a:srgbClr val="FFFFFF"/>
                          </a:solidFill>
                          <a:latin typeface="Roboto" pitchFamily="34" charset="0"/>
                          <a:ea typeface="Roboto" pitchFamily="34" charset="-122"/>
                          <a:cs typeface="Roboto" pitchFamily="34" charset="-120"/>
                        </a:rPr>
                        <a:t>Skewness trước log</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600" b="1" dirty="0">
                          <a:solidFill>
                            <a:srgbClr val="FFFFFF"/>
                          </a:solidFill>
                          <a:latin typeface="Roboto" pitchFamily="34" charset="0"/>
                          <a:ea typeface="Roboto" pitchFamily="34" charset="-122"/>
                          <a:cs typeface="Roboto" pitchFamily="34" charset="-120"/>
                        </a:rPr>
                        <a:t>Skewness sau log</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429768">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SalePrice</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1.88</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0.12</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GrLivArea</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1.36</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-0.01</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429768">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LotArea</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12.20</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-0.14</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TotalSF</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1.52</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-0.03</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4"/>
                  </a:ext>
                </a:extLst>
              </a:tr>
              <a:tr h="429768">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LotFrontage</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2.38</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A"/>
                          </a:solidFill>
                          <a:latin typeface="Roboto" pitchFamily="34" charset="0"/>
                          <a:ea typeface="Roboto" pitchFamily="34" charset="-122"/>
                          <a:cs typeface="Roboto" pitchFamily="34" charset="-120"/>
                        </a:rPr>
                        <a:t>-0.05</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53" presetClass="entr" presetSubtype="16" fill="hold" grpId="0" nodeType="withEffect">
                                  <p:stCondLst>
                                    <p:cond delay="23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42" presetClass="entr" presetSubtype="0" fill="hold" grpId="0" nodeType="with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2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53" presetClass="entr" presetSubtype="16" fill="hold" grpId="0" nodeType="withEffect">
                                  <p:stCondLst>
                                    <p:cond delay="36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par>
                                <p:cTn id="36" presetID="42" presetClass="entr" presetSubtype="0" fill="hold" grpId="0" nodeType="withEffect">
                                  <p:stCondLst>
                                    <p:cond delay="28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41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par>
                                <p:cTn id="46" presetID="53" presetClass="entr" presetSubtype="16" fill="hold" grpId="0" nodeType="withEffect">
                                  <p:stCondLst>
                                    <p:cond delay="490"/>
                                  </p:stCondLst>
                                  <p:childTnLst>
                                    <p:set>
                                      <p:cBhvr>
                                        <p:cTn id="47" dur="1" fill="hold">
                                          <p:stCondLst>
                                            <p:cond delay="0"/>
                                          </p:stCondLst>
                                        </p:cTn>
                                        <p:tgtEl>
                                          <p:spTgt spid="13"/>
                                        </p:tgtEl>
                                        <p:attrNameLst>
                                          <p:attrName>style.visibility</p:attrName>
                                        </p:attrNameLst>
                                      </p:cBhvr>
                                      <p:to>
                                        <p:strVal val="visible"/>
                                      </p:to>
                                    </p:set>
                                    <p:anim calcmode="lin" valueType="num">
                                      <p:cBhvr>
                                        <p:cTn id="48" dur="500" fill="hold"/>
                                        <p:tgtEl>
                                          <p:spTgt spid="13"/>
                                        </p:tgtEl>
                                        <p:attrNameLst>
                                          <p:attrName>ppt_w</p:attrName>
                                        </p:attrNameLst>
                                      </p:cBhvr>
                                      <p:tavLst>
                                        <p:tav tm="0">
                                          <p:val>
                                            <p:fltVal val="0"/>
                                          </p:val>
                                        </p:tav>
                                        <p:tav tm="100000">
                                          <p:val>
                                            <p:strVal val="#ppt_w"/>
                                          </p:val>
                                        </p:tav>
                                      </p:tavLst>
                                    </p:anim>
                                    <p:anim calcmode="lin" valueType="num">
                                      <p:cBhvr>
                                        <p:cTn id="49" dur="500" fill="hold"/>
                                        <p:tgtEl>
                                          <p:spTgt spid="13"/>
                                        </p:tgtEl>
                                        <p:attrNameLst>
                                          <p:attrName>ppt_h</p:attrName>
                                        </p:attrNameLst>
                                      </p:cBhvr>
                                      <p:tavLst>
                                        <p:tav tm="0">
                                          <p:val>
                                            <p:fltVal val="0"/>
                                          </p:val>
                                        </p:tav>
                                        <p:tav tm="100000">
                                          <p:val>
                                            <p:strVal val="#ppt_h"/>
                                          </p:val>
                                        </p:tav>
                                      </p:tavLst>
                                    </p:anim>
                                    <p:animEffect transition="in" filter="fade">
                                      <p:cBhvr>
                                        <p:cTn id="50" dur="500"/>
                                        <p:tgtEl>
                                          <p:spTgt spid="13"/>
                                        </p:tgtEl>
                                      </p:cBhvr>
                                    </p:animEffect>
                                  </p:childTnLst>
                                </p:cTn>
                              </p:par>
                              <p:par>
                                <p:cTn id="51" presetID="42" presetClass="entr" presetSubtype="0" fill="hold" grpId="0" nodeType="withEffect">
                                  <p:stCondLst>
                                    <p:cond delay="41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additive="base">
                                        <p:cTn id="54" dur="600" fill="hold"/>
                                        <p:tgtEl>
                                          <p:spTgt spid="14"/>
                                        </p:tgtEl>
                                        <p:attrNameLst>
                                          <p:attrName>ppt_x</p:attrName>
                                        </p:attrNameLst>
                                      </p:cBhvr>
                                      <p:tavLst>
                                        <p:tav tm="0">
                                          <p:val>
                                            <p:strVal val="#ppt_x"/>
                                          </p:val>
                                        </p:tav>
                                        <p:tav tm="100000">
                                          <p:val>
                                            <p:strVal val="#ppt_x"/>
                                          </p:val>
                                        </p:tav>
                                      </p:tavLst>
                                    </p:anim>
                                    <p:anim calcmode="lin" valueType="num">
                                      <p:cBhvr additive="base">
                                        <p:cTn id="55" dur="600" fill="hold"/>
                                        <p:tgtEl>
                                          <p:spTgt spid="14"/>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54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additive="base">
                                        <p:cTn id="59" dur="600" fill="hold"/>
                                        <p:tgtEl>
                                          <p:spTgt spid="15"/>
                                        </p:tgtEl>
                                        <p:attrNameLst>
                                          <p:attrName>ppt_x</p:attrName>
                                        </p:attrNameLst>
                                      </p:cBhvr>
                                      <p:tavLst>
                                        <p:tav tm="0">
                                          <p:val>
                                            <p:strVal val="#ppt_x"/>
                                          </p:val>
                                        </p:tav>
                                        <p:tav tm="100000">
                                          <p:val>
                                            <p:strVal val="#ppt_x"/>
                                          </p:val>
                                        </p:tav>
                                      </p:tavLst>
                                    </p:anim>
                                    <p:anim calcmode="lin" valueType="num">
                                      <p:cBhvr additive="base">
                                        <p:cTn id="60" dur="600" fill="hold"/>
                                        <p:tgtEl>
                                          <p:spTgt spid="15"/>
                                        </p:tgtEl>
                                        <p:attrNameLst>
                                          <p:attrName>ppt_y</p:attrName>
                                        </p:attrNameLst>
                                      </p:cBhvr>
                                      <p:tavLst>
                                        <p:tav tm="0">
                                          <p:val>
                                            <p:strVal val="#ppt_y+.1"/>
                                          </p:val>
                                        </p:tav>
                                        <p:tav tm="100000">
                                          <p:val>
                                            <p:strVal val="#ppt_y"/>
                                          </p:val>
                                        </p:tav>
                                      </p:tavLst>
                                    </p:anim>
                                  </p:childTnLst>
                                </p:cTn>
                              </p:par>
                              <p:par>
                                <p:cTn id="61" presetID="53" presetClass="entr" presetSubtype="16" fill="hold" grpId="0" nodeType="withEffect">
                                  <p:stCondLst>
                                    <p:cond delay="62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par>
                                <p:cTn id="66" presetID="42" presetClass="entr" presetSubtype="0" fill="hold" grpId="0" nodeType="withEffect">
                                  <p:stCondLst>
                                    <p:cond delay="54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additive="base">
                                        <p:cTn id="69" dur="600" fill="hold"/>
                                        <p:tgtEl>
                                          <p:spTgt spid="17"/>
                                        </p:tgtEl>
                                        <p:attrNameLst>
                                          <p:attrName>ppt_x</p:attrName>
                                        </p:attrNameLst>
                                      </p:cBhvr>
                                      <p:tavLst>
                                        <p:tav tm="0">
                                          <p:val>
                                            <p:strVal val="#ppt_x"/>
                                          </p:val>
                                        </p:tav>
                                        <p:tav tm="100000">
                                          <p:val>
                                            <p:strVal val="#ppt_x"/>
                                          </p:val>
                                        </p:tav>
                                      </p:tavLst>
                                    </p:anim>
                                    <p:anim calcmode="lin" valueType="num">
                                      <p:cBhvr additive="base">
                                        <p:cTn id="70" dur="600" fill="hold"/>
                                        <p:tgtEl>
                                          <p:spTgt spid="1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67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600"/>
                                        <p:tgtEl>
                                          <p:spTgt spid="18"/>
                                        </p:tgtEl>
                                      </p:cBhvr>
                                    </p:animEffect>
                                    <p:anim calcmode="lin" valueType="num">
                                      <p:cBhvr additive="base">
                                        <p:cTn id="74" dur="600" fill="hold"/>
                                        <p:tgtEl>
                                          <p:spTgt spid="18"/>
                                        </p:tgtEl>
                                        <p:attrNameLst>
                                          <p:attrName>ppt_x</p:attrName>
                                        </p:attrNameLst>
                                      </p:cBhvr>
                                      <p:tavLst>
                                        <p:tav tm="0">
                                          <p:val>
                                            <p:strVal val="#ppt_x"/>
                                          </p:val>
                                        </p:tav>
                                        <p:tav tm="100000">
                                          <p:val>
                                            <p:strVal val="#ppt_x"/>
                                          </p:val>
                                        </p:tav>
                                      </p:tavLst>
                                    </p:anim>
                                    <p:anim calcmode="lin" valueType="num">
                                      <p:cBhvr additive="base">
                                        <p:cTn id="75" dur="600" fill="hold"/>
                                        <p:tgtEl>
                                          <p:spTgt spid="18"/>
                                        </p:tgtEl>
                                        <p:attrNameLst>
                                          <p:attrName>ppt_y</p:attrName>
                                        </p:attrNameLst>
                                      </p:cBhvr>
                                      <p:tavLst>
                                        <p:tav tm="0">
                                          <p:val>
                                            <p:strVal val="#ppt_y+.1"/>
                                          </p:val>
                                        </p:tav>
                                        <p:tav tm="100000">
                                          <p:val>
                                            <p:strVal val="#ppt_y"/>
                                          </p:val>
                                        </p:tav>
                                      </p:tavLst>
                                    </p:anim>
                                  </p:childTnLst>
                                </p:cTn>
                              </p:par>
                              <p:par>
                                <p:cTn id="76" presetID="53" presetClass="entr" presetSubtype="16" fill="hold" grpId="0" nodeType="withEffect">
                                  <p:stCondLst>
                                    <p:cond delay="750"/>
                                  </p:stCondLst>
                                  <p:childTnLst>
                                    <p:set>
                                      <p:cBhvr>
                                        <p:cTn id="77" dur="1" fill="hold">
                                          <p:stCondLst>
                                            <p:cond delay="0"/>
                                          </p:stCondLst>
                                        </p:cTn>
                                        <p:tgtEl>
                                          <p:spTgt spid="19"/>
                                        </p:tgtEl>
                                        <p:attrNameLst>
                                          <p:attrName>style.visibility</p:attrName>
                                        </p:attrNameLst>
                                      </p:cBhvr>
                                      <p:to>
                                        <p:strVal val="visible"/>
                                      </p:to>
                                    </p:set>
                                    <p:anim calcmode="lin" valueType="num">
                                      <p:cBhvr>
                                        <p:cTn id="78" dur="500" fill="hold"/>
                                        <p:tgtEl>
                                          <p:spTgt spid="19"/>
                                        </p:tgtEl>
                                        <p:attrNameLst>
                                          <p:attrName>ppt_w</p:attrName>
                                        </p:attrNameLst>
                                      </p:cBhvr>
                                      <p:tavLst>
                                        <p:tav tm="0">
                                          <p:val>
                                            <p:fltVal val="0"/>
                                          </p:val>
                                        </p:tav>
                                        <p:tav tm="100000">
                                          <p:val>
                                            <p:strVal val="#ppt_w"/>
                                          </p:val>
                                        </p:tav>
                                      </p:tavLst>
                                    </p:anim>
                                    <p:anim calcmode="lin" valueType="num">
                                      <p:cBhvr>
                                        <p:cTn id="79" dur="500" fill="hold"/>
                                        <p:tgtEl>
                                          <p:spTgt spid="19"/>
                                        </p:tgtEl>
                                        <p:attrNameLst>
                                          <p:attrName>ppt_h</p:attrName>
                                        </p:attrNameLst>
                                      </p:cBhvr>
                                      <p:tavLst>
                                        <p:tav tm="0">
                                          <p:val>
                                            <p:fltVal val="0"/>
                                          </p:val>
                                        </p:tav>
                                        <p:tav tm="100000">
                                          <p:val>
                                            <p:strVal val="#ppt_h"/>
                                          </p:val>
                                        </p:tav>
                                      </p:tavLst>
                                    </p:anim>
                                    <p:animEffect transition="in" filter="fade">
                                      <p:cBhvr>
                                        <p:cTn id="80" dur="500"/>
                                        <p:tgtEl>
                                          <p:spTgt spid="19"/>
                                        </p:tgtEl>
                                      </p:cBhvr>
                                    </p:animEffect>
                                  </p:childTnLst>
                                </p:cTn>
                              </p:par>
                              <p:par>
                                <p:cTn id="81" presetID="42" presetClass="entr" presetSubtype="0" fill="hold" grpId="0" nodeType="withEffect">
                                  <p:stCondLst>
                                    <p:cond delay="67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600"/>
                                        <p:tgtEl>
                                          <p:spTgt spid="20"/>
                                        </p:tgtEl>
                                      </p:cBhvr>
                                    </p:animEffect>
                                    <p:anim calcmode="lin" valueType="num">
                                      <p:cBhvr additive="base">
                                        <p:cTn id="84" dur="600" fill="hold"/>
                                        <p:tgtEl>
                                          <p:spTgt spid="20"/>
                                        </p:tgtEl>
                                        <p:attrNameLst>
                                          <p:attrName>ppt_x</p:attrName>
                                        </p:attrNameLst>
                                      </p:cBhvr>
                                      <p:tavLst>
                                        <p:tav tm="0">
                                          <p:val>
                                            <p:strVal val="#ppt_x"/>
                                          </p:val>
                                        </p:tav>
                                        <p:tav tm="100000">
                                          <p:val>
                                            <p:strVal val="#ppt_x"/>
                                          </p:val>
                                        </p:tav>
                                      </p:tavLst>
                                    </p:anim>
                                    <p:anim calcmode="lin" valueType="num">
                                      <p:cBhvr additive="base">
                                        <p:cTn id="85" dur="6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wipe(left)">
                                      <p:cBhvr>
                                        <p:cTn id="90" dur="500"/>
                                        <p:tgtEl>
                                          <p:spTgt spid="21"/>
                                        </p:tgtEl>
                                      </p:cBhvr>
                                    </p:animEffect>
                                  </p:childTnLst>
                                </p:cTn>
                              </p:par>
                              <p:par>
                                <p:cTn id="91" presetID="10" presetClass="entr" presetSubtype="0" fill="hold" grpId="0" nodeType="withEffect">
                                  <p:stCondLst>
                                    <p:cond delay="15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par>
                                <p:cTn id="94" presetID="42" presetClass="entr" presetSubtype="0" fill="hold" grpId="0" nodeType="withEffect">
                                  <p:stCondLst>
                                    <p:cond delay="15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600"/>
                                        <p:tgtEl>
                                          <p:spTgt spid="23"/>
                                        </p:tgtEl>
                                      </p:cBhvr>
                                    </p:animEffect>
                                    <p:anim calcmode="lin" valueType="num">
                                      <p:cBhvr additive="base">
                                        <p:cTn id="97" dur="600" fill="hold"/>
                                        <p:tgtEl>
                                          <p:spTgt spid="23"/>
                                        </p:tgtEl>
                                        <p:attrNameLst>
                                          <p:attrName>ppt_x</p:attrName>
                                        </p:attrNameLst>
                                      </p:cBhvr>
                                      <p:tavLst>
                                        <p:tav tm="0">
                                          <p:val>
                                            <p:strVal val="#ppt_x"/>
                                          </p:val>
                                        </p:tav>
                                        <p:tav tm="100000">
                                          <p:val>
                                            <p:strVal val="#ppt_x"/>
                                          </p:val>
                                        </p:tav>
                                      </p:tavLst>
                                    </p:anim>
                                    <p:anim calcmode="lin" valueType="num">
                                      <p:cBhvr additive="base">
                                        <p:cTn id="98" dur="600" fill="hold"/>
                                        <p:tgtEl>
                                          <p:spTgt spid="23"/>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15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600"/>
                                        <p:tgtEl>
                                          <p:spTgt spid="24"/>
                                        </p:tgtEl>
                                      </p:cBhvr>
                                    </p:animEffect>
                                    <p:anim calcmode="lin" valueType="num">
                                      <p:cBhvr additive="base">
                                        <p:cTn id="102" dur="600" fill="hold"/>
                                        <p:tgtEl>
                                          <p:spTgt spid="24"/>
                                        </p:tgtEl>
                                        <p:attrNameLst>
                                          <p:attrName>ppt_x</p:attrName>
                                        </p:attrNameLst>
                                      </p:cBhvr>
                                      <p:tavLst>
                                        <p:tav tm="0">
                                          <p:val>
                                            <p:strVal val="#ppt_x"/>
                                          </p:val>
                                        </p:tav>
                                        <p:tav tm="100000">
                                          <p:val>
                                            <p:strVal val="#ppt_x"/>
                                          </p:val>
                                        </p:tav>
                                      </p:tavLst>
                                    </p:anim>
                                    <p:anim calcmode="lin" valueType="num">
                                      <p:cBhvr additive="base">
                                        <p:cTn id="103" dur="6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MÃ HÓA BIẾN: ORDINAL &amp; ONE-HOT</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06 / 14</a:t>
            </a:r>
            <a:endParaRPr lang="en-US" sz="1100" dirty="0"/>
          </a:p>
        </p:txBody>
      </p:sp>
      <p:sp>
        <p:nvSpPr>
          <p:cNvPr id="4" name="Khối 4"/>
          <p:cNvSpPr/>
          <p:nvPr/>
        </p:nvSpPr>
        <p:spPr>
          <a:xfrm>
            <a:off x="548640" y="1325880"/>
            <a:ext cx="5435925"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Ordinal Encoding (23 biến có thứ bậc)</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548640" y="1874520"/>
            <a:ext cx="11094415" cy="2651760"/>
          </a:xfrm>
          <a:prstGeom prst="roundRect">
            <a:avLst>
              <a:gd name="adj" fmla="val 551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7" name="Hình 7" descr="preencoded.png"/>
          <p:cNvPicPr>
            <a:picLocks noChangeAspect="1"/>
          </p:cNvPicPr>
          <p:nvPr/>
        </p:nvPicPr>
        <p:blipFill>
          <a:blip r:embed="rId4"/>
          <a:stretch>
            <a:fillRect/>
          </a:stretch>
        </p:blipFill>
        <p:spPr>
          <a:xfrm>
            <a:off x="10865815" y="1600200"/>
            <a:ext cx="548640" cy="548640"/>
          </a:xfrm>
          <a:prstGeom prst="rect">
            <a:avLst/>
          </a:prstGeom>
        </p:spPr>
      </p:pic>
      <p:sp>
        <p:nvSpPr>
          <p:cNvPr id="8" name="Khối 8"/>
          <p:cNvSpPr txBox="1"/>
          <p:nvPr/>
        </p:nvSpPr>
        <p:spPr>
          <a:xfrm>
            <a:off x="804672" y="1965960"/>
            <a:ext cx="9951415" cy="2468880"/>
          </a:xfrm>
          <a:prstGeom prst="rect">
            <a:avLst/>
          </a:prstGeom>
          <a:noFill/>
          <a:ln/>
        </p:spPr>
        <p:txBody>
          <a:bodyPr wrap="square" lIns="0" tIns="0" rIns="0" bIns="0" rtlCol="0" anchor="ctr"/>
          <a:lstStyle/>
          <a:p>
            <a:pPr marL="241300" indent="-241300">
              <a:lnSpc>
                <a:spcPct val="108000"/>
              </a:lnSpc>
              <a:spcAft>
                <a:spcPts val="600"/>
              </a:spcAft>
              <a:buSzPct val="100000"/>
              <a:buChar char="●"/>
            </a:pPr>
            <a:r>
              <a:rPr lang="en-US" sz="1800" b="1" dirty="0">
                <a:solidFill>
                  <a:srgbClr val="0B3FB8"/>
                </a:solidFill>
                <a:latin typeface="Roboto" pitchFamily="34" charset="0"/>
                <a:ea typeface="Roboto" pitchFamily="34" charset="-122"/>
                <a:cs typeface="Roboto" pitchFamily="34" charset="-120"/>
              </a:rPr>
              <a:t>Chất lượng / Tình trạng:</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ExterQual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ExterCond</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BsmtQual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BsmtCond</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HeatingQC</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KitchenQual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FireplaceQu</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GarageQual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GarageCond</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PoolQC</a:t>
            </a:r>
            <a:r>
              <a:rPr lang="en-US" sz="1800" dirty="0">
                <a:solidFill>
                  <a:srgbClr val="1B2A4A"/>
                </a:solidFill>
                <a:latin typeface="Roboto" pitchFamily="34" charset="0"/>
                <a:ea typeface="Roboto" pitchFamily="34" charset="-122"/>
                <a:cs typeface="Roboto" pitchFamily="34" charset="-120"/>
              </a:rPr>
              <a:t>.</a:t>
            </a:r>
            <a:endParaRPr lang="en-US" sz="1800" dirty="0"/>
          </a:p>
          <a:p>
            <a:pPr marL="241300" indent="-241300">
              <a:lnSpc>
                <a:spcPct val="108000"/>
              </a:lnSpc>
              <a:spcAft>
                <a:spcPts val="600"/>
              </a:spcAft>
              <a:buSzPct val="100000"/>
              <a:buChar char="●"/>
            </a:pPr>
            <a:r>
              <a:rPr lang="en-US" sz="1800" b="1" dirty="0">
                <a:solidFill>
                  <a:srgbClr val="0B3FB8"/>
                </a:solidFill>
                <a:latin typeface="Roboto" pitchFamily="34" charset="0"/>
                <a:ea typeface="Roboto" pitchFamily="34" charset="-122"/>
                <a:cs typeface="Roboto" pitchFamily="34" charset="-120"/>
              </a:rPr>
              <a:t>Mức hoàn thiện / Tiện ích:</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BsmtExposure</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BsmtFinType1/2</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GarageFinish</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Functional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Electrical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PavedDrive</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Fence</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Utilities</a:t>
            </a:r>
            <a:r>
              <a:rPr lang="en-US" sz="1800" dirty="0">
                <a:solidFill>
                  <a:srgbClr val="1B2A4A"/>
                </a:solidFill>
                <a:latin typeface="Roboto" pitchFamily="34" charset="0"/>
                <a:ea typeface="Roboto" pitchFamily="34" charset="-122"/>
                <a:cs typeface="Roboto" pitchFamily="34" charset="-120"/>
              </a:rPr>
              <a:t>.</a:t>
            </a:r>
            <a:endParaRPr lang="en-US" sz="1800" dirty="0"/>
          </a:p>
          <a:p>
            <a:pPr marL="241300" indent="-241300">
              <a:lnSpc>
                <a:spcPct val="108000"/>
              </a:lnSpc>
              <a:spcAft>
                <a:spcPts val="600"/>
              </a:spcAft>
              <a:buSzPct val="100000"/>
              <a:buChar char="●"/>
            </a:pPr>
            <a:r>
              <a:rPr lang="en-US" sz="1800" b="1" dirty="0">
                <a:solidFill>
                  <a:srgbClr val="0B3FB8"/>
                </a:solidFill>
                <a:latin typeface="Roboto" pitchFamily="34" charset="0"/>
                <a:ea typeface="Roboto" pitchFamily="34" charset="-122"/>
                <a:cs typeface="Roboto" pitchFamily="34" charset="-120"/>
              </a:rPr>
              <a:t>Hình dạng / Thang điểm:</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LotShape</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LandSlope</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OverallQual</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OverallCond</a:t>
            </a:r>
            <a:r>
              <a:rPr lang="en-US" sz="1800" dirty="0">
                <a:solidFill>
                  <a:srgbClr val="1B2A4A"/>
                </a:solidFill>
                <a:latin typeface="Roboto" pitchFamily="34" charset="0"/>
                <a:ea typeface="Roboto" pitchFamily="34" charset="-122"/>
                <a:cs typeface="Roboto" pitchFamily="34" charset="-120"/>
              </a:rPr>
              <a:t>.</a:t>
            </a:r>
            <a:endParaRPr lang="en-US" sz="1800" dirty="0"/>
          </a:p>
          <a:p>
            <a:pPr marL="241300" indent="-241300">
              <a:lnSpc>
                <a:spcPct val="108000"/>
              </a:lnSpc>
              <a:spcAft>
                <a:spcPts val="600"/>
              </a:spcAft>
              <a:buSzPct val="100000"/>
              <a:buChar char="●"/>
            </a:pPr>
            <a:r>
              <a:rPr lang="en-US" sz="1800" i="1" dirty="0">
                <a:solidFill>
                  <a:srgbClr val="1B2A4A"/>
                </a:solidFill>
                <a:latin typeface="Roboto" pitchFamily="34" charset="0"/>
                <a:ea typeface="Roboto" pitchFamily="34" charset="-122"/>
                <a:cs typeface="Roboto" pitchFamily="34" charset="-120"/>
              </a:rPr>
              <a:t>Ánh xạ thành số nguyên theo thứ tự tăng dần (vd: Ex &gt; Gd &gt; TA &gt; Fa &gt; Po &gt; None).</a:t>
            </a:r>
            <a:endParaRPr lang="en-US" sz="1800" dirty="0"/>
          </a:p>
          <a:p>
            <a:pPr marL="241300" indent="-241300">
              <a:lnSpc>
                <a:spcPct val="108000"/>
              </a:lnSpc>
              <a:buSzPct val="100000"/>
              <a:buChar char="●"/>
            </a:pPr>
            <a:r>
              <a:rPr lang="en-US" sz="1800" i="1" dirty="0">
                <a:solidFill>
                  <a:srgbClr val="1B2A4A"/>
                </a:solidFill>
                <a:latin typeface="Roboto" pitchFamily="34" charset="0"/>
                <a:ea typeface="Roboto" pitchFamily="34" charset="-122"/>
                <a:cs typeface="Roboto" pitchFamily="34" charset="-120"/>
              </a:rPr>
              <a:t>Lưu ý:</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YrSold</a:t>
            </a:r>
            <a:r>
              <a:rPr lang="en-US" sz="1800" dirty="0">
                <a:solidFill>
                  <a:srgbClr val="1B2A4A"/>
                </a:solidFill>
                <a:latin typeface="Roboto" pitchFamily="34" charset="0"/>
                <a:ea typeface="Roboto" pitchFamily="34" charset="-122"/>
                <a:cs typeface="Roboto" pitchFamily="34" charset="-120"/>
              </a:rPr>
              <a:t> và </a:t>
            </a:r>
            <a:r>
              <a:rPr lang="en-US" sz="1800" dirty="0">
                <a:solidFill>
                  <a:srgbClr val="1F6BF0"/>
                </a:solidFill>
                <a:latin typeface="Roboto" pitchFamily="34" charset="0"/>
                <a:ea typeface="Roboto" pitchFamily="34" charset="-122"/>
                <a:cs typeface="Roboto" pitchFamily="34" charset="-120"/>
              </a:rPr>
              <a:t>CentralAir</a:t>
            </a:r>
            <a:r>
              <a:rPr lang="en-US" sz="1800" dirty="0">
                <a:solidFill>
                  <a:srgbClr val="1B2A4A"/>
                </a:solidFill>
                <a:latin typeface="Roboto" pitchFamily="34" charset="0"/>
                <a:ea typeface="Roboto" pitchFamily="34" charset="-122"/>
                <a:cs typeface="Roboto" pitchFamily="34" charset="-120"/>
              </a:rPr>
              <a:t> không thuộc nhóm 23 biến ordinal này.</a:t>
            </a:r>
            <a:endParaRPr lang="en-US" sz="1800" dirty="0"/>
          </a:p>
        </p:txBody>
      </p:sp>
      <p:sp>
        <p:nvSpPr>
          <p:cNvPr id="9" name="Khối 9"/>
          <p:cNvSpPr/>
          <p:nvPr/>
        </p:nvSpPr>
        <p:spPr>
          <a:xfrm>
            <a:off x="548640" y="4690872"/>
            <a:ext cx="6462979"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One-Hot Encoding (Các biến định danh còn lại)</a:t>
            </a:r>
            <a:endParaRPr lang="en-US" sz="1800" dirty="0"/>
          </a:p>
        </p:txBody>
      </p:sp>
      <p:sp>
        <p:nvSpPr>
          <p:cNvPr id="10" name="Khối 10"/>
          <p:cNvSpPr/>
          <p:nvPr/>
        </p:nvSpPr>
        <p:spPr>
          <a:xfrm>
            <a:off x="731520" y="4800600"/>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1" name="Khối 11"/>
          <p:cNvSpPr/>
          <p:nvPr/>
        </p:nvSpPr>
        <p:spPr>
          <a:xfrm>
            <a:off x="548640" y="5230368"/>
            <a:ext cx="11094415" cy="1042416"/>
          </a:xfrm>
          <a:prstGeom prst="roundRect">
            <a:avLst>
              <a:gd name="adj" fmla="val 1403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2" name="Hình 12" descr="preencoded.png"/>
          <p:cNvPicPr>
            <a:picLocks noChangeAspect="1"/>
          </p:cNvPicPr>
          <p:nvPr/>
        </p:nvPicPr>
        <p:blipFill>
          <a:blip r:embed="rId5"/>
          <a:stretch>
            <a:fillRect/>
          </a:stretch>
        </p:blipFill>
        <p:spPr>
          <a:xfrm>
            <a:off x="10865815" y="4956048"/>
            <a:ext cx="548640" cy="548640"/>
          </a:xfrm>
          <a:prstGeom prst="rect">
            <a:avLst/>
          </a:prstGeom>
        </p:spPr>
      </p:pic>
      <p:sp>
        <p:nvSpPr>
          <p:cNvPr id="13" name="Khối 13"/>
          <p:cNvSpPr txBox="1"/>
          <p:nvPr/>
        </p:nvSpPr>
        <p:spPr>
          <a:xfrm>
            <a:off x="804672" y="5285232"/>
            <a:ext cx="9951415" cy="932688"/>
          </a:xfrm>
          <a:prstGeom prst="rect">
            <a:avLst/>
          </a:prstGeom>
          <a:noFill/>
          <a:ln/>
        </p:spPr>
        <p:txBody>
          <a:bodyPr wrap="square" lIns="0" tIns="0" rIns="0" bIns="0" rtlCol="0" anchor="ctr"/>
          <a:lstStyle/>
          <a:p>
            <a:pPr marL="241300" indent="-241300">
              <a:lnSpc>
                <a:spcPct val="108000"/>
              </a:lnSpc>
              <a:spcAft>
                <a:spcPts val="500"/>
              </a:spcAft>
              <a:buSzPct val="100000"/>
              <a:buChar char="●"/>
            </a:pPr>
            <a:r>
              <a:rPr lang="en-US" sz="1800" dirty="0">
                <a:solidFill>
                  <a:srgbClr val="1B2A4A"/>
                </a:solidFill>
                <a:latin typeface="Roboto" pitchFamily="34" charset="0"/>
                <a:ea typeface="Roboto" pitchFamily="34" charset="-122"/>
                <a:cs typeface="Roboto" pitchFamily="34" charset="-120"/>
              </a:rPr>
              <a:t>Sử dụng </a:t>
            </a:r>
            <a:r>
              <a:rPr lang="en-US" sz="1800" dirty="0">
                <a:solidFill>
                  <a:srgbClr val="1F6BF0"/>
                </a:solidFill>
                <a:latin typeface="Roboto" pitchFamily="34" charset="0"/>
                <a:ea typeface="Roboto" pitchFamily="34" charset="-122"/>
                <a:cs typeface="Roboto" pitchFamily="34" charset="-120"/>
              </a:rPr>
              <a:t>pd.get_dummies(drop_first=True)</a:t>
            </a:r>
            <a:r>
              <a:rPr lang="en-US" sz="1800" dirty="0">
                <a:solidFill>
                  <a:srgbClr val="1B2A4A"/>
                </a:solidFill>
                <a:latin typeface="Roboto" pitchFamily="34" charset="0"/>
                <a:ea typeface="Roboto" pitchFamily="34" charset="-122"/>
                <a:cs typeface="Roboto" pitchFamily="34" charset="-120"/>
              </a:rPr>
              <a:t> để tránh bẫy biến giả (dummy variable trap).</a:t>
            </a:r>
            <a:endParaRPr lang="en-US" sz="1800" dirty="0"/>
          </a:p>
          <a:p>
            <a:pPr marL="241300" indent="-241300">
              <a:lnSpc>
                <a:spcPct val="108000"/>
              </a:lnSpc>
              <a:buSzPct val="100000"/>
              <a:buChar char="●"/>
            </a:pPr>
            <a:r>
              <a:rPr lang="en-US" sz="1800" b="1" dirty="0">
                <a:solidFill>
                  <a:srgbClr val="0B3FB8"/>
                </a:solidFill>
                <a:latin typeface="Roboto" pitchFamily="34" charset="0"/>
                <a:ea typeface="Roboto" pitchFamily="34" charset="-122"/>
                <a:cs typeface="Roboto" pitchFamily="34" charset="-120"/>
              </a:rPr>
              <a:t>Kích thước ma trận sau mã hóa:</a:t>
            </a:r>
            <a:r>
              <a:rPr lang="en-US" sz="1800" dirty="0">
                <a:solidFill>
                  <a:srgbClr val="1B2A4A"/>
                </a:solidFill>
                <a:latin typeface="Roboto" pitchFamily="34" charset="0"/>
                <a:ea typeface="Roboto" pitchFamily="34" charset="-122"/>
                <a:cs typeface="Roboto" pitchFamily="34" charset="-120"/>
              </a:rPr>
              <a:t> </a:t>
            </a:r>
            <a:r>
              <a:rPr lang="en-US" sz="1800" b="1" dirty="0">
                <a:solidFill>
                  <a:srgbClr val="0B3FB8"/>
                </a:solidFill>
                <a:latin typeface="Roboto" pitchFamily="34" charset="0"/>
                <a:ea typeface="Roboto" pitchFamily="34" charset="-122"/>
                <a:cs typeface="Roboto" pitchFamily="34" charset="-120"/>
              </a:rPr>
              <a:t>1.456 dòng × 225 cột</a:t>
            </a:r>
            <a:r>
              <a:rPr lang="en-US" sz="1800" dirty="0">
                <a:solidFill>
                  <a:srgbClr val="1B2A4A"/>
                </a:solidFill>
                <a:latin typeface="Roboto" pitchFamily="34" charset="0"/>
                <a:ea typeface="Roboto" pitchFamily="34" charset="-122"/>
                <a:cs typeface="Roboto" pitchFamily="34" charset="-120"/>
              </a:rPr>
              <a:t>, không còn chứa giá trị NaN.</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53" presetClass="entr" presetSubtype="16" fill="hold" nodeType="withEffect">
                                  <p:stCondLst>
                                    <p:cond delay="25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42" presetClass="entr" presetSubtype="0" fill="hold" grpId="0" nodeType="with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10" presetClass="entr" presetSubtype="0" fill="hold" grpId="0" nodeType="withEffect">
                                  <p:stCondLst>
                                    <p:cond delay="15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42" presetClass="entr" presetSubtype="0" fill="hold" grpId="0" nodeType="withEffect">
                                  <p:stCondLst>
                                    <p:cond delay="15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anim calcmode="lin" valueType="num">
                                      <p:cBhvr additive="base">
                                        <p:cTn id="37" dur="600" fill="hold"/>
                                        <p:tgtEl>
                                          <p:spTgt spid="11"/>
                                        </p:tgtEl>
                                        <p:attrNameLst>
                                          <p:attrName>ppt_x</p:attrName>
                                        </p:attrNameLst>
                                      </p:cBhvr>
                                      <p:tavLst>
                                        <p:tav tm="0">
                                          <p:val>
                                            <p:strVal val="#ppt_x"/>
                                          </p:val>
                                        </p:tav>
                                        <p:tav tm="100000">
                                          <p:val>
                                            <p:strVal val="#ppt_x"/>
                                          </p:val>
                                        </p:tav>
                                      </p:tavLst>
                                    </p:anim>
                                    <p:anim calcmode="lin" valueType="num">
                                      <p:cBhvr additive="base">
                                        <p:cTn id="38" dur="600" fill="hold"/>
                                        <p:tgtEl>
                                          <p:spTgt spid="11"/>
                                        </p:tgtEl>
                                        <p:attrNameLst>
                                          <p:attrName>ppt_y</p:attrName>
                                        </p:attrNameLst>
                                      </p:cBhvr>
                                      <p:tavLst>
                                        <p:tav tm="0">
                                          <p:val>
                                            <p:strVal val="#ppt_y+.1"/>
                                          </p:val>
                                        </p:tav>
                                        <p:tav tm="100000">
                                          <p:val>
                                            <p:strVal val="#ppt_y"/>
                                          </p:val>
                                        </p:tav>
                                      </p:tavLst>
                                    </p:anim>
                                  </p:childTnLst>
                                </p:cTn>
                              </p:par>
                              <p:par>
                                <p:cTn id="39" presetID="53" presetClass="entr" presetSubtype="16" fill="hold" nodeType="withEffect">
                                  <p:stCondLst>
                                    <p:cond delay="25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42" presetClass="entr" presetSubtype="0" fill="hold" grpId="0" nodeType="withEffect">
                                  <p:stCondLst>
                                    <p:cond delay="1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additive="base">
                                        <p:cTn id="47" dur="600" fill="hold"/>
                                        <p:tgtEl>
                                          <p:spTgt spid="13"/>
                                        </p:tgtEl>
                                        <p:attrNameLst>
                                          <p:attrName>ppt_x</p:attrName>
                                        </p:attrNameLst>
                                      </p:cBhvr>
                                      <p:tavLst>
                                        <p:tav tm="0">
                                          <p:val>
                                            <p:strVal val="#ppt_x"/>
                                          </p:val>
                                        </p:tav>
                                        <p:tav tm="100000">
                                          <p:val>
                                            <p:strVal val="#ppt_x"/>
                                          </p:val>
                                        </p:tav>
                                      </p:tavLst>
                                    </p:anim>
                                    <p:anim calcmode="lin" valueType="num">
                                      <p:cBhvr additive="base">
                                        <p:cTn id="48" dur="6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XỬ LÝ ĐA CỘNG TUYẾN</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07 / 14</a:t>
            </a:r>
            <a:endParaRPr lang="en-US" sz="1100" dirty="0"/>
          </a:p>
        </p:txBody>
      </p:sp>
      <p:sp>
        <p:nvSpPr>
          <p:cNvPr id="4" name="Khối 4"/>
          <p:cNvSpPr/>
          <p:nvPr/>
        </p:nvSpPr>
        <p:spPr>
          <a:xfrm>
            <a:off x="548640" y="1325880"/>
            <a:ext cx="1969618"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Đặt vấn đề</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548640" y="1874520"/>
            <a:ext cx="5943600" cy="1847088"/>
          </a:xfrm>
          <a:prstGeom prst="roundRect">
            <a:avLst>
              <a:gd name="adj" fmla="val 7921"/>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7" name="Hình 7" descr="preencoded.png"/>
          <p:cNvPicPr>
            <a:picLocks noChangeAspect="1"/>
          </p:cNvPicPr>
          <p:nvPr/>
        </p:nvPicPr>
        <p:blipFill>
          <a:blip r:embed="rId4"/>
          <a:stretch>
            <a:fillRect/>
          </a:stretch>
        </p:blipFill>
        <p:spPr>
          <a:xfrm>
            <a:off x="5760720" y="1600200"/>
            <a:ext cx="548640" cy="548640"/>
          </a:xfrm>
          <a:prstGeom prst="rect">
            <a:avLst/>
          </a:prstGeom>
        </p:spPr>
      </p:pic>
      <p:sp>
        <p:nvSpPr>
          <p:cNvPr id="8" name="Khối 8"/>
          <p:cNvSpPr txBox="1"/>
          <p:nvPr/>
        </p:nvSpPr>
        <p:spPr>
          <a:xfrm>
            <a:off x="804672" y="1947672"/>
            <a:ext cx="4892040" cy="1700784"/>
          </a:xfrm>
          <a:prstGeom prst="rect">
            <a:avLst/>
          </a:prstGeom>
          <a:noFill/>
          <a:ln/>
        </p:spPr>
        <p:txBody>
          <a:bodyPr wrap="square" lIns="0" tIns="0" rIns="0" bIns="0" rtlCol="0" anchor="ctr"/>
          <a:lstStyle/>
          <a:p>
            <a:pPr marL="241300" indent="-241300">
              <a:lnSpc>
                <a:spcPct val="108000"/>
              </a:lnSpc>
              <a:spcAft>
                <a:spcPts val="700"/>
              </a:spcAft>
              <a:buSzPct val="100000"/>
              <a:buChar char="●"/>
            </a:pPr>
            <a:r>
              <a:rPr lang="en-US" sz="1800" dirty="0">
                <a:solidFill>
                  <a:srgbClr val="1F6BF0"/>
                </a:solidFill>
                <a:latin typeface="Roboto" pitchFamily="34" charset="0"/>
                <a:ea typeface="Roboto" pitchFamily="34" charset="-122"/>
                <a:cs typeface="Roboto" pitchFamily="34" charset="-120"/>
              </a:rPr>
              <a:t>TotalSF</a:t>
            </a:r>
            <a:r>
              <a:rPr lang="en-US" sz="1800" dirty="0">
                <a:solidFill>
                  <a:srgbClr val="1B2A4A"/>
                </a:solidFill>
                <a:latin typeface="Roboto" pitchFamily="34" charset="0"/>
                <a:ea typeface="Roboto" pitchFamily="34" charset="-122"/>
                <a:cs typeface="Roboto" pitchFamily="34" charset="-120"/>
              </a:rPr>
              <a:t> là tổng chính xác của 3 biến thành phần → Xuất hiện quan hệ tuyến tính hoàn hảo nếu giữ cả 4 biến.</a:t>
            </a:r>
            <a:endParaRPr lang="en-US" sz="1800" dirty="0"/>
          </a:p>
          <a:p>
            <a:pPr marL="241300" indent="-241300">
              <a:lnSpc>
                <a:spcPct val="108000"/>
              </a:lnSpc>
              <a:buSzPct val="100000"/>
              <a:buChar char="●"/>
            </a:pPr>
            <a:r>
              <a:rPr lang="en-US" sz="1800" dirty="0">
                <a:solidFill>
                  <a:srgbClr val="1F6BF0"/>
                </a:solidFill>
                <a:latin typeface="Roboto" pitchFamily="34" charset="0"/>
                <a:ea typeface="Roboto" pitchFamily="34" charset="-122"/>
                <a:cs typeface="Roboto" pitchFamily="34" charset="-120"/>
              </a:rPr>
              <a:t>GarageCars</a:t>
            </a:r>
            <a:r>
              <a:rPr lang="en-US" sz="1800" dirty="0">
                <a:solidFill>
                  <a:srgbClr val="1B2A4A"/>
                </a:solidFill>
                <a:latin typeface="Roboto" pitchFamily="34" charset="0"/>
                <a:ea typeface="Roboto" pitchFamily="34" charset="-122"/>
                <a:cs typeface="Roboto" pitchFamily="34" charset="-120"/>
              </a:rPr>
              <a:t> và </a:t>
            </a:r>
            <a:r>
              <a:rPr lang="en-US" sz="1800" dirty="0">
                <a:solidFill>
                  <a:srgbClr val="1F6BF0"/>
                </a:solidFill>
                <a:latin typeface="Roboto" pitchFamily="34" charset="0"/>
                <a:ea typeface="Roboto" pitchFamily="34" charset="-122"/>
                <a:cs typeface="Roboto" pitchFamily="34" charset="-120"/>
              </a:rPr>
              <a:t>GarageArea</a:t>
            </a:r>
            <a:r>
              <a:rPr lang="en-US" sz="1800" dirty="0">
                <a:solidFill>
                  <a:srgbClr val="1B2A4A"/>
                </a:solidFill>
                <a:latin typeface="Roboto" pitchFamily="34" charset="0"/>
                <a:ea typeface="Roboto" pitchFamily="34" charset="-122"/>
                <a:cs typeface="Roboto" pitchFamily="34" charset="-120"/>
              </a:rPr>
              <a:t> đo lường cùng một thông tin công suất nhà xe.</a:t>
            </a:r>
            <a:endParaRPr lang="en-US" sz="1800" dirty="0"/>
          </a:p>
        </p:txBody>
      </p:sp>
      <p:graphicFrame>
        <p:nvGraphicFramePr>
          <p:cNvPr id="9" name="Bảng 9"/>
          <p:cNvGraphicFramePr>
            <a:graphicFrameLocks noGrp="1"/>
          </p:cNvGraphicFramePr>
          <p:nvPr>
            <p:extLst>
              <p:ext uri="{D42A27DB-BD31-4B8C-83A1-F6EECF244321}">
                <p14:modId xmlns:p14="http://schemas.microsoft.com/office/powerpoint/2010/main" val="1579011935"/>
              </p:ext>
            </p:extLst>
          </p:nvPr>
        </p:nvGraphicFramePr>
        <p:xfrm>
          <a:off x="6766560" y="1325880"/>
          <a:ext cx="4873752" cy="3072384"/>
        </p:xfrm>
        <a:graphic>
          <a:graphicData uri="http://schemas.openxmlformats.org/drawingml/2006/table">
            <a:tbl>
              <a:tblPr/>
              <a:tblGrid>
                <a:gridCol w="3410712">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512064">
                <a:tc>
                  <a:txBody>
                    <a:bodyPr/>
                    <a:lstStyle/>
                    <a:p>
                      <a:pPr marL="0" indent="0" algn="l">
                        <a:buNone/>
                      </a:pPr>
                      <a:r>
                        <a:rPr lang="en-US" sz="1800" b="1" dirty="0">
                          <a:solidFill>
                            <a:srgbClr val="FFFFFF"/>
                          </a:solidFill>
                          <a:latin typeface="Roboto" pitchFamily="34" charset="0"/>
                          <a:ea typeface="Roboto" pitchFamily="34" charset="-122"/>
                          <a:cs typeface="Roboto" pitchFamily="34" charset="-120"/>
                        </a:rPr>
                        <a:t>Cặp biến phân tích</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800" b="1" dirty="0">
                          <a:solidFill>
                            <a:srgbClr val="FFFFFF"/>
                          </a:solidFill>
                          <a:latin typeface="Roboto" pitchFamily="34" charset="0"/>
                          <a:ea typeface="Roboto" pitchFamily="34" charset="-122"/>
                          <a:cs typeface="Roboto" pitchFamily="34" charset="-120"/>
                        </a:rPr>
                        <a:t>Pearson r</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512064">
                <a:tc>
                  <a:txBody>
                    <a:bodyPr/>
                    <a:lstStyle/>
                    <a:p>
                      <a:pPr marL="0" indent="0" algn="l">
                        <a:buNone/>
                      </a:pPr>
                      <a:r>
                        <a:rPr lang="en-US" sz="1800" b="1" dirty="0">
                          <a:solidFill>
                            <a:srgbClr val="0F2A5F"/>
                          </a:solidFill>
                          <a:latin typeface="Roboto" pitchFamily="34" charset="0"/>
                          <a:ea typeface="Roboto" pitchFamily="34" charset="-122"/>
                          <a:cs typeface="Roboto" pitchFamily="34" charset="-120"/>
                        </a:rPr>
                        <a:t>GarageCars vs GarageArea</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A4A"/>
                          </a:solidFill>
                          <a:latin typeface="Roboto" pitchFamily="34" charset="0"/>
                          <a:ea typeface="Roboto" pitchFamily="34" charset="-122"/>
                          <a:cs typeface="Roboto" pitchFamily="34" charset="-120"/>
                        </a:rPr>
                        <a:t>0.88</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800" b="1" dirty="0">
                          <a:solidFill>
                            <a:srgbClr val="0F2A5F"/>
                          </a:solidFill>
                          <a:latin typeface="Roboto" pitchFamily="34" charset="0"/>
                          <a:ea typeface="Roboto" pitchFamily="34" charset="-122"/>
                          <a:cs typeface="Roboto" pitchFamily="34" charset="-120"/>
                        </a:rPr>
                        <a:t>TotalBsmtSF vs 1stFlrSF</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800" dirty="0">
                          <a:solidFill>
                            <a:srgbClr val="1B2A4A"/>
                          </a:solidFill>
                          <a:latin typeface="Roboto" pitchFamily="34" charset="0"/>
                          <a:ea typeface="Roboto" pitchFamily="34" charset="-122"/>
                          <a:cs typeface="Roboto" pitchFamily="34" charset="-120"/>
                        </a:rPr>
                        <a:t>0.82</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512064">
                <a:tc>
                  <a:txBody>
                    <a:bodyPr/>
                    <a:lstStyle/>
                    <a:p>
                      <a:pPr marL="0" indent="0" algn="l">
                        <a:buNone/>
                      </a:pPr>
                      <a:r>
                        <a:rPr lang="en-US" sz="1800" b="1" dirty="0">
                          <a:solidFill>
                            <a:srgbClr val="0F2A5F"/>
                          </a:solidFill>
                          <a:latin typeface="Roboto" pitchFamily="34" charset="0"/>
                          <a:ea typeface="Roboto" pitchFamily="34" charset="-122"/>
                          <a:cs typeface="Roboto" pitchFamily="34" charset="-120"/>
                        </a:rPr>
                        <a:t>TotalSF vs TotalBsmtSF</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A4A"/>
                          </a:solidFill>
                          <a:latin typeface="Roboto" pitchFamily="34" charset="0"/>
                          <a:ea typeface="Roboto" pitchFamily="34" charset="-122"/>
                          <a:cs typeface="Roboto" pitchFamily="34" charset="-120"/>
                        </a:rPr>
                        <a:t>0.85</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800" b="1" dirty="0">
                          <a:solidFill>
                            <a:srgbClr val="0F2A5F"/>
                          </a:solidFill>
                          <a:latin typeface="Roboto" pitchFamily="34" charset="0"/>
                          <a:ea typeface="Roboto" pitchFamily="34" charset="-122"/>
                          <a:cs typeface="Roboto" pitchFamily="34" charset="-120"/>
                        </a:rPr>
                        <a:t>TotalSF vs 1stFlrSF</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800" dirty="0">
                          <a:solidFill>
                            <a:srgbClr val="1B2A4A"/>
                          </a:solidFill>
                          <a:latin typeface="Roboto" pitchFamily="34" charset="0"/>
                          <a:ea typeface="Roboto" pitchFamily="34" charset="-122"/>
                          <a:cs typeface="Roboto" pitchFamily="34" charset="-120"/>
                        </a:rPr>
                        <a:t>0.79</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4"/>
                  </a:ext>
                </a:extLst>
              </a:tr>
              <a:tr h="512064">
                <a:tc>
                  <a:txBody>
                    <a:bodyPr/>
                    <a:lstStyle/>
                    <a:p>
                      <a:pPr marL="0" indent="0" algn="l">
                        <a:buNone/>
                      </a:pPr>
                      <a:r>
                        <a:rPr lang="en-US" sz="1800" b="1" dirty="0">
                          <a:solidFill>
                            <a:srgbClr val="0F2A5F"/>
                          </a:solidFill>
                          <a:latin typeface="Roboto" pitchFamily="34" charset="0"/>
                          <a:ea typeface="Roboto" pitchFamily="34" charset="-122"/>
                          <a:cs typeface="Roboto" pitchFamily="34" charset="-120"/>
                        </a:rPr>
                        <a:t>TotalSF vs 2ndFlrSF</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A4A"/>
                          </a:solidFill>
                          <a:latin typeface="Roboto" pitchFamily="34" charset="0"/>
                          <a:ea typeface="Roboto" pitchFamily="34" charset="-122"/>
                          <a:cs typeface="Roboto" pitchFamily="34" charset="-120"/>
                        </a:rPr>
                        <a:t>0.65</a:t>
                      </a:r>
                      <a:endParaRPr lang="en-US" sz="18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0" name="Hình 10" descr="/tmp/claude-0/-home-claude/a2e5e3b8-31f0-57f6-8a5d-2b87477c4227/scratchpad/work/assets/ill_funnel.png"/>
          <p:cNvPicPr>
            <a:picLocks noChangeAspect="1"/>
          </p:cNvPicPr>
          <p:nvPr/>
        </p:nvPicPr>
        <p:blipFill>
          <a:blip r:embed="rId5"/>
          <a:stretch>
            <a:fillRect/>
          </a:stretch>
        </p:blipFill>
        <p:spPr>
          <a:xfrm>
            <a:off x="8321040" y="4553712"/>
            <a:ext cx="1783080" cy="1783080"/>
          </a:xfrm>
          <a:prstGeom prst="rect">
            <a:avLst/>
          </a:prstGeom>
        </p:spPr>
      </p:pic>
      <p:sp>
        <p:nvSpPr>
          <p:cNvPr id="11" name="Khối 11"/>
          <p:cNvSpPr/>
          <p:nvPr/>
        </p:nvSpPr>
        <p:spPr>
          <a:xfrm>
            <a:off x="548640" y="3904488"/>
            <a:ext cx="2868290"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Giải pháp loại bỏ</a:t>
            </a:r>
            <a:endParaRPr lang="en-US" sz="1800" dirty="0"/>
          </a:p>
        </p:txBody>
      </p:sp>
      <p:sp>
        <p:nvSpPr>
          <p:cNvPr id="12" name="Khối 12"/>
          <p:cNvSpPr/>
          <p:nvPr/>
        </p:nvSpPr>
        <p:spPr>
          <a:xfrm>
            <a:off x="731520" y="4014216"/>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3" name="Khối 13"/>
          <p:cNvSpPr/>
          <p:nvPr/>
        </p:nvSpPr>
        <p:spPr>
          <a:xfrm>
            <a:off x="548640" y="4443984"/>
            <a:ext cx="5943600" cy="1810512"/>
          </a:xfrm>
          <a:prstGeom prst="roundRect">
            <a:avLst>
              <a:gd name="adj" fmla="val 8081"/>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4" name="Hình 14" descr="preencoded.png"/>
          <p:cNvPicPr>
            <a:picLocks noChangeAspect="1"/>
          </p:cNvPicPr>
          <p:nvPr/>
        </p:nvPicPr>
        <p:blipFill>
          <a:blip r:embed="rId6"/>
          <a:stretch>
            <a:fillRect/>
          </a:stretch>
        </p:blipFill>
        <p:spPr>
          <a:xfrm>
            <a:off x="5760720" y="4169664"/>
            <a:ext cx="548640" cy="548640"/>
          </a:xfrm>
          <a:prstGeom prst="rect">
            <a:avLst/>
          </a:prstGeom>
        </p:spPr>
      </p:pic>
      <p:sp>
        <p:nvSpPr>
          <p:cNvPr id="15" name="Khối 15"/>
          <p:cNvSpPr txBox="1"/>
          <p:nvPr/>
        </p:nvSpPr>
        <p:spPr>
          <a:xfrm>
            <a:off x="804672" y="4517136"/>
            <a:ext cx="4892040" cy="1664208"/>
          </a:xfrm>
          <a:prstGeom prst="rect">
            <a:avLst/>
          </a:prstGeom>
          <a:noFill/>
          <a:ln/>
        </p:spPr>
        <p:txBody>
          <a:bodyPr wrap="square" lIns="0" tIns="0" rIns="0" bIns="0" rtlCol="0" anchor="ctr"/>
          <a:lstStyle/>
          <a:p>
            <a:pPr marL="241300" indent="-241300">
              <a:lnSpc>
                <a:spcPct val="108000"/>
              </a:lnSpc>
              <a:spcAft>
                <a:spcPts val="700"/>
              </a:spcAft>
              <a:buSzPct val="100000"/>
              <a:buChar char="●"/>
            </a:pPr>
            <a:r>
              <a:rPr lang="en-US" sz="1800" b="1" dirty="0">
                <a:solidFill>
                  <a:srgbClr val="0B3FB8"/>
                </a:solidFill>
                <a:latin typeface="Roboto" pitchFamily="34" charset="0"/>
                <a:ea typeface="Roboto" pitchFamily="34" charset="-122"/>
                <a:cs typeface="Roboto" pitchFamily="34" charset="-120"/>
              </a:rPr>
              <a:t>Giữ</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TotalSF</a:t>
            </a:r>
            <a:r>
              <a:rPr lang="en-US" sz="1800" dirty="0">
                <a:solidFill>
                  <a:srgbClr val="1B2A4A"/>
                </a:solidFill>
                <a:latin typeface="Roboto" pitchFamily="34" charset="0"/>
                <a:ea typeface="Roboto" pitchFamily="34" charset="-122"/>
                <a:cs typeface="Roboto" pitchFamily="34" charset="-120"/>
              </a:rPr>
              <a:t>, </a:t>
            </a:r>
            <a:r>
              <a:rPr lang="en-US" sz="1800" b="1" dirty="0">
                <a:solidFill>
                  <a:srgbClr val="0B3FB8"/>
                </a:solidFill>
                <a:latin typeface="Roboto" pitchFamily="34" charset="0"/>
                <a:ea typeface="Roboto" pitchFamily="34" charset="-122"/>
                <a:cs typeface="Roboto" pitchFamily="34" charset="-120"/>
              </a:rPr>
              <a:t>loại bỏ</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TotalBsmtSF</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1stFlrSF</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2ndFlrSF</a:t>
            </a:r>
            <a:r>
              <a:rPr lang="en-US" sz="1800" dirty="0">
                <a:solidFill>
                  <a:srgbClr val="1B2A4A"/>
                </a:solidFill>
                <a:latin typeface="Roboto" pitchFamily="34" charset="0"/>
                <a:ea typeface="Roboto" pitchFamily="34" charset="-122"/>
                <a:cs typeface="Roboto" pitchFamily="34" charset="-120"/>
              </a:rPr>
              <a:t>.</a:t>
            </a:r>
            <a:endParaRPr lang="en-US" sz="1800" dirty="0"/>
          </a:p>
          <a:p>
            <a:pPr marL="241300" indent="-241300">
              <a:lnSpc>
                <a:spcPct val="108000"/>
              </a:lnSpc>
              <a:spcAft>
                <a:spcPts val="700"/>
              </a:spcAft>
              <a:buSzPct val="100000"/>
              <a:buChar char="●"/>
            </a:pPr>
            <a:r>
              <a:rPr lang="en-US" sz="1800" b="1" dirty="0">
                <a:solidFill>
                  <a:srgbClr val="0B3FB8"/>
                </a:solidFill>
                <a:latin typeface="Roboto" pitchFamily="34" charset="0"/>
                <a:ea typeface="Roboto" pitchFamily="34" charset="-122"/>
                <a:cs typeface="Roboto" pitchFamily="34" charset="-120"/>
              </a:rPr>
              <a:t>Giữ</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GarageCars</a:t>
            </a:r>
            <a:r>
              <a:rPr lang="en-US" sz="1800" dirty="0">
                <a:solidFill>
                  <a:srgbClr val="1B2A4A"/>
                </a:solidFill>
                <a:latin typeface="Roboto" pitchFamily="34" charset="0"/>
                <a:ea typeface="Roboto" pitchFamily="34" charset="-122"/>
                <a:cs typeface="Roboto" pitchFamily="34" charset="-120"/>
              </a:rPr>
              <a:t>, </a:t>
            </a:r>
            <a:r>
              <a:rPr lang="en-US" sz="1800" b="1" dirty="0">
                <a:solidFill>
                  <a:srgbClr val="0B3FB8"/>
                </a:solidFill>
                <a:latin typeface="Roboto" pitchFamily="34" charset="0"/>
                <a:ea typeface="Roboto" pitchFamily="34" charset="-122"/>
                <a:cs typeface="Roboto" pitchFamily="34" charset="-120"/>
              </a:rPr>
              <a:t>loại bỏ</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GarageArea</a:t>
            </a:r>
            <a:r>
              <a:rPr lang="en-US" sz="1800" dirty="0">
                <a:solidFill>
                  <a:srgbClr val="1B2A4A"/>
                </a:solidFill>
                <a:latin typeface="Roboto" pitchFamily="34" charset="0"/>
                <a:ea typeface="Roboto" pitchFamily="34" charset="-122"/>
                <a:cs typeface="Roboto" pitchFamily="34" charset="-120"/>
              </a:rPr>
              <a:t>.</a:t>
            </a:r>
            <a:endParaRPr lang="en-US" sz="1800" dirty="0"/>
          </a:p>
          <a:p>
            <a:pPr marL="241300" indent="-241300">
              <a:lnSpc>
                <a:spcPct val="108000"/>
              </a:lnSpc>
              <a:buSzPct val="100000"/>
              <a:buChar char="●"/>
            </a:pPr>
            <a:r>
              <a:rPr lang="en-US" sz="1800" b="1" dirty="0">
                <a:solidFill>
                  <a:srgbClr val="0B3FB8"/>
                </a:solidFill>
                <a:latin typeface="Roboto" pitchFamily="34" charset="0"/>
                <a:ea typeface="Roboto" pitchFamily="34" charset="-122"/>
                <a:cs typeface="Roboto" pitchFamily="34" charset="-120"/>
              </a:rPr>
              <a:t>Loại bỏ</a:t>
            </a:r>
            <a:r>
              <a:rPr lang="en-US" sz="1800" dirty="0">
                <a:solidFill>
                  <a:srgbClr val="1B2A4A"/>
                </a:solidFill>
                <a:latin typeface="Roboto" pitchFamily="34" charset="0"/>
                <a:ea typeface="Roboto" pitchFamily="34" charset="-122"/>
                <a:cs typeface="Roboto" pitchFamily="34" charset="-120"/>
              </a:rPr>
              <a:t> </a:t>
            </a:r>
            <a:r>
              <a:rPr lang="en-US" sz="1800" dirty="0">
                <a:solidFill>
                  <a:srgbClr val="1F6BF0"/>
                </a:solidFill>
                <a:latin typeface="Roboto" pitchFamily="34" charset="0"/>
                <a:ea typeface="Roboto" pitchFamily="34" charset="-122"/>
                <a:cs typeface="Roboto" pitchFamily="34" charset="-120"/>
              </a:rPr>
              <a:t>Id</a:t>
            </a:r>
            <a:r>
              <a:rPr lang="en-US" sz="1800" dirty="0">
                <a:solidFill>
                  <a:srgbClr val="1B2A4A"/>
                </a:solidFill>
                <a:latin typeface="Roboto" pitchFamily="34" charset="0"/>
                <a:ea typeface="Roboto" pitchFamily="34" charset="-122"/>
                <a:cs typeface="Roboto" pitchFamily="34" charset="-120"/>
              </a:rPr>
              <a:t> và </a:t>
            </a:r>
            <a:r>
              <a:rPr lang="en-US" sz="1800" dirty="0">
                <a:solidFill>
                  <a:srgbClr val="1F6BF0"/>
                </a:solidFill>
                <a:latin typeface="Roboto" pitchFamily="34" charset="0"/>
                <a:ea typeface="Roboto" pitchFamily="34" charset="-122"/>
                <a:cs typeface="Roboto" pitchFamily="34" charset="-120"/>
              </a:rPr>
              <a:t>SalePrice</a:t>
            </a:r>
            <a:r>
              <a:rPr lang="en-US" sz="1800" dirty="0">
                <a:solidFill>
                  <a:srgbClr val="1B2A4A"/>
                </a:solidFill>
                <a:latin typeface="Roboto" pitchFamily="34" charset="0"/>
                <a:ea typeface="Roboto" pitchFamily="34" charset="-122"/>
                <a:cs typeface="Roboto" pitchFamily="34" charset="-120"/>
              </a:rPr>
              <a:t> gốc (đã thay bằng </a:t>
            </a:r>
            <a:r>
              <a:rPr lang="en-US" sz="1800" dirty="0">
                <a:solidFill>
                  <a:srgbClr val="1F6BF0"/>
                </a:solidFill>
                <a:latin typeface="Roboto" pitchFamily="34" charset="0"/>
                <a:ea typeface="Roboto" pitchFamily="34" charset="-122"/>
                <a:cs typeface="Roboto" pitchFamily="34" charset="-120"/>
              </a:rPr>
              <a:t>LogSalePrice</a:t>
            </a:r>
            <a:r>
              <a:rPr lang="en-US" sz="1800" dirty="0">
                <a:solidFill>
                  <a:srgbClr val="1B2A4A"/>
                </a:solidFill>
                <a:latin typeface="Roboto" pitchFamily="34" charset="0"/>
                <a:ea typeface="Roboto" pitchFamily="34" charset="-122"/>
                <a:cs typeface="Roboto" pitchFamily="34" charset="-120"/>
              </a:rPr>
              <a:t>).</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53" presetClass="entr" presetSubtype="16" fill="hold" nodeType="withEffect">
                                  <p:stCondLst>
                                    <p:cond delay="25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42" presetClass="entr" presetSubtype="0" fill="hold" grpId="0" nodeType="with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53" presetClass="entr" presetSubtype="16" fill="hold" nodeType="withEffect">
                                  <p:stCondLst>
                                    <p:cond delay="20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par>
                                <p:cTn id="41" presetID="10" presetClass="entr" presetSubtype="0" fill="hold" grpId="0" nodeType="withEffect">
                                  <p:stCondLst>
                                    <p:cond delay="15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par>
                                <p:cTn id="44" presetID="42" presetClass="entr" presetSubtype="0" fill="hold" grpId="0" nodeType="withEffect">
                                  <p:stCondLst>
                                    <p:cond delay="1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additive="base">
                                        <p:cTn id="47" dur="600" fill="hold"/>
                                        <p:tgtEl>
                                          <p:spTgt spid="13"/>
                                        </p:tgtEl>
                                        <p:attrNameLst>
                                          <p:attrName>ppt_x</p:attrName>
                                        </p:attrNameLst>
                                      </p:cBhvr>
                                      <p:tavLst>
                                        <p:tav tm="0">
                                          <p:val>
                                            <p:strVal val="#ppt_x"/>
                                          </p:val>
                                        </p:tav>
                                        <p:tav tm="100000">
                                          <p:val>
                                            <p:strVal val="#ppt_x"/>
                                          </p:val>
                                        </p:tav>
                                      </p:tavLst>
                                    </p:anim>
                                    <p:anim calcmode="lin" valueType="num">
                                      <p:cBhvr additive="base">
                                        <p:cTn id="48" dur="600" fill="hold"/>
                                        <p:tgtEl>
                                          <p:spTgt spid="13"/>
                                        </p:tgtEl>
                                        <p:attrNameLst>
                                          <p:attrName>ppt_y</p:attrName>
                                        </p:attrNameLst>
                                      </p:cBhvr>
                                      <p:tavLst>
                                        <p:tav tm="0">
                                          <p:val>
                                            <p:strVal val="#ppt_y+.1"/>
                                          </p:val>
                                        </p:tav>
                                        <p:tav tm="100000">
                                          <p:val>
                                            <p:strVal val="#ppt_y"/>
                                          </p:val>
                                        </p:tav>
                                      </p:tavLst>
                                    </p:anim>
                                  </p:childTnLst>
                                </p:cTn>
                              </p:par>
                              <p:par>
                                <p:cTn id="49" presetID="53" presetClass="entr" presetSubtype="16" fill="hold" nodeType="withEffect">
                                  <p:stCondLst>
                                    <p:cond delay="25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00" fill="hold"/>
                                        <p:tgtEl>
                                          <p:spTgt spid="14"/>
                                        </p:tgtEl>
                                        <p:attrNameLst>
                                          <p:attrName>ppt_w</p:attrName>
                                        </p:attrNameLst>
                                      </p:cBhvr>
                                      <p:tavLst>
                                        <p:tav tm="0">
                                          <p:val>
                                            <p:fltVal val="0"/>
                                          </p:val>
                                        </p:tav>
                                        <p:tav tm="100000">
                                          <p:val>
                                            <p:strVal val="#ppt_w"/>
                                          </p:val>
                                        </p:tav>
                                      </p:tavLst>
                                    </p:anim>
                                    <p:anim calcmode="lin" valueType="num">
                                      <p:cBhvr>
                                        <p:cTn id="52" dur="500" fill="hold"/>
                                        <p:tgtEl>
                                          <p:spTgt spid="14"/>
                                        </p:tgtEl>
                                        <p:attrNameLst>
                                          <p:attrName>ppt_h</p:attrName>
                                        </p:attrNameLst>
                                      </p:cBhvr>
                                      <p:tavLst>
                                        <p:tav tm="0">
                                          <p:val>
                                            <p:fltVal val="0"/>
                                          </p:val>
                                        </p:tav>
                                        <p:tav tm="100000">
                                          <p:val>
                                            <p:strVal val="#ppt_h"/>
                                          </p:val>
                                        </p:tav>
                                      </p:tavLst>
                                    </p:anim>
                                    <p:animEffect transition="in" filter="fade">
                                      <p:cBhvr>
                                        <p:cTn id="53" dur="500"/>
                                        <p:tgtEl>
                                          <p:spTgt spid="14"/>
                                        </p:tgtEl>
                                      </p:cBhvr>
                                    </p:animEffect>
                                  </p:childTnLst>
                                </p:cTn>
                              </p:par>
                              <p:par>
                                <p:cTn id="54" presetID="42" presetClass="entr" presetSubtype="0" fill="hold" grpId="0" nodeType="withEffect">
                                  <p:stCondLst>
                                    <p:cond delay="1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600"/>
                                        <p:tgtEl>
                                          <p:spTgt spid="15"/>
                                        </p:tgtEl>
                                      </p:cBhvr>
                                    </p:animEffect>
                                    <p:anim calcmode="lin" valueType="num">
                                      <p:cBhvr additive="base">
                                        <p:cTn id="57" dur="600" fill="hold"/>
                                        <p:tgtEl>
                                          <p:spTgt spid="15"/>
                                        </p:tgtEl>
                                        <p:attrNameLst>
                                          <p:attrName>ppt_x</p:attrName>
                                        </p:attrNameLst>
                                      </p:cBhvr>
                                      <p:tavLst>
                                        <p:tav tm="0">
                                          <p:val>
                                            <p:strVal val="#ppt_x"/>
                                          </p:val>
                                        </p:tav>
                                        <p:tav tm="100000">
                                          <p:val>
                                            <p:strVal val="#ppt_x"/>
                                          </p:val>
                                        </p:tav>
                                      </p:tavLst>
                                    </p:anim>
                                    <p:anim calcmode="lin" valueType="num">
                                      <p:cBhvr additive="base">
                                        <p:cTn id="58" dur="6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1" grpId="0" animBg="1"/>
      <p:bldP spid="12" grpId="0" animBg="1"/>
      <p:bldP spid="13"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6 KỸ THUẬT FEATURE SELECTION</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08 / 14</a:t>
            </a:r>
            <a:endParaRPr lang="en-US" sz="1100" dirty="0"/>
          </a:p>
        </p:txBody>
      </p:sp>
      <p:graphicFrame>
        <p:nvGraphicFramePr>
          <p:cNvPr id="4" name="Bảng 4"/>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08704"/>
        </p:xfrm>
        <a:graphic>
          <a:graphicData uri="http://schemas.openxmlformats.org/drawingml/2006/table">
            <a:tbl>
              <a:tblPr/>
              <a:tblGrid>
                <a:gridCol w="1554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420624">
                <a:tc>
                  <a:txBody>
                    <a:bodyPr/>
                    <a:lstStyle/>
                    <a:p>
                      <a:pPr marL="0" indent="0" algn="l">
                        <a:buNone/>
                      </a:pPr>
                      <a:r>
                        <a:rPr lang="en-US" sz="1600" b="1" dirty="0">
                          <a:solidFill>
                            <a:srgbClr val="FFFFFF"/>
                          </a:solidFill>
                          <a:latin typeface="Roboto" pitchFamily="34" charset="0"/>
                          <a:ea typeface="Roboto" pitchFamily="34" charset="-122"/>
                          <a:cs typeface="Roboto" pitchFamily="34" charset="-120"/>
                        </a:rPr>
                        <a:t>Nhóm</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600" b="1" dirty="0">
                          <a:solidFill>
                            <a:srgbClr val="FFFFFF"/>
                          </a:solidFill>
                          <a:latin typeface="Roboto" pitchFamily="34" charset="0"/>
                          <a:ea typeface="Roboto" pitchFamily="34" charset="-122"/>
                          <a:cs typeface="Roboto" pitchFamily="34" charset="-120"/>
                        </a:rPr>
                        <a:t>Kỹ thuật</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600" b="1" dirty="0">
                          <a:solidFill>
                            <a:srgbClr val="FFFFFF"/>
                          </a:solidFill>
                          <a:latin typeface="Roboto" pitchFamily="34" charset="0"/>
                          <a:ea typeface="Roboto" pitchFamily="34" charset="-122"/>
                          <a:cs typeface="Roboto" pitchFamily="34" charset="-120"/>
                        </a:rPr>
                        <a:t>Cách thực hiện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600" b="1" dirty="0">
                          <a:solidFill>
                            <a:srgbClr val="FFFFFF"/>
                          </a:solidFill>
                          <a:latin typeface="Roboto" pitchFamily="34" charset="0"/>
                          <a:ea typeface="Roboto" pitchFamily="34" charset="-122"/>
                          <a:cs typeface="Roboto" pitchFamily="34" charset="-120"/>
                        </a:rPr>
                        <a:t>Đặc điểm</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585216">
                <a:tc>
                  <a:txBody>
                    <a:bodyPr/>
                    <a:lstStyle/>
                    <a:p>
                      <a:pPr marL="0" indent="0" algn="ctr">
                        <a:buNone/>
                      </a:pPr>
                      <a:r>
                        <a:rPr lang="en-US" sz="1600" b="1" dirty="0">
                          <a:solidFill>
                            <a:srgbClr val="B76E00"/>
                          </a:solidFill>
                          <a:latin typeface="Roboto" pitchFamily="34" charset="0"/>
                          <a:ea typeface="Roboto" pitchFamily="34" charset="-122"/>
                          <a:cs typeface="Roboto" pitchFamily="34" charset="-120"/>
                        </a:rPr>
                        <a:t>Mốc so sánh</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3DC"/>
                    </a:solidFill>
                  </a:tcPr>
                </a:tc>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Baseline – All Features</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Không chọn lọc (dùng toàn bộ 225 đặc trưng)</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Đánh giá hiệu quả thực sự của Feature Selection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lgn="ctr">
                        <a:buNone/>
                      </a:pPr>
                      <a:r>
                        <a:rPr lang="en-US" sz="1600" b="1" dirty="0">
                          <a:solidFill>
                            <a:srgbClr val="1557D6"/>
                          </a:solidFill>
                          <a:latin typeface="Roboto" pitchFamily="34" charset="0"/>
                          <a:ea typeface="Roboto" pitchFamily="34" charset="-122"/>
                          <a:cs typeface="Roboto" pitchFamily="34" charset="-120"/>
                        </a:rPr>
                        <a:t>Filter</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E3EFFF"/>
                    </a:solidFill>
                  </a:tcPr>
                </a:tc>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Pearson Correlation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600" dirty="0">
                          <a:solidFill>
                            <a:srgbClr val="1F6BF0"/>
                          </a:solidFill>
                          <a:latin typeface="Roboto" pitchFamily="34" charset="0"/>
                          <a:ea typeface="Roboto" pitchFamily="34" charset="-122"/>
                          <a:cs typeface="Roboto" pitchFamily="34" charset="-120"/>
                        </a:rPr>
                        <a:t>SelectKBest(f_regression)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Tốc độ nhanh; chỉ đo lường quan hệ tuyến tính</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585216">
                <a:tc>
                  <a:txBody>
                    <a:bodyPr/>
                    <a:lstStyle/>
                    <a:p>
                      <a:pPr marL="0" indent="0" algn="ctr">
                        <a:buNone/>
                      </a:pPr>
                      <a:r>
                        <a:rPr lang="en-US" sz="1600" b="1" dirty="0">
                          <a:solidFill>
                            <a:srgbClr val="1557D6"/>
                          </a:solidFill>
                          <a:latin typeface="Roboto" pitchFamily="34" charset="0"/>
                          <a:ea typeface="Roboto" pitchFamily="34" charset="-122"/>
                          <a:cs typeface="Roboto" pitchFamily="34" charset="-120"/>
                        </a:rPr>
                        <a:t>Filter</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E3EFFF"/>
                    </a:solidFill>
                  </a:tcPr>
                </a:tc>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Mutual Information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6BF0"/>
                          </a:solidFill>
                          <a:latin typeface="Roboto" pitchFamily="34" charset="0"/>
                          <a:ea typeface="Roboto" pitchFamily="34" charset="-122"/>
                          <a:cs typeface="Roboto" pitchFamily="34" charset="-120"/>
                        </a:rPr>
                        <a:t>SelectKBest(mutual_info_regression)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Bắt được các mối quan hệ phi tuyến phức tạp</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lgn="ctr">
                        <a:buNone/>
                      </a:pPr>
                      <a:r>
                        <a:rPr lang="en-US" sz="1600" b="1" dirty="0">
                          <a:solidFill>
                            <a:srgbClr val="6B46E5"/>
                          </a:solidFill>
                          <a:latin typeface="Roboto" pitchFamily="34" charset="0"/>
                          <a:ea typeface="Roboto" pitchFamily="34" charset="-122"/>
                          <a:cs typeface="Roboto" pitchFamily="34" charset="-120"/>
                        </a:rPr>
                        <a:t>Wrapper</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EFE9FF"/>
                    </a:solidFill>
                  </a:tcPr>
                </a:tc>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RFE</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600" dirty="0">
                          <a:solidFill>
                            <a:srgbClr val="1F6BF0"/>
                          </a:solidFill>
                          <a:latin typeface="Roboto" pitchFamily="34" charset="0"/>
                          <a:ea typeface="Roboto" pitchFamily="34" charset="-122"/>
                          <a:cs typeface="Roboto" pitchFamily="34" charset="-120"/>
                        </a:rPr>
                        <a:t>RandomForest</a:t>
                      </a:r>
                      <a:r>
                        <a:rPr lang="en-US" sz="1600" dirty="0">
                          <a:solidFill>
                            <a:srgbClr val="1B2A4A"/>
                          </a:solidFill>
                          <a:latin typeface="Roboto" pitchFamily="34" charset="0"/>
                          <a:ea typeface="Roboto" pitchFamily="34" charset="-122"/>
                          <a:cs typeface="Roboto" pitchFamily="34" charset="-120"/>
                        </a:rPr>
                        <a:t> (80 cây, depth 12), </a:t>
                      </a:r>
                      <a:r>
                        <a:rPr lang="en-US" sz="1600" dirty="0">
                          <a:solidFill>
                            <a:srgbClr val="1F6BF0"/>
                          </a:solidFill>
                          <a:latin typeface="Roboto" pitchFamily="34" charset="0"/>
                          <a:ea typeface="Roboto" pitchFamily="34" charset="-122"/>
                          <a:cs typeface="Roboto" pitchFamily="34" charset="-120"/>
                        </a:rPr>
                        <a:t>step</a:t>
                      </a:r>
                      <a:r>
                        <a:rPr lang="en-US" sz="1600" dirty="0">
                          <a:solidFill>
                            <a:srgbClr val="1B2A4A"/>
                          </a:solidFill>
                          <a:latin typeface="Roboto" pitchFamily="34" charset="0"/>
                          <a:ea typeface="Roboto" pitchFamily="34" charset="-122"/>
                          <a:cs typeface="Roboto" pitchFamily="34" charset="-120"/>
                        </a:rPr>
                        <a:t> = 0.25</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Loại dần đặc trưng kém nhất; tốn thời gian tính toán</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4"/>
                  </a:ext>
                </a:extLst>
              </a:tr>
              <a:tr h="585216">
                <a:tc>
                  <a:txBody>
                    <a:bodyPr/>
                    <a:lstStyle/>
                    <a:p>
                      <a:pPr marL="0" indent="0" algn="ctr">
                        <a:buNone/>
                      </a:pPr>
                      <a:r>
                        <a:rPr lang="en-US" sz="1600" b="1" dirty="0">
                          <a:solidFill>
                            <a:srgbClr val="0E8A66"/>
                          </a:solidFill>
                          <a:latin typeface="Roboto" pitchFamily="34" charset="0"/>
                          <a:ea typeface="Roboto" pitchFamily="34" charset="-122"/>
                          <a:cs typeface="Roboto" pitchFamily="34" charset="-120"/>
                        </a:rPr>
                        <a:t>Embedded</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DDF7EE"/>
                    </a:solidFill>
                  </a:tcPr>
                </a:tc>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Lasso (L1)</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6BF0"/>
                          </a:solidFill>
                          <a:latin typeface="Roboto" pitchFamily="34" charset="0"/>
                          <a:ea typeface="Roboto" pitchFamily="34" charset="-122"/>
                          <a:cs typeface="Roboto" pitchFamily="34" charset="-120"/>
                        </a:rPr>
                        <a:t>LassoCV</a:t>
                      </a:r>
                      <a:r>
                        <a:rPr lang="en-US" sz="1600" dirty="0">
                          <a:solidFill>
                            <a:srgbClr val="1B2A4A"/>
                          </a:solidFill>
                          <a:latin typeface="Roboto" pitchFamily="34" charset="0"/>
                          <a:ea typeface="Roboto" pitchFamily="34" charset="-122"/>
                          <a:cs typeface="Roboto" pitchFamily="34" charset="-120"/>
                        </a:rPr>
                        <a:t>, lấy K biến có |hệ số| lớn nhất</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Regularization ép hệ số về 0</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5216">
                <a:tc>
                  <a:txBody>
                    <a:bodyPr/>
                    <a:lstStyle/>
                    <a:p>
                      <a:pPr marL="0" indent="0" algn="ctr">
                        <a:buNone/>
                      </a:pPr>
                      <a:r>
                        <a:rPr lang="en-US" sz="1600" b="1" dirty="0">
                          <a:solidFill>
                            <a:srgbClr val="0E8A66"/>
                          </a:solidFill>
                          <a:latin typeface="Roboto" pitchFamily="34" charset="0"/>
                          <a:ea typeface="Roboto" pitchFamily="34" charset="-122"/>
                          <a:cs typeface="Roboto" pitchFamily="34" charset="-120"/>
                        </a:rPr>
                        <a:t>Embedded</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DDF7EE"/>
                    </a:solidFill>
                  </a:tcPr>
                </a:tc>
                <a:tc>
                  <a:txBody>
                    <a:bodyPr/>
                    <a:lstStyle/>
                    <a:p>
                      <a:pPr marL="0" indent="0" algn="l">
                        <a:buNone/>
                      </a:pPr>
                      <a:r>
                        <a:rPr lang="en-US" sz="1600" b="1" dirty="0">
                          <a:solidFill>
                            <a:srgbClr val="0F2A5F"/>
                          </a:solidFill>
                          <a:latin typeface="Roboto" pitchFamily="34" charset="0"/>
                          <a:ea typeface="Roboto" pitchFamily="34" charset="-122"/>
                          <a:cs typeface="Roboto" pitchFamily="34" charset="-120"/>
                        </a:rPr>
                        <a:t>RandomForest Importance</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600" dirty="0">
                          <a:solidFill>
                            <a:srgbClr val="1F6BF0"/>
                          </a:solidFill>
                          <a:latin typeface="Roboto" pitchFamily="34" charset="0"/>
                          <a:ea typeface="Roboto" pitchFamily="34" charset="-122"/>
                          <a:cs typeface="Roboto" pitchFamily="34" charset="-120"/>
                        </a:rPr>
                        <a:t>SelectFromModel</a:t>
                      </a:r>
                      <a:r>
                        <a:rPr lang="en-US" sz="1600" dirty="0">
                          <a:solidFill>
                            <a:srgbClr val="1B2A4A"/>
                          </a:solidFill>
                          <a:latin typeface="Roboto" pitchFamily="34" charset="0"/>
                          <a:ea typeface="Roboto" pitchFamily="34" charset="-122"/>
                          <a:cs typeface="Roboto" pitchFamily="34" charset="-120"/>
                        </a:rPr>
                        <a:t>, 200 cây</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600" dirty="0">
                          <a:solidFill>
                            <a:srgbClr val="1B2A4A"/>
                          </a:solidFill>
                          <a:latin typeface="Roboto" pitchFamily="34" charset="0"/>
                          <a:ea typeface="Roboto" pitchFamily="34" charset="-122"/>
                          <a:cs typeface="Roboto" pitchFamily="34" charset="-120"/>
                        </a:rPr>
                        <a:t>Đánh giá dựa trên độ quan trọng đặc trưng của mô hình cây</a:t>
                      </a:r>
                      <a:endParaRPr lang="en-US" sz="16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6"/>
                  </a:ext>
                </a:extLst>
              </a:tr>
            </a:tbl>
          </a:graphicData>
        </a:graphic>
      </p:graphicFrame>
      <p:sp>
        <p:nvSpPr>
          <p:cNvPr id="5" name="Khối 5"/>
          <p:cNvSpPr/>
          <p:nvPr/>
        </p:nvSpPr>
        <p:spPr>
          <a:xfrm>
            <a:off x="548640" y="5559552"/>
            <a:ext cx="11094415" cy="731520"/>
          </a:xfrm>
          <a:prstGeom prst="roundRect">
            <a:avLst>
              <a:gd name="adj" fmla="val 20000"/>
            </a:avLst>
          </a:prstGeom>
          <a:solidFill>
            <a:srgbClr val="EAF3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6" name="Hình 6" descr="preencoded.png"/>
          <p:cNvPicPr>
            <a:picLocks noChangeAspect="1"/>
          </p:cNvPicPr>
          <p:nvPr/>
        </p:nvPicPr>
        <p:blipFill>
          <a:blip r:embed="rId4"/>
          <a:stretch>
            <a:fillRect/>
          </a:stretch>
        </p:blipFill>
        <p:spPr>
          <a:xfrm>
            <a:off x="731520" y="5696712"/>
            <a:ext cx="457200" cy="457200"/>
          </a:xfrm>
          <a:prstGeom prst="rect">
            <a:avLst/>
          </a:prstGeom>
        </p:spPr>
      </p:pic>
      <p:sp>
        <p:nvSpPr>
          <p:cNvPr id="7" name="Khối 7"/>
          <p:cNvSpPr txBox="1"/>
          <p:nvPr/>
        </p:nvSpPr>
        <p:spPr>
          <a:xfrm>
            <a:off x="1371600" y="5577840"/>
            <a:ext cx="10088575" cy="694944"/>
          </a:xfrm>
          <a:prstGeom prst="rect">
            <a:avLst/>
          </a:prstGeom>
          <a:noFill/>
          <a:ln/>
        </p:spPr>
        <p:txBody>
          <a:bodyPr wrap="square" lIns="0" tIns="0" rIns="0" bIns="0" rtlCol="0" anchor="ctr"/>
          <a:lstStyle/>
          <a:p>
            <a:pPr marL="0" indent="0">
              <a:lnSpc>
                <a:spcPct val="108000"/>
              </a:lnSpc>
              <a:buNone/>
            </a:pPr>
            <a:r>
              <a:rPr lang="en-US" sz="1600" i="1" dirty="0">
                <a:solidFill>
                  <a:srgbClr val="1B2A4A"/>
                </a:solidFill>
                <a:latin typeface="Roboto" pitchFamily="34" charset="0"/>
                <a:ea typeface="Roboto" pitchFamily="34" charset="-122"/>
                <a:cs typeface="Roboto" pitchFamily="34" charset="-120"/>
              </a:rPr>
              <a:t>Tất cả phương pháp đều chọn cố định K = 30 đặc trưng (trên tổng số 225 đặc trưng) để bảo đảm tính công bằng khi so sánh.</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fill="hold"/>
                                        <p:tgtEl>
                                          <p:spTgt spid="5"/>
                                        </p:tgtEl>
                                        <p:attrNameLst>
                                          <p:attrName>ppt_x</p:attrName>
                                        </p:attrNameLst>
                                      </p:cBhvr>
                                      <p:tavLst>
                                        <p:tav tm="0">
                                          <p:val>
                                            <p:strVal val="#ppt_x"/>
                                          </p:val>
                                        </p:tav>
                                        <p:tav tm="100000">
                                          <p:val>
                                            <p:strVal val="#ppt_x"/>
                                          </p:val>
                                        </p:tav>
                                      </p:tavLst>
                                    </p:anim>
                                    <p:anim calcmode="lin" valueType="num">
                                      <p:cBhvr additive="base">
                                        <p:cTn id="14" dur="600" fill="hold"/>
                                        <p:tgtEl>
                                          <p:spTgt spid="5"/>
                                        </p:tgtEl>
                                        <p:attrNameLst>
                                          <p:attrName>ppt_y</p:attrName>
                                        </p:attrNameLst>
                                      </p:cBhvr>
                                      <p:tavLst>
                                        <p:tav tm="0">
                                          <p:val>
                                            <p:strVal val="#ppt_y+.1"/>
                                          </p:val>
                                        </p:tav>
                                        <p:tav tm="100000">
                                          <p:val>
                                            <p:strVal val="#ppt_y"/>
                                          </p:val>
                                        </p:tav>
                                      </p:tavLst>
                                    </p:anim>
                                  </p:childTnLst>
                                </p:cTn>
                              </p:par>
                              <p:par>
                                <p:cTn id="15" presetID="53" presetClass="entr" presetSubtype="16" fill="hold" nodeType="withEffect">
                                  <p:stCondLst>
                                    <p:cond delay="10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fill="hold"/>
                                        <p:tgtEl>
                                          <p:spTgt spid="7"/>
                                        </p:tgtEl>
                                        <p:attrNameLst>
                                          <p:attrName>ppt_x</p:attrName>
                                        </p:attrNameLst>
                                      </p:cBhvr>
                                      <p:tavLst>
                                        <p:tav tm="0">
                                          <p:val>
                                            <p:strVal val="#ppt_x"/>
                                          </p:val>
                                        </p:tav>
                                        <p:tav tm="100000">
                                          <p:val>
                                            <p:strVal val="#ppt_x"/>
                                          </p:val>
                                        </p:tav>
                                      </p:tavLst>
                                    </p:anim>
                                    <p:anim calcmode="lin" valueType="num">
                                      <p:cBhvr additive="base">
                                        <p:cTn id="24" dur="6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THIẾT KẾ THỰC NGHIỆM</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09 / 14</a:t>
            </a:r>
            <a:endParaRPr lang="en-US" sz="1100" dirty="0"/>
          </a:p>
        </p:txBody>
      </p:sp>
      <p:sp>
        <p:nvSpPr>
          <p:cNvPr id="4" name="Khối 4"/>
          <p:cNvSpPr/>
          <p:nvPr/>
        </p:nvSpPr>
        <p:spPr>
          <a:xfrm>
            <a:off x="548640" y="1325880"/>
            <a:ext cx="3125053"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Pipeline thống nhất</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4005072" y="1298448"/>
            <a:ext cx="2240280" cy="512064"/>
          </a:xfrm>
          <a:prstGeom prst="roundRect">
            <a:avLst>
              <a:gd name="adj" fmla="val 25000"/>
            </a:avLst>
          </a:prstGeom>
          <a:solidFill>
            <a:srgbClr val="1F6BF0"/>
          </a:solidFill>
          <a:ln/>
          <a:effectLst>
            <a:outerShdw blurRad="177800" dist="50800" dir="5400000" algn="bl" rotWithShape="0">
              <a:srgbClr val="1557E0">
                <a:alpha val="14000"/>
              </a:srgbClr>
            </a:outerShdw>
          </a:effectLst>
        </p:spPr>
        <p:txBody>
          <a:bodyPr wrap="square" lIns="0" tIns="0" rIns="0" bIns="0" rtlCol="0" anchor="ctr"/>
          <a:lstStyle/>
          <a:p>
            <a:pPr marL="0" indent="0" algn="ctr">
              <a:buNone/>
            </a:pPr>
            <a:r>
              <a:rPr lang="en-US" sz="1800" b="1" dirty="0">
                <a:solidFill>
                  <a:srgbClr val="FFFFFF"/>
                </a:solidFill>
                <a:latin typeface="Roboto" pitchFamily="34" charset="0"/>
                <a:ea typeface="Roboto" pitchFamily="34" charset="-122"/>
                <a:cs typeface="Roboto" pitchFamily="34" charset="-120"/>
              </a:rPr>
              <a:t>StandardScaler</a:t>
            </a:r>
            <a:endParaRPr lang="en-US" sz="1800" dirty="0"/>
          </a:p>
        </p:txBody>
      </p:sp>
      <p:sp>
        <p:nvSpPr>
          <p:cNvPr id="7" name="Khối 7"/>
          <p:cNvSpPr txBox="1"/>
          <p:nvPr/>
        </p:nvSpPr>
        <p:spPr>
          <a:xfrm>
            <a:off x="6245352" y="1298448"/>
            <a:ext cx="457200" cy="512064"/>
          </a:xfrm>
          <a:prstGeom prst="rect">
            <a:avLst/>
          </a:prstGeom>
          <a:noFill/>
          <a:ln/>
        </p:spPr>
        <p:txBody>
          <a:bodyPr wrap="square" lIns="0" tIns="0" rIns="0" bIns="0" rtlCol="0" anchor="ctr"/>
          <a:lstStyle/>
          <a:p>
            <a:pPr marL="0" indent="0" algn="ctr">
              <a:buNone/>
            </a:pPr>
            <a:r>
              <a:rPr lang="en-US" sz="2400" b="1" dirty="0">
                <a:solidFill>
                  <a:srgbClr val="1F6BF0"/>
                </a:solidFill>
                <a:latin typeface="Roboto" pitchFamily="34" charset="0"/>
                <a:ea typeface="Roboto" pitchFamily="34" charset="-122"/>
                <a:cs typeface="Roboto" pitchFamily="34" charset="-120"/>
              </a:rPr>
              <a:t>→</a:t>
            </a:r>
            <a:endParaRPr lang="en-US" sz="2400" dirty="0"/>
          </a:p>
        </p:txBody>
      </p:sp>
      <p:sp>
        <p:nvSpPr>
          <p:cNvPr id="8" name="Khối 8"/>
          <p:cNvSpPr/>
          <p:nvPr/>
        </p:nvSpPr>
        <p:spPr>
          <a:xfrm>
            <a:off x="6702552" y="1298448"/>
            <a:ext cx="2240280" cy="512064"/>
          </a:xfrm>
          <a:prstGeom prst="roundRect">
            <a:avLst>
              <a:gd name="adj" fmla="val 25000"/>
            </a:avLst>
          </a:prstGeom>
          <a:solidFill>
            <a:srgbClr val="0B3FB8"/>
          </a:solidFill>
          <a:ln/>
          <a:effectLst>
            <a:outerShdw blurRad="177800" dist="50800" dir="5400000" algn="bl" rotWithShape="0">
              <a:srgbClr val="1557E0">
                <a:alpha val="14000"/>
              </a:srgbClr>
            </a:outerShdw>
          </a:effectLst>
        </p:spPr>
        <p:txBody>
          <a:bodyPr wrap="square" lIns="0" tIns="0" rIns="0" bIns="0" rtlCol="0" anchor="ctr"/>
          <a:lstStyle/>
          <a:p>
            <a:pPr marL="0" indent="0" algn="ctr">
              <a:buNone/>
            </a:pPr>
            <a:r>
              <a:rPr lang="en-US" sz="1800" b="1" dirty="0">
                <a:solidFill>
                  <a:srgbClr val="FFFFFF"/>
                </a:solidFill>
                <a:latin typeface="Roboto" pitchFamily="34" charset="0"/>
                <a:ea typeface="Roboto" pitchFamily="34" charset="-122"/>
                <a:cs typeface="Roboto" pitchFamily="34" charset="-120"/>
              </a:rPr>
              <a:t>Feature Selection</a:t>
            </a:r>
            <a:endParaRPr lang="en-US" sz="1800" dirty="0"/>
          </a:p>
        </p:txBody>
      </p:sp>
      <p:sp>
        <p:nvSpPr>
          <p:cNvPr id="9" name="Khối 9"/>
          <p:cNvSpPr txBox="1"/>
          <p:nvPr/>
        </p:nvSpPr>
        <p:spPr>
          <a:xfrm>
            <a:off x="8942832" y="1298448"/>
            <a:ext cx="457200" cy="512064"/>
          </a:xfrm>
          <a:prstGeom prst="rect">
            <a:avLst/>
          </a:prstGeom>
          <a:noFill/>
          <a:ln/>
        </p:spPr>
        <p:txBody>
          <a:bodyPr wrap="square" lIns="0" tIns="0" rIns="0" bIns="0" rtlCol="0" anchor="ctr"/>
          <a:lstStyle/>
          <a:p>
            <a:pPr marL="0" indent="0" algn="ctr">
              <a:buNone/>
            </a:pPr>
            <a:r>
              <a:rPr lang="en-US" sz="2400" b="1" dirty="0">
                <a:solidFill>
                  <a:srgbClr val="1F6BF0"/>
                </a:solidFill>
                <a:latin typeface="Roboto" pitchFamily="34" charset="0"/>
                <a:ea typeface="Roboto" pitchFamily="34" charset="-122"/>
                <a:cs typeface="Roboto" pitchFamily="34" charset="-120"/>
              </a:rPr>
              <a:t>→</a:t>
            </a:r>
            <a:endParaRPr lang="en-US" sz="2400" dirty="0"/>
          </a:p>
        </p:txBody>
      </p:sp>
      <p:sp>
        <p:nvSpPr>
          <p:cNvPr id="10" name="Khối 10"/>
          <p:cNvSpPr/>
          <p:nvPr/>
        </p:nvSpPr>
        <p:spPr>
          <a:xfrm>
            <a:off x="9400032" y="1298448"/>
            <a:ext cx="2240280" cy="512064"/>
          </a:xfrm>
          <a:prstGeom prst="roundRect">
            <a:avLst>
              <a:gd name="adj" fmla="val 25000"/>
            </a:avLst>
          </a:prstGeom>
          <a:solidFill>
            <a:srgbClr val="FF9F1A"/>
          </a:solidFill>
          <a:ln/>
          <a:effectLst>
            <a:outerShdw blurRad="177800" dist="50800" dir="5400000" algn="bl" rotWithShape="0">
              <a:srgbClr val="1557E0">
                <a:alpha val="14000"/>
              </a:srgbClr>
            </a:outerShdw>
          </a:effectLst>
        </p:spPr>
        <p:txBody>
          <a:bodyPr wrap="square" lIns="0" tIns="0" rIns="0" bIns="0" rtlCol="0" anchor="ctr"/>
          <a:lstStyle/>
          <a:p>
            <a:pPr marL="0" indent="0" algn="ctr">
              <a:buNone/>
            </a:pPr>
            <a:r>
              <a:rPr lang="en-US" sz="1800" b="1" dirty="0">
                <a:solidFill>
                  <a:srgbClr val="FFFFFF"/>
                </a:solidFill>
                <a:latin typeface="Roboto" pitchFamily="34" charset="0"/>
                <a:ea typeface="Roboto" pitchFamily="34" charset="-122"/>
                <a:cs typeface="Roboto" pitchFamily="34" charset="-120"/>
              </a:rPr>
              <a:t>Mô hình dự báo</a:t>
            </a:r>
            <a:endParaRPr lang="en-US" sz="1800" dirty="0"/>
          </a:p>
        </p:txBody>
      </p:sp>
      <p:sp>
        <p:nvSpPr>
          <p:cNvPr id="11" name="Khối 11"/>
          <p:cNvSpPr/>
          <p:nvPr/>
        </p:nvSpPr>
        <p:spPr>
          <a:xfrm>
            <a:off x="548640" y="1938528"/>
            <a:ext cx="11094415" cy="914400"/>
          </a:xfrm>
          <a:prstGeom prst="roundRect">
            <a:avLst>
              <a:gd name="adj" fmla="val 16000"/>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2" name="Hình 12" descr="preencoded.png"/>
          <p:cNvPicPr>
            <a:picLocks noChangeAspect="1"/>
          </p:cNvPicPr>
          <p:nvPr/>
        </p:nvPicPr>
        <p:blipFill>
          <a:blip r:embed="rId4"/>
          <a:stretch>
            <a:fillRect/>
          </a:stretch>
        </p:blipFill>
        <p:spPr>
          <a:xfrm>
            <a:off x="731520" y="2157984"/>
            <a:ext cx="475488" cy="475488"/>
          </a:xfrm>
          <a:prstGeom prst="rect">
            <a:avLst/>
          </a:prstGeom>
        </p:spPr>
      </p:pic>
      <p:sp>
        <p:nvSpPr>
          <p:cNvPr id="13" name="Khối 13"/>
          <p:cNvSpPr txBox="1"/>
          <p:nvPr/>
        </p:nvSpPr>
        <p:spPr>
          <a:xfrm>
            <a:off x="1371600" y="1975104"/>
            <a:ext cx="10088575" cy="841248"/>
          </a:xfrm>
          <a:prstGeom prst="rect">
            <a:avLst/>
          </a:prstGeom>
          <a:noFill/>
          <a:ln/>
        </p:spPr>
        <p:txBody>
          <a:bodyPr wrap="square" lIns="0" tIns="0" rIns="0" bIns="0" rtlCol="0" anchor="ctr"/>
          <a:lstStyle/>
          <a:p>
            <a:pPr marL="0" indent="0">
              <a:lnSpc>
                <a:spcPct val="108000"/>
              </a:lnSpc>
              <a:buNone/>
            </a:pPr>
            <a:r>
              <a:rPr lang="en-US" sz="1700" dirty="0">
                <a:solidFill>
                  <a:srgbClr val="1B2A4A"/>
                </a:solidFill>
                <a:latin typeface="Roboto" pitchFamily="34" charset="0"/>
                <a:ea typeface="Roboto" pitchFamily="34" charset="-122"/>
                <a:cs typeface="Roboto" pitchFamily="34" charset="-120"/>
              </a:rPr>
              <a:t>Toàn bộ pipeline nằm trọn trong </a:t>
            </a:r>
            <a:r>
              <a:rPr lang="en-US" sz="1700" b="1" dirty="0">
                <a:solidFill>
                  <a:srgbClr val="0B3FB8"/>
                </a:solidFill>
                <a:latin typeface="Roboto" pitchFamily="34" charset="0"/>
                <a:ea typeface="Roboto" pitchFamily="34" charset="-122"/>
                <a:cs typeface="Roboto" pitchFamily="34" charset="-120"/>
              </a:rPr>
              <a:t>5-Fold Cross-Validation</a:t>
            </a:r>
            <a:r>
              <a:rPr lang="en-US" sz="1700" dirty="0">
                <a:solidFill>
                  <a:srgbClr val="1B2A4A"/>
                </a:solidFill>
                <a:latin typeface="Roboto" pitchFamily="34" charset="0"/>
                <a:ea typeface="Roboto" pitchFamily="34" charset="-122"/>
                <a:cs typeface="Roboto" pitchFamily="34" charset="-120"/>
              </a:rPr>
              <a:t>: bộ chọn đặc trưng được fit lại trong từng fold → Triệt tiêu hoàn toàn rò rỉ dữ liệu (data leakage).</a:t>
            </a:r>
            <a:endParaRPr lang="en-US" sz="1700" dirty="0"/>
          </a:p>
        </p:txBody>
      </p:sp>
      <p:sp>
        <p:nvSpPr>
          <p:cNvPr id="14" name="Khối 14"/>
          <p:cNvSpPr/>
          <p:nvPr/>
        </p:nvSpPr>
        <p:spPr>
          <a:xfrm>
            <a:off x="548640" y="3072384"/>
            <a:ext cx="2868290"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Quy mô thực nghiệm</a:t>
            </a:r>
            <a:endParaRPr lang="en-US" sz="1700" dirty="0"/>
          </a:p>
        </p:txBody>
      </p:sp>
      <p:sp>
        <p:nvSpPr>
          <p:cNvPr id="15" name="Khối 15"/>
          <p:cNvSpPr/>
          <p:nvPr/>
        </p:nvSpPr>
        <p:spPr>
          <a:xfrm>
            <a:off x="731520" y="3182112"/>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6" name="Khối 16"/>
          <p:cNvSpPr/>
          <p:nvPr/>
        </p:nvSpPr>
        <p:spPr>
          <a:xfrm>
            <a:off x="548640" y="3602736"/>
            <a:ext cx="3566160" cy="2651760"/>
          </a:xfrm>
          <a:prstGeom prst="roundRect">
            <a:avLst>
              <a:gd name="adj" fmla="val 551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7" name="Khối 17"/>
          <p:cNvSpPr txBox="1"/>
          <p:nvPr/>
        </p:nvSpPr>
        <p:spPr>
          <a:xfrm>
            <a:off x="768096" y="3840480"/>
            <a:ext cx="3127248" cy="22860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700" dirty="0">
                <a:solidFill>
                  <a:srgbClr val="1B2A4A"/>
                </a:solidFill>
                <a:latin typeface="Roboto" pitchFamily="34" charset="0"/>
                <a:ea typeface="Roboto" pitchFamily="34" charset="-122"/>
                <a:cs typeface="Roboto" pitchFamily="34" charset="-120"/>
              </a:rPr>
              <a:t>6 kỹ thuật FS × 3 mô hình = </a:t>
            </a:r>
            <a:r>
              <a:rPr lang="en-US" sz="1700" b="1" dirty="0">
                <a:solidFill>
                  <a:srgbClr val="0B3FB8"/>
                </a:solidFill>
                <a:latin typeface="Roboto" pitchFamily="34" charset="0"/>
                <a:ea typeface="Roboto" pitchFamily="34" charset="-122"/>
                <a:cs typeface="Roboto" pitchFamily="34" charset="-120"/>
              </a:rPr>
              <a:t>18 tổ hợp</a:t>
            </a:r>
            <a:r>
              <a:rPr lang="en-US" sz="1700" dirty="0">
                <a:solidFill>
                  <a:srgbClr val="1B2A4A"/>
                </a:solidFill>
                <a:latin typeface="Roboto" pitchFamily="34" charset="0"/>
                <a:ea typeface="Roboto" pitchFamily="34" charset="-122"/>
                <a:cs typeface="Roboto" pitchFamily="34" charset="-120"/>
              </a:rPr>
              <a:t>, mỗi tổ hợp chạy 5 fold.</a:t>
            </a:r>
            <a:endParaRPr lang="en-US" sz="1700" dirty="0"/>
          </a:p>
          <a:p>
            <a:pPr marL="228600" indent="-228600">
              <a:lnSpc>
                <a:spcPct val="108000"/>
              </a:lnSpc>
              <a:buSzPct val="100000"/>
              <a:buChar char="●"/>
            </a:pPr>
            <a:r>
              <a:rPr lang="en-US" sz="1700" dirty="0">
                <a:solidFill>
                  <a:srgbClr val="1B2A4A"/>
                </a:solidFill>
                <a:latin typeface="Roboto" pitchFamily="34" charset="0"/>
                <a:ea typeface="Roboto" pitchFamily="34" charset="-122"/>
                <a:cs typeface="Roboto" pitchFamily="34" charset="-120"/>
              </a:rPr>
              <a:t>Tập Test (20%) được giữ độc lập hoàn toàn, không tham gia vào quá trình chọn đặc trưng hay tinh chỉnh tham số.</a:t>
            </a:r>
            <a:endParaRPr lang="en-US" sz="1700" dirty="0"/>
          </a:p>
        </p:txBody>
      </p:sp>
      <p:sp>
        <p:nvSpPr>
          <p:cNvPr id="18" name="Khối 18"/>
          <p:cNvSpPr/>
          <p:nvPr/>
        </p:nvSpPr>
        <p:spPr>
          <a:xfrm>
            <a:off x="4311396" y="3072384"/>
            <a:ext cx="3353288"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Cấu hình mô hình cơ sở</a:t>
            </a:r>
            <a:endParaRPr lang="en-US" sz="1700" dirty="0"/>
          </a:p>
        </p:txBody>
      </p:sp>
      <p:sp>
        <p:nvSpPr>
          <p:cNvPr id="19" name="Khối 19"/>
          <p:cNvSpPr/>
          <p:nvPr/>
        </p:nvSpPr>
        <p:spPr>
          <a:xfrm>
            <a:off x="4494276" y="3182112"/>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20" name="Khối 20"/>
          <p:cNvSpPr/>
          <p:nvPr/>
        </p:nvSpPr>
        <p:spPr>
          <a:xfrm>
            <a:off x="4311396" y="3602736"/>
            <a:ext cx="3566160" cy="2651760"/>
          </a:xfrm>
          <a:prstGeom prst="roundRect">
            <a:avLst>
              <a:gd name="adj" fmla="val 551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1" name="Khối 21"/>
          <p:cNvSpPr txBox="1"/>
          <p:nvPr/>
        </p:nvSpPr>
        <p:spPr>
          <a:xfrm>
            <a:off x="4530852" y="3840480"/>
            <a:ext cx="3127248" cy="22860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700" b="1" dirty="0">
                <a:solidFill>
                  <a:srgbClr val="0B3FB8"/>
                </a:solidFill>
                <a:latin typeface="Roboto" pitchFamily="34" charset="0"/>
                <a:ea typeface="Roboto" pitchFamily="34" charset="-122"/>
                <a:cs typeface="Roboto" pitchFamily="34" charset="-120"/>
              </a:rPr>
              <a:t>SVM:</a:t>
            </a:r>
            <a:r>
              <a:rPr lang="en-US" sz="1700" dirty="0">
                <a:solidFill>
                  <a:srgbClr val="1B2A4A"/>
                </a:solidFill>
                <a:latin typeface="Roboto" pitchFamily="34" charset="0"/>
                <a:ea typeface="Roboto" pitchFamily="34" charset="-122"/>
                <a:cs typeface="Roboto" pitchFamily="34" charset="-120"/>
              </a:rPr>
              <a:t> </a:t>
            </a:r>
            <a:r>
              <a:rPr lang="en-US" sz="1700" dirty="0">
                <a:solidFill>
                  <a:srgbClr val="1F6BF0"/>
                </a:solidFill>
                <a:latin typeface="Roboto" pitchFamily="34" charset="0"/>
                <a:ea typeface="Roboto" pitchFamily="34" charset="-122"/>
                <a:cs typeface="Roboto" pitchFamily="34" charset="-120"/>
              </a:rPr>
              <a:t>SVR</a:t>
            </a:r>
            <a:r>
              <a:rPr lang="en-US" sz="1700" dirty="0">
                <a:solidFill>
                  <a:srgbClr val="1B2A4A"/>
                </a:solidFill>
                <a:latin typeface="Roboto" pitchFamily="34" charset="0"/>
                <a:ea typeface="Roboto" pitchFamily="34" charset="-122"/>
                <a:cs typeface="Roboto" pitchFamily="34" charset="-120"/>
              </a:rPr>
              <a:t> kernel RBF, C = 10, γ = scale.</a:t>
            </a:r>
            <a:endParaRPr lang="en-US" sz="1700" dirty="0"/>
          </a:p>
          <a:p>
            <a:pPr marL="228600" indent="-228600">
              <a:lnSpc>
                <a:spcPct val="108000"/>
              </a:lnSpc>
              <a:spcAft>
                <a:spcPts val="800"/>
              </a:spcAft>
              <a:buSzPct val="100000"/>
              <a:buChar char="●"/>
            </a:pPr>
            <a:r>
              <a:rPr lang="en-US" sz="1700" b="1" dirty="0">
                <a:solidFill>
                  <a:srgbClr val="0B3FB8"/>
                </a:solidFill>
                <a:latin typeface="Roboto" pitchFamily="34" charset="0"/>
                <a:ea typeface="Roboto" pitchFamily="34" charset="-122"/>
                <a:cs typeface="Roboto" pitchFamily="34" charset="-120"/>
              </a:rPr>
              <a:t>XGBoost:</a:t>
            </a:r>
            <a:r>
              <a:rPr lang="en-US" sz="1700" dirty="0">
                <a:solidFill>
                  <a:srgbClr val="1B2A4A"/>
                </a:solidFill>
                <a:latin typeface="Roboto" pitchFamily="34" charset="0"/>
                <a:ea typeface="Roboto" pitchFamily="34" charset="-122"/>
                <a:cs typeface="Roboto" pitchFamily="34" charset="-120"/>
              </a:rPr>
              <a:t> 300 cây, learning_rate = 0.05, max_depth = 4, subsample = 0.9.</a:t>
            </a:r>
            <a:endParaRPr lang="en-US" sz="1700" dirty="0"/>
          </a:p>
          <a:p>
            <a:pPr marL="228600" indent="-228600">
              <a:lnSpc>
                <a:spcPct val="108000"/>
              </a:lnSpc>
              <a:buSzPct val="100000"/>
              <a:buChar char="●"/>
            </a:pPr>
            <a:r>
              <a:rPr lang="en-US" sz="1700" b="1" dirty="0">
                <a:solidFill>
                  <a:srgbClr val="0B3FB8"/>
                </a:solidFill>
                <a:latin typeface="Roboto" pitchFamily="34" charset="0"/>
                <a:ea typeface="Roboto" pitchFamily="34" charset="-122"/>
                <a:cs typeface="Roboto" pitchFamily="34" charset="-120"/>
              </a:rPr>
              <a:t>RandomForest:</a:t>
            </a:r>
            <a:r>
              <a:rPr lang="en-US" sz="1700" dirty="0">
                <a:solidFill>
                  <a:srgbClr val="1B2A4A"/>
                </a:solidFill>
                <a:latin typeface="Roboto" pitchFamily="34" charset="0"/>
                <a:ea typeface="Roboto" pitchFamily="34" charset="-122"/>
                <a:cs typeface="Roboto" pitchFamily="34" charset="-120"/>
              </a:rPr>
              <a:t> 300 cây.</a:t>
            </a:r>
            <a:endParaRPr lang="en-US" sz="1700" dirty="0"/>
          </a:p>
        </p:txBody>
      </p:sp>
      <p:sp>
        <p:nvSpPr>
          <p:cNvPr id="22" name="Khối 22"/>
          <p:cNvSpPr/>
          <p:nvPr/>
        </p:nvSpPr>
        <p:spPr>
          <a:xfrm>
            <a:off x="8074152" y="3072384"/>
            <a:ext cx="2747040"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Thước đo đánh giá</a:t>
            </a:r>
            <a:endParaRPr lang="en-US" sz="1700" dirty="0"/>
          </a:p>
        </p:txBody>
      </p:sp>
      <p:sp>
        <p:nvSpPr>
          <p:cNvPr id="23" name="Khối 23"/>
          <p:cNvSpPr/>
          <p:nvPr/>
        </p:nvSpPr>
        <p:spPr>
          <a:xfrm>
            <a:off x="8257032" y="3182112"/>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24" name="Khối 24"/>
          <p:cNvSpPr/>
          <p:nvPr/>
        </p:nvSpPr>
        <p:spPr>
          <a:xfrm>
            <a:off x="8074152" y="3602736"/>
            <a:ext cx="3566160" cy="2651760"/>
          </a:xfrm>
          <a:prstGeom prst="roundRect">
            <a:avLst>
              <a:gd name="adj" fmla="val 551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5" name="Khối 25"/>
          <p:cNvSpPr txBox="1"/>
          <p:nvPr/>
        </p:nvSpPr>
        <p:spPr>
          <a:xfrm>
            <a:off x="8293608" y="3840480"/>
            <a:ext cx="3127248" cy="22860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700" b="1" dirty="0">
                <a:solidFill>
                  <a:srgbClr val="0B3FB8"/>
                </a:solidFill>
                <a:latin typeface="Roboto" pitchFamily="34" charset="0"/>
                <a:ea typeface="Roboto" pitchFamily="34" charset="-122"/>
                <a:cs typeface="Roboto" pitchFamily="34" charset="-120"/>
              </a:rPr>
              <a:t>Thang Log:</a:t>
            </a:r>
            <a:r>
              <a:rPr lang="en-US" sz="1700" dirty="0">
                <a:solidFill>
                  <a:srgbClr val="1B2A4A"/>
                </a:solidFill>
                <a:latin typeface="Roboto" pitchFamily="34" charset="0"/>
                <a:ea typeface="Roboto" pitchFamily="34" charset="-122"/>
                <a:cs typeface="Roboto" pitchFamily="34" charset="-120"/>
              </a:rPr>
              <a:t> RMSE, R².</a:t>
            </a:r>
            <a:endParaRPr lang="en-US" sz="1700" dirty="0"/>
          </a:p>
          <a:p>
            <a:pPr marL="228600" indent="-228600">
              <a:lnSpc>
                <a:spcPct val="108000"/>
              </a:lnSpc>
              <a:buSzPct val="100000"/>
              <a:buChar char="●"/>
            </a:pPr>
            <a:r>
              <a:rPr lang="en-US" sz="1700" b="1" dirty="0">
                <a:solidFill>
                  <a:srgbClr val="0B3FB8"/>
                </a:solidFill>
                <a:latin typeface="Roboto" pitchFamily="34" charset="0"/>
                <a:ea typeface="Roboto" pitchFamily="34" charset="-122"/>
                <a:cs typeface="Roboto" pitchFamily="34" charset="-120"/>
              </a:rPr>
              <a:t>Thang USD (quy đổi qua expm1):</a:t>
            </a:r>
            <a:r>
              <a:rPr lang="en-US" sz="1700" dirty="0">
                <a:solidFill>
                  <a:srgbClr val="1B2A4A"/>
                </a:solidFill>
                <a:latin typeface="Roboto" pitchFamily="34" charset="0"/>
                <a:ea typeface="Roboto" pitchFamily="34" charset="-122"/>
                <a:cs typeface="Roboto" pitchFamily="34" charset="-120"/>
              </a:rPr>
              <a:t> MAE, RMSE.</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10" presetClass="entr" presetSubtype="0" fill="hold" grpId="0" nodeType="withEffect">
                                  <p:stCondLst>
                                    <p:cond delay="7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22" presetClass="entr" presetSubtype="8" fill="hold" grpId="0" nodeType="withEffect">
                                  <p:stCondLst>
                                    <p:cond delay="8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anim calcmode="lin" valueType="num">
                                      <p:cBhvr additive="base">
                                        <p:cTn id="31" dur="600" fill="hold"/>
                                        <p:tgtEl>
                                          <p:spTgt spid="11"/>
                                        </p:tgtEl>
                                        <p:attrNameLst>
                                          <p:attrName>ppt_x</p:attrName>
                                        </p:attrNameLst>
                                      </p:cBhvr>
                                      <p:tavLst>
                                        <p:tav tm="0">
                                          <p:val>
                                            <p:strVal val="#ppt_x"/>
                                          </p:val>
                                        </p:tav>
                                        <p:tav tm="100000">
                                          <p:val>
                                            <p:strVal val="#ppt_x"/>
                                          </p:val>
                                        </p:tav>
                                      </p:tavLst>
                                    </p:anim>
                                    <p:anim calcmode="lin" valueType="num">
                                      <p:cBhvr additive="base">
                                        <p:cTn id="32" dur="600" fill="hold"/>
                                        <p:tgtEl>
                                          <p:spTgt spid="11"/>
                                        </p:tgtEl>
                                        <p:attrNameLst>
                                          <p:attrName>ppt_y</p:attrName>
                                        </p:attrNameLst>
                                      </p:cBhvr>
                                      <p:tavLst>
                                        <p:tav tm="0">
                                          <p:val>
                                            <p:strVal val="#ppt_y+.1"/>
                                          </p:val>
                                        </p:tav>
                                        <p:tav tm="100000">
                                          <p:val>
                                            <p:strVal val="#ppt_y"/>
                                          </p:val>
                                        </p:tav>
                                      </p:tavLst>
                                    </p:anim>
                                  </p:childTnLst>
                                </p:cTn>
                              </p:par>
                              <p:par>
                                <p:cTn id="33" presetID="53" presetClass="entr" presetSubtype="16" fill="hold" nodeType="withEffect">
                                  <p:stCondLst>
                                    <p:cond delay="10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anim calcmode="lin" valueType="num">
                                      <p:cBhvr additive="base">
                                        <p:cTn id="41" dur="600" fill="hold"/>
                                        <p:tgtEl>
                                          <p:spTgt spid="13"/>
                                        </p:tgtEl>
                                        <p:attrNameLst>
                                          <p:attrName>ppt_x</p:attrName>
                                        </p:attrNameLst>
                                      </p:cBhvr>
                                      <p:tavLst>
                                        <p:tav tm="0">
                                          <p:val>
                                            <p:strVal val="#ppt_x"/>
                                          </p:val>
                                        </p:tav>
                                        <p:tav tm="100000">
                                          <p:val>
                                            <p:strVal val="#ppt_x"/>
                                          </p:val>
                                        </p:tav>
                                      </p:tavLst>
                                    </p:anim>
                                    <p:anim calcmode="lin" valueType="num">
                                      <p:cBhvr additive="base">
                                        <p:cTn id="42" dur="6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10" presetClass="entr" presetSubtype="0" fill="hold" grpId="0" nodeType="withEffect">
                                  <p:stCondLst>
                                    <p:cond delay="15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42" presetClass="entr" presetSubtype="0" fill="hold" grpId="0" nodeType="withEffect">
                                  <p:stCondLst>
                                    <p:cond delay="15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600"/>
                                        <p:tgtEl>
                                          <p:spTgt spid="16"/>
                                        </p:tgtEl>
                                      </p:cBhvr>
                                    </p:animEffect>
                                    <p:anim calcmode="lin" valueType="num">
                                      <p:cBhvr additive="base">
                                        <p:cTn id="54" dur="600" fill="hold"/>
                                        <p:tgtEl>
                                          <p:spTgt spid="16"/>
                                        </p:tgtEl>
                                        <p:attrNameLst>
                                          <p:attrName>ppt_x</p:attrName>
                                        </p:attrNameLst>
                                      </p:cBhvr>
                                      <p:tavLst>
                                        <p:tav tm="0">
                                          <p:val>
                                            <p:strVal val="#ppt_x"/>
                                          </p:val>
                                        </p:tav>
                                        <p:tav tm="100000">
                                          <p:val>
                                            <p:strVal val="#ppt_x"/>
                                          </p:val>
                                        </p:tav>
                                      </p:tavLst>
                                    </p:anim>
                                    <p:anim calcmode="lin" valueType="num">
                                      <p:cBhvr additive="base">
                                        <p:cTn id="55" dur="6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15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anim calcmode="lin" valueType="num">
                                      <p:cBhvr additive="base">
                                        <p:cTn id="59" dur="600" fill="hold"/>
                                        <p:tgtEl>
                                          <p:spTgt spid="17"/>
                                        </p:tgtEl>
                                        <p:attrNameLst>
                                          <p:attrName>ppt_x</p:attrName>
                                        </p:attrNameLst>
                                      </p:cBhvr>
                                      <p:tavLst>
                                        <p:tav tm="0">
                                          <p:val>
                                            <p:strVal val="#ppt_x"/>
                                          </p:val>
                                        </p:tav>
                                        <p:tav tm="100000">
                                          <p:val>
                                            <p:strVal val="#ppt_x"/>
                                          </p:val>
                                        </p:tav>
                                      </p:tavLst>
                                    </p:anim>
                                    <p:anim calcmode="lin" valueType="num">
                                      <p:cBhvr additive="base">
                                        <p:cTn id="60" dur="6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left)">
                                      <p:cBhvr>
                                        <p:cTn id="65" dur="500"/>
                                        <p:tgtEl>
                                          <p:spTgt spid="18"/>
                                        </p:tgtEl>
                                      </p:cBhvr>
                                    </p:animEffect>
                                  </p:childTnLst>
                                </p:cTn>
                              </p:par>
                              <p:par>
                                <p:cTn id="66" presetID="10" presetClass="entr" presetSubtype="0" fill="hold" grpId="0" nodeType="withEffect">
                                  <p:stCondLst>
                                    <p:cond delay="15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42" presetClass="entr" presetSubtype="0" fill="hold" grpId="0" nodeType="withEffect">
                                  <p:stCondLst>
                                    <p:cond delay="15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anim calcmode="lin" valueType="num">
                                      <p:cBhvr additive="base">
                                        <p:cTn id="72" dur="600" fill="hold"/>
                                        <p:tgtEl>
                                          <p:spTgt spid="20"/>
                                        </p:tgtEl>
                                        <p:attrNameLst>
                                          <p:attrName>ppt_x</p:attrName>
                                        </p:attrNameLst>
                                      </p:cBhvr>
                                      <p:tavLst>
                                        <p:tav tm="0">
                                          <p:val>
                                            <p:strVal val="#ppt_x"/>
                                          </p:val>
                                        </p:tav>
                                        <p:tav tm="100000">
                                          <p:val>
                                            <p:strVal val="#ppt_x"/>
                                          </p:val>
                                        </p:tav>
                                      </p:tavLst>
                                    </p:anim>
                                    <p:anim calcmode="lin" valueType="num">
                                      <p:cBhvr additive="base">
                                        <p:cTn id="73" dur="600" fill="hold"/>
                                        <p:tgtEl>
                                          <p:spTgt spid="20"/>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15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600"/>
                                        <p:tgtEl>
                                          <p:spTgt spid="21"/>
                                        </p:tgtEl>
                                      </p:cBhvr>
                                    </p:animEffect>
                                    <p:anim calcmode="lin" valueType="num">
                                      <p:cBhvr additive="base">
                                        <p:cTn id="77" dur="600" fill="hold"/>
                                        <p:tgtEl>
                                          <p:spTgt spid="21"/>
                                        </p:tgtEl>
                                        <p:attrNameLst>
                                          <p:attrName>ppt_x</p:attrName>
                                        </p:attrNameLst>
                                      </p:cBhvr>
                                      <p:tavLst>
                                        <p:tav tm="0">
                                          <p:val>
                                            <p:strVal val="#ppt_x"/>
                                          </p:val>
                                        </p:tav>
                                        <p:tav tm="100000">
                                          <p:val>
                                            <p:strVal val="#ppt_x"/>
                                          </p:val>
                                        </p:tav>
                                      </p:tavLst>
                                    </p:anim>
                                    <p:anim calcmode="lin" valueType="num">
                                      <p:cBhvr additive="base">
                                        <p:cTn id="78" dur="6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wipe(left)">
                                      <p:cBhvr>
                                        <p:cTn id="83" dur="500"/>
                                        <p:tgtEl>
                                          <p:spTgt spid="22"/>
                                        </p:tgtEl>
                                      </p:cBhvr>
                                    </p:animEffect>
                                  </p:childTnLst>
                                </p:cTn>
                              </p:par>
                              <p:par>
                                <p:cTn id="84" presetID="10" presetClass="entr" presetSubtype="0" fill="hold" grpId="0" nodeType="withEffect">
                                  <p:stCondLst>
                                    <p:cond delay="15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childTnLst>
                                </p:cTn>
                              </p:par>
                              <p:par>
                                <p:cTn id="87" presetID="42" presetClass="entr" presetSubtype="0" fill="hold" grpId="0" nodeType="withEffect">
                                  <p:stCondLst>
                                    <p:cond delay="15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600"/>
                                        <p:tgtEl>
                                          <p:spTgt spid="24"/>
                                        </p:tgtEl>
                                      </p:cBhvr>
                                    </p:animEffect>
                                    <p:anim calcmode="lin" valueType="num">
                                      <p:cBhvr additive="base">
                                        <p:cTn id="90" dur="600" fill="hold"/>
                                        <p:tgtEl>
                                          <p:spTgt spid="24"/>
                                        </p:tgtEl>
                                        <p:attrNameLst>
                                          <p:attrName>ppt_x</p:attrName>
                                        </p:attrNameLst>
                                      </p:cBhvr>
                                      <p:tavLst>
                                        <p:tav tm="0">
                                          <p:val>
                                            <p:strVal val="#ppt_x"/>
                                          </p:val>
                                        </p:tav>
                                        <p:tav tm="100000">
                                          <p:val>
                                            <p:strVal val="#ppt_x"/>
                                          </p:val>
                                        </p:tav>
                                      </p:tavLst>
                                    </p:anim>
                                    <p:anim calcmode="lin" valueType="num">
                                      <p:cBhvr additive="base">
                                        <p:cTn id="91" dur="600" fill="hold"/>
                                        <p:tgtEl>
                                          <p:spTgt spid="24"/>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15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600"/>
                                        <p:tgtEl>
                                          <p:spTgt spid="25"/>
                                        </p:tgtEl>
                                      </p:cBhvr>
                                    </p:animEffect>
                                    <p:anim calcmode="lin" valueType="num">
                                      <p:cBhvr additive="base">
                                        <p:cTn id="95" dur="600" fill="hold"/>
                                        <p:tgtEl>
                                          <p:spTgt spid="25"/>
                                        </p:tgtEl>
                                        <p:attrNameLst>
                                          <p:attrName>ppt_x</p:attrName>
                                        </p:attrNameLst>
                                      </p:cBhvr>
                                      <p:tavLst>
                                        <p:tav tm="0">
                                          <p:val>
                                            <p:strVal val="#ppt_x"/>
                                          </p:val>
                                        </p:tav>
                                        <p:tav tm="100000">
                                          <p:val>
                                            <p:strVal val="#ppt_x"/>
                                          </p:val>
                                        </p:tav>
                                      </p:tavLst>
                                    </p:anim>
                                    <p:anim calcmode="lin" valueType="num">
                                      <p:cBhvr additive="base">
                                        <p:cTn id="96"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KẾT QUẢ 5-FOLD CV: SO SÁNH FEATURE SELECTION</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10 / 14</a:t>
            </a:r>
            <a:endParaRPr lang="en-US" sz="1100" dirty="0"/>
          </a:p>
        </p:txBody>
      </p:sp>
      <p:graphicFrame>
        <p:nvGraphicFramePr>
          <p:cNvPr id="4" name="Bảng 4"/>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847088"/>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404872">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475488">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Mô hình</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FS tốt nhất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RMSE (Log) ± Std</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MAE ($)</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RMSE ($)</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R²</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457200">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SVM</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B2A4A"/>
                          </a:solidFill>
                          <a:latin typeface="Roboto" pitchFamily="34" charset="0"/>
                          <a:ea typeface="Roboto" pitchFamily="34" charset="-122"/>
                          <a:cs typeface="Roboto" pitchFamily="34" charset="-120"/>
                        </a:rPr>
                        <a:t>Lasso (L1)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0.115 ± 0.008</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14,500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22,100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0.90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XGBoost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700" dirty="0">
                          <a:solidFill>
                            <a:srgbClr val="1B2A4A"/>
                          </a:solidFill>
                          <a:latin typeface="Roboto" pitchFamily="34" charset="0"/>
                          <a:ea typeface="Roboto" pitchFamily="34" charset="-122"/>
                          <a:cs typeface="Roboto" pitchFamily="34" charset="-120"/>
                        </a:rPr>
                        <a:t>RFE</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0.120 ± 0.005</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15,200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23,500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0.88</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457200">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RandomForest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B2A4A"/>
                          </a:solidFill>
                          <a:latin typeface="Roboto" pitchFamily="34" charset="0"/>
                          <a:ea typeface="Roboto" pitchFamily="34" charset="-122"/>
                          <a:cs typeface="Roboto" pitchFamily="34" charset="-120"/>
                        </a:rPr>
                        <a:t>Mutual Info</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0.135 ± 0.007</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16,800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26,400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0.85</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Khối 5"/>
          <p:cNvSpPr/>
          <p:nvPr/>
        </p:nvSpPr>
        <p:spPr>
          <a:xfrm>
            <a:off x="548640" y="3364992"/>
            <a:ext cx="2868290"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Nhận xét chi tiết</a:t>
            </a:r>
            <a:endParaRPr lang="en-US" sz="1800" dirty="0"/>
          </a:p>
        </p:txBody>
      </p:sp>
      <p:sp>
        <p:nvSpPr>
          <p:cNvPr id="6" name="Khối 6"/>
          <p:cNvSpPr/>
          <p:nvPr/>
        </p:nvSpPr>
        <p:spPr>
          <a:xfrm>
            <a:off x="731520" y="3474720"/>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7" name="Khối 7"/>
          <p:cNvSpPr/>
          <p:nvPr/>
        </p:nvSpPr>
        <p:spPr>
          <a:xfrm>
            <a:off x="548640" y="3904488"/>
            <a:ext cx="11094415" cy="2359152"/>
          </a:xfrm>
          <a:prstGeom prst="roundRect">
            <a:avLst>
              <a:gd name="adj" fmla="val 620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8" name="Hình 8" descr="preencoded.png"/>
          <p:cNvPicPr>
            <a:picLocks noChangeAspect="1"/>
          </p:cNvPicPr>
          <p:nvPr/>
        </p:nvPicPr>
        <p:blipFill>
          <a:blip r:embed="rId4"/>
          <a:stretch>
            <a:fillRect/>
          </a:stretch>
        </p:blipFill>
        <p:spPr>
          <a:xfrm>
            <a:off x="10865815" y="3630168"/>
            <a:ext cx="548640" cy="548640"/>
          </a:xfrm>
          <a:prstGeom prst="rect">
            <a:avLst/>
          </a:prstGeom>
        </p:spPr>
      </p:pic>
      <p:sp>
        <p:nvSpPr>
          <p:cNvPr id="9" name="Khối 9"/>
          <p:cNvSpPr txBox="1"/>
          <p:nvPr/>
        </p:nvSpPr>
        <p:spPr>
          <a:xfrm>
            <a:off x="804672" y="3977640"/>
            <a:ext cx="10582351" cy="2212848"/>
          </a:xfrm>
          <a:prstGeom prst="rect">
            <a:avLst/>
          </a:prstGeom>
          <a:noFill/>
          <a:ln/>
        </p:spPr>
        <p:txBody>
          <a:bodyPr wrap="square" lIns="0" tIns="0" rIns="0" bIns="0" rtlCol="0" anchor="ctr"/>
          <a:lstStyle/>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Hiệu quả so với Baseline:</a:t>
            </a:r>
            <a:r>
              <a:rPr lang="en-US" sz="1600" dirty="0">
                <a:solidFill>
                  <a:srgbClr val="1B2A4A"/>
                </a:solidFill>
                <a:latin typeface="Roboto" pitchFamily="34" charset="0"/>
                <a:ea typeface="Roboto" pitchFamily="34" charset="-122"/>
                <a:cs typeface="Roboto" pitchFamily="34" charset="-120"/>
              </a:rPr>
              <a:t> Lasso và RFE đánh bại Baseline rõ rệt trên các mô hình SVM và XGBoost.</a:t>
            </a:r>
            <a:endParaRPr lang="en-US" sz="1600" dirty="0"/>
          </a:p>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Mô hình hưởng lợi nhiều nhất:</a:t>
            </a:r>
            <a:r>
              <a:rPr lang="en-US" sz="1600" dirty="0">
                <a:solidFill>
                  <a:srgbClr val="1B2A4A"/>
                </a:solidFill>
                <a:latin typeface="Roboto" pitchFamily="34" charset="0"/>
                <a:ea typeface="Roboto" pitchFamily="34" charset="-122"/>
                <a:cs typeface="Roboto" pitchFamily="34" charset="-120"/>
              </a:rPr>
              <a:t> SVM cải thiện vượt bậc (giảm gần 15% RMSE so với Baseline nhờ loại bỏ nhiễu từ các không gian chiều cao).</a:t>
            </a:r>
            <a:endParaRPr lang="en-US" sz="1600" dirty="0"/>
          </a:p>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Độ ổn định:</a:t>
            </a:r>
            <a:r>
              <a:rPr lang="en-US" sz="1600" dirty="0">
                <a:solidFill>
                  <a:srgbClr val="1B2A4A"/>
                </a:solidFill>
                <a:latin typeface="Roboto" pitchFamily="34" charset="0"/>
                <a:ea typeface="Roboto" pitchFamily="34" charset="-122"/>
                <a:cs typeface="Roboto" pitchFamily="34" charset="-120"/>
              </a:rPr>
              <a:t> RFE kết hợp XGBoost đạt độ ổn định cao nhất qua các fold (Std = 0.005).</a:t>
            </a:r>
            <a:endParaRPr lang="en-US" sz="1600" dirty="0"/>
          </a:p>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Đặc trưng cốt lõi:</a:t>
            </a:r>
            <a:r>
              <a:rPr lang="en-US" sz="1600" dirty="0">
                <a:solidFill>
                  <a:srgbClr val="1B2A4A"/>
                </a:solidFill>
                <a:latin typeface="Roboto" pitchFamily="34" charset="0"/>
                <a:ea typeface="Roboto" pitchFamily="34" charset="-122"/>
                <a:cs typeface="Roboto" pitchFamily="34" charset="-120"/>
              </a:rPr>
              <a:t> Các biến được đa số kỹ thuật lựa chọn bao gồm </a:t>
            </a:r>
            <a:r>
              <a:rPr lang="en-US" sz="1600" dirty="0">
                <a:solidFill>
                  <a:srgbClr val="1F6BF0"/>
                </a:solidFill>
                <a:latin typeface="Roboto" pitchFamily="34" charset="0"/>
                <a:ea typeface="Roboto" pitchFamily="34" charset="-122"/>
                <a:cs typeface="Roboto" pitchFamily="34" charset="-120"/>
              </a:rPr>
              <a:t>TotalSF</a:t>
            </a:r>
            <a:r>
              <a:rPr lang="en-US" sz="1600" dirty="0">
                <a:solidFill>
                  <a:srgbClr val="1B2A4A"/>
                </a:solidFill>
                <a:latin typeface="Roboto" pitchFamily="34" charset="0"/>
                <a:ea typeface="Roboto" pitchFamily="34" charset="-122"/>
                <a:cs typeface="Roboto" pitchFamily="34" charset="-120"/>
              </a:rPr>
              <a:t>, </a:t>
            </a:r>
            <a:r>
              <a:rPr lang="en-US" sz="1600" dirty="0">
                <a:solidFill>
                  <a:srgbClr val="1F6BF0"/>
                </a:solidFill>
                <a:latin typeface="Roboto" pitchFamily="34" charset="0"/>
                <a:ea typeface="Roboto" pitchFamily="34" charset="-122"/>
                <a:cs typeface="Roboto" pitchFamily="34" charset="-120"/>
              </a:rPr>
              <a:t>OverallQual</a:t>
            </a:r>
            <a:r>
              <a:rPr lang="en-US" sz="1600" dirty="0">
                <a:solidFill>
                  <a:srgbClr val="1B2A4A"/>
                </a:solidFill>
                <a:latin typeface="Roboto" pitchFamily="34" charset="0"/>
                <a:ea typeface="Roboto" pitchFamily="34" charset="-122"/>
                <a:cs typeface="Roboto" pitchFamily="34" charset="-120"/>
              </a:rPr>
              <a:t>, </a:t>
            </a:r>
            <a:r>
              <a:rPr lang="en-US" sz="1600" dirty="0">
                <a:solidFill>
                  <a:srgbClr val="1F6BF0"/>
                </a:solidFill>
                <a:latin typeface="Roboto" pitchFamily="34" charset="0"/>
                <a:ea typeface="Roboto" pitchFamily="34" charset="-122"/>
                <a:cs typeface="Roboto" pitchFamily="34" charset="-120"/>
              </a:rPr>
              <a:t>GrLivArea</a:t>
            </a:r>
            <a:r>
              <a:rPr lang="en-US" sz="1600" dirty="0">
                <a:solidFill>
                  <a:srgbClr val="1B2A4A"/>
                </a:solidFill>
                <a:latin typeface="Roboto" pitchFamily="34" charset="0"/>
                <a:ea typeface="Roboto" pitchFamily="34" charset="-122"/>
                <a:cs typeface="Roboto" pitchFamily="34" charset="-120"/>
              </a:rPr>
              <a:t>, </a:t>
            </a:r>
            <a:r>
              <a:rPr lang="en-US" sz="1600" dirty="0">
                <a:solidFill>
                  <a:srgbClr val="1F6BF0"/>
                </a:solidFill>
                <a:latin typeface="Roboto" pitchFamily="34" charset="0"/>
                <a:ea typeface="Roboto" pitchFamily="34" charset="-122"/>
                <a:cs typeface="Roboto" pitchFamily="34" charset="-120"/>
              </a:rPr>
              <a:t>YearBuilt</a:t>
            </a:r>
            <a:r>
              <a:rPr lang="en-US" sz="1600" dirty="0">
                <a:solidFill>
                  <a:srgbClr val="1B2A4A"/>
                </a:solidFill>
                <a:latin typeface="Roboto" pitchFamily="34" charset="0"/>
                <a:ea typeface="Roboto" pitchFamily="34" charset="-122"/>
                <a:cs typeface="Roboto" pitchFamily="34" charset="-120"/>
              </a:rPr>
              <a:t>.</a:t>
            </a:r>
            <a:endParaRPr lang="en-US" sz="1600" dirty="0"/>
          </a:p>
          <a:p>
            <a:pPr marL="215900" indent="-215900">
              <a:lnSpc>
                <a:spcPct val="108000"/>
              </a:lnSpc>
              <a:buSzPct val="100000"/>
              <a:buChar char="●"/>
            </a:pPr>
            <a:r>
              <a:rPr lang="en-US" sz="1600" b="1" dirty="0">
                <a:solidFill>
                  <a:srgbClr val="0B3FB8"/>
                </a:solidFill>
                <a:latin typeface="Roboto" pitchFamily="34" charset="0"/>
                <a:ea typeface="Roboto" pitchFamily="34" charset="-122"/>
                <a:cs typeface="Roboto" pitchFamily="34" charset="-120"/>
              </a:rPr>
              <a:t>Top đặc trưng theo |Pearson r| với LogSalePrice:</a:t>
            </a:r>
            <a:r>
              <a:rPr lang="en-US" sz="1600" dirty="0">
                <a:solidFill>
                  <a:srgbClr val="1B2A4A"/>
                </a:solidFill>
                <a:latin typeface="Roboto" pitchFamily="34" charset="0"/>
                <a:ea typeface="Roboto" pitchFamily="34" charset="-122"/>
                <a:cs typeface="Roboto" pitchFamily="34" charset="-120"/>
              </a:rPr>
              <a:t> </a:t>
            </a:r>
            <a:r>
              <a:rPr lang="en-US" sz="1600" dirty="0">
                <a:solidFill>
                  <a:srgbClr val="1F6BF0"/>
                </a:solidFill>
                <a:latin typeface="Roboto" pitchFamily="34" charset="0"/>
                <a:ea typeface="Roboto" pitchFamily="34" charset="-122"/>
                <a:cs typeface="Roboto" pitchFamily="34" charset="-120"/>
              </a:rPr>
              <a:t>OverallQual</a:t>
            </a:r>
            <a:r>
              <a:rPr lang="en-US" sz="1600" dirty="0">
                <a:solidFill>
                  <a:srgbClr val="1B2A4A"/>
                </a:solidFill>
                <a:latin typeface="Roboto" pitchFamily="34" charset="0"/>
                <a:ea typeface="Roboto" pitchFamily="34" charset="-122"/>
                <a:cs typeface="Roboto" pitchFamily="34" charset="-120"/>
              </a:rPr>
              <a:t> (0.82), </a:t>
            </a:r>
            <a:r>
              <a:rPr lang="en-US" sz="1600" dirty="0">
                <a:solidFill>
                  <a:srgbClr val="1F6BF0"/>
                </a:solidFill>
                <a:latin typeface="Roboto" pitchFamily="34" charset="0"/>
                <a:ea typeface="Roboto" pitchFamily="34" charset="-122"/>
                <a:cs typeface="Roboto" pitchFamily="34" charset="-120"/>
              </a:rPr>
              <a:t>TotalSF</a:t>
            </a:r>
            <a:r>
              <a:rPr lang="en-US" sz="1600" dirty="0">
                <a:solidFill>
                  <a:srgbClr val="1B2A4A"/>
                </a:solidFill>
                <a:latin typeface="Roboto" pitchFamily="34" charset="0"/>
                <a:ea typeface="Roboto" pitchFamily="34" charset="-122"/>
                <a:cs typeface="Roboto" pitchFamily="34" charset="-120"/>
              </a:rPr>
              <a:t> (0.78), </a:t>
            </a:r>
            <a:r>
              <a:rPr lang="en-US" sz="1600" dirty="0">
                <a:solidFill>
                  <a:srgbClr val="1F6BF0"/>
                </a:solidFill>
                <a:latin typeface="Roboto" pitchFamily="34" charset="0"/>
                <a:ea typeface="Roboto" pitchFamily="34" charset="-122"/>
                <a:cs typeface="Roboto" pitchFamily="34" charset="-120"/>
              </a:rPr>
              <a:t>GrLivArea</a:t>
            </a:r>
            <a:r>
              <a:rPr lang="en-US" sz="1600" dirty="0">
                <a:solidFill>
                  <a:srgbClr val="1B2A4A"/>
                </a:solidFill>
                <a:latin typeface="Roboto" pitchFamily="34" charset="0"/>
                <a:ea typeface="Roboto" pitchFamily="34" charset="-122"/>
                <a:cs typeface="Roboto" pitchFamily="34" charset="-120"/>
              </a:rPr>
              <a:t> (0.73).</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10" presetClass="entr" presetSubtype="0" fill="hold" grpId="0" nodeType="withEffect">
                                  <p:stCondLst>
                                    <p:cond delay="1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42" presetClass="entr" presetSubtype="0" fill="hold" grpId="0" nodeType="withEffect">
                                  <p:stCondLst>
                                    <p:cond delay="1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53" presetClass="entr" presetSubtype="16" fill="hold" nodeType="withEffect">
                                  <p:stCondLst>
                                    <p:cond delay="25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fltVal val="0"/>
                                          </p:val>
                                        </p:tav>
                                        <p:tav tm="100000">
                                          <p:val>
                                            <p:strVal val="#ppt_w"/>
                                          </p:val>
                                        </p:tav>
                                      </p:tavLst>
                                    </p:anim>
                                    <p:anim calcmode="lin" valueType="num">
                                      <p:cBhvr>
                                        <p:cTn id="24" dur="500" fill="hold"/>
                                        <p:tgtEl>
                                          <p:spTgt spid="8"/>
                                        </p:tgtEl>
                                        <p:attrNameLst>
                                          <p:attrName>ppt_h</p:attrName>
                                        </p:attrNameLst>
                                      </p:cBhvr>
                                      <p:tavLst>
                                        <p:tav tm="0">
                                          <p:val>
                                            <p:fltVal val="0"/>
                                          </p:val>
                                        </p:tav>
                                        <p:tav tm="100000">
                                          <p:val>
                                            <p:strVal val="#ppt_h"/>
                                          </p:val>
                                        </p:tav>
                                      </p:tavLst>
                                    </p:anim>
                                    <p:animEffect transition="in" filter="fade">
                                      <p:cBhvr>
                                        <p:cTn id="25" dur="500"/>
                                        <p:tgtEl>
                                          <p:spTgt spid="8"/>
                                        </p:tgtEl>
                                      </p:cBhvr>
                                    </p:animEffect>
                                  </p:childTnLst>
                                </p:cTn>
                              </p:par>
                              <p:par>
                                <p:cTn id="26" presetID="42" presetClass="entr" presetSubtype="0" fill="hold" grpId="0" nodeType="withEffect">
                                  <p:stCondLst>
                                    <p:cond delay="1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TINH CHỈNH SIÊU THAM SỐ (GRIDSEARCHCV)</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11 / 14</a:t>
            </a:r>
            <a:endParaRPr lang="en-US" sz="1100" dirty="0"/>
          </a:p>
        </p:txBody>
      </p:sp>
      <p:sp>
        <p:nvSpPr>
          <p:cNvPr id="4" name="Khối 4"/>
          <p:cNvSpPr/>
          <p:nvPr/>
        </p:nvSpPr>
        <p:spPr>
          <a:xfrm>
            <a:off x="548640" y="1325880"/>
            <a:ext cx="11094415" cy="960120"/>
          </a:xfrm>
          <a:prstGeom prst="roundRect">
            <a:avLst>
              <a:gd name="adj" fmla="val 15238"/>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5" name="Hình 5" descr="preencoded.png"/>
          <p:cNvPicPr>
            <a:picLocks noChangeAspect="1"/>
          </p:cNvPicPr>
          <p:nvPr/>
        </p:nvPicPr>
        <p:blipFill>
          <a:blip r:embed="rId4"/>
          <a:stretch>
            <a:fillRect/>
          </a:stretch>
        </p:blipFill>
        <p:spPr>
          <a:xfrm>
            <a:off x="749808" y="1554480"/>
            <a:ext cx="502920" cy="502920"/>
          </a:xfrm>
          <a:prstGeom prst="rect">
            <a:avLst/>
          </a:prstGeom>
        </p:spPr>
      </p:pic>
      <p:sp>
        <p:nvSpPr>
          <p:cNvPr id="6" name="Khối 6"/>
          <p:cNvSpPr txBox="1"/>
          <p:nvPr/>
        </p:nvSpPr>
        <p:spPr>
          <a:xfrm>
            <a:off x="1463040" y="1371600"/>
            <a:ext cx="9997135" cy="868680"/>
          </a:xfrm>
          <a:prstGeom prst="rect">
            <a:avLst/>
          </a:prstGeom>
          <a:noFill/>
          <a:ln/>
        </p:spPr>
        <p:txBody>
          <a:bodyPr wrap="square" lIns="0" tIns="0" rIns="0" bIns="0" rtlCol="0" anchor="ctr"/>
          <a:lstStyle/>
          <a:p>
            <a:pPr marL="241300" indent="-241300">
              <a:lnSpc>
                <a:spcPct val="108000"/>
              </a:lnSpc>
              <a:spcAft>
                <a:spcPts val="500"/>
              </a:spcAft>
              <a:buSzPct val="100000"/>
              <a:buChar char="●"/>
            </a:pPr>
            <a:r>
              <a:rPr lang="en-US" sz="1800" dirty="0">
                <a:solidFill>
                  <a:srgbClr val="1B2A4A"/>
                </a:solidFill>
                <a:latin typeface="Roboto" pitchFamily="34" charset="0"/>
                <a:ea typeface="Roboto" pitchFamily="34" charset="-122"/>
                <a:cs typeface="Roboto" pitchFamily="34" charset="-120"/>
              </a:rPr>
              <a:t>Mỗi mô hình sử dụng kỹ thuật FS đạt hiệu quả tốt nhất của chính nó từ bước CV.</a:t>
            </a:r>
            <a:endParaRPr lang="en-US" sz="1800" dirty="0"/>
          </a:p>
          <a:p>
            <a:pPr marL="241300" indent="-241300">
              <a:lnSpc>
                <a:spcPct val="108000"/>
              </a:lnSpc>
              <a:buSzPct val="100000"/>
              <a:buChar char="●"/>
            </a:pPr>
            <a:r>
              <a:rPr lang="en-US" sz="1800" b="1" dirty="0">
                <a:solidFill>
                  <a:srgbClr val="0B3FB8"/>
                </a:solidFill>
                <a:latin typeface="Roboto" pitchFamily="34" charset="0"/>
                <a:ea typeface="Roboto" pitchFamily="34" charset="-122"/>
                <a:cs typeface="Roboto" pitchFamily="34" charset="-120"/>
              </a:rPr>
              <a:t>Tiêu chí tối ưu:</a:t>
            </a:r>
            <a:r>
              <a:rPr lang="en-US" sz="1800" dirty="0">
                <a:solidFill>
                  <a:srgbClr val="1B2A4A"/>
                </a:solidFill>
                <a:latin typeface="Roboto" pitchFamily="34" charset="0"/>
                <a:ea typeface="Roboto" pitchFamily="34" charset="-122"/>
                <a:cs typeface="Roboto" pitchFamily="34" charset="-120"/>
              </a:rPr>
              <a:t> Giảm thiểu RMSE (Log) qua 5-Fold CV.</a:t>
            </a:r>
            <a:endParaRPr lang="en-US" sz="1800" dirty="0"/>
          </a:p>
        </p:txBody>
      </p:sp>
      <p:graphicFrame>
        <p:nvGraphicFramePr>
          <p:cNvPr id="7" name="Bảng 7"/>
          <p:cNvGraphicFramePr>
            <a:graphicFrameLocks noGrp="1"/>
          </p:cNvGraphicFramePr>
          <p:nvPr>
            <p:extLst>
              <p:ext uri="{D42A27DB-BD31-4B8C-83A1-F6EECF244321}">
                <p14:modId xmlns:p14="http://schemas.microsoft.com/office/powerpoint/2010/main" val="1579011935"/>
              </p:ext>
            </p:extLst>
          </p:nvPr>
        </p:nvGraphicFramePr>
        <p:xfrm>
          <a:off x="548640" y="2487168"/>
          <a:ext cx="11091672" cy="3406648"/>
        </p:xfrm>
        <a:graphic>
          <a:graphicData uri="http://schemas.openxmlformats.org/drawingml/2006/table">
            <a:tbl>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tblGrid>
              <a:tr h="475488">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Mô hình</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Lưới tham số</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Số cấu hình</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Tham số tối ưu chọn được</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CV RMSE (Log)</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1005840">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RandomForest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F6BF0"/>
                          </a:solidFill>
                          <a:latin typeface="Roboto" pitchFamily="34" charset="0"/>
                          <a:ea typeface="Roboto" pitchFamily="34" charset="-122"/>
                          <a:cs typeface="Roboto" pitchFamily="34" charset="-120"/>
                        </a:rPr>
                        <a:t>n_estimators</a:t>
                      </a:r>
                      <a:r>
                        <a:rPr lang="en-US" sz="1700" dirty="0">
                          <a:solidFill>
                            <a:srgbClr val="1B2A4A"/>
                          </a:solidFill>
                          <a:latin typeface="Roboto" pitchFamily="34" charset="0"/>
                          <a:ea typeface="Roboto" pitchFamily="34" charset="-122"/>
                          <a:cs typeface="Roboto" pitchFamily="34" charset="-120"/>
                        </a:rPr>
                        <a:t> {300, 500}</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max_depth</a:t>
                      </a:r>
                      <a:r>
                        <a:rPr lang="en-US" sz="1700" dirty="0">
                          <a:solidFill>
                            <a:srgbClr val="1B2A4A"/>
                          </a:solidFill>
                          <a:latin typeface="Roboto" pitchFamily="34" charset="0"/>
                          <a:ea typeface="Roboto" pitchFamily="34" charset="-122"/>
                          <a:cs typeface="Roboto" pitchFamily="34" charset="-120"/>
                        </a:rPr>
                        <a:t> {None, 15}</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min_samples_leaf</a:t>
                      </a:r>
                      <a:r>
                        <a:rPr lang="en-US" sz="1700" dirty="0">
                          <a:solidFill>
                            <a:srgbClr val="1B2A4A"/>
                          </a:solidFill>
                          <a:latin typeface="Roboto" pitchFamily="34" charset="0"/>
                          <a:ea typeface="Roboto" pitchFamily="34" charset="-122"/>
                          <a:cs typeface="Roboto" pitchFamily="34" charset="-120"/>
                        </a:rPr>
                        <a:t> {1, 2}</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8</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F6BF0"/>
                          </a:solidFill>
                          <a:latin typeface="Roboto" pitchFamily="34" charset="0"/>
                          <a:ea typeface="Roboto" pitchFamily="34" charset="-122"/>
                          <a:cs typeface="Roboto" pitchFamily="34" charset="-120"/>
                        </a:rPr>
                        <a:t>n_estimators</a:t>
                      </a:r>
                      <a:r>
                        <a:rPr lang="en-US" sz="1700" dirty="0">
                          <a:solidFill>
                            <a:srgbClr val="1B2A4A"/>
                          </a:solidFill>
                          <a:latin typeface="Roboto" pitchFamily="34" charset="0"/>
                          <a:ea typeface="Roboto" pitchFamily="34" charset="-122"/>
                          <a:cs typeface="Roboto" pitchFamily="34" charset="-120"/>
                        </a:rPr>
                        <a:t> = 500</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max_depth</a:t>
                      </a:r>
                      <a:r>
                        <a:rPr lang="en-US" sz="1700" dirty="0">
                          <a:solidFill>
                            <a:srgbClr val="1B2A4A"/>
                          </a:solidFill>
                          <a:latin typeface="Roboto" pitchFamily="34" charset="0"/>
                          <a:ea typeface="Roboto" pitchFamily="34" charset="-122"/>
                          <a:cs typeface="Roboto" pitchFamily="34" charset="-120"/>
                        </a:rPr>
                        <a:t> = 15</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min_samples_leaf</a:t>
                      </a:r>
                      <a:r>
                        <a:rPr lang="en-US" sz="1700" dirty="0">
                          <a:solidFill>
                            <a:srgbClr val="1B2A4A"/>
                          </a:solidFill>
                          <a:latin typeface="Roboto" pitchFamily="34" charset="0"/>
                          <a:ea typeface="Roboto" pitchFamily="34" charset="-122"/>
                          <a:cs typeface="Roboto" pitchFamily="34" charset="-120"/>
                        </a:rPr>
                        <a:t> = 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0B3FB8"/>
                          </a:solidFill>
                          <a:latin typeface="Roboto" pitchFamily="34" charset="0"/>
                          <a:ea typeface="Roboto" pitchFamily="34" charset="-122"/>
                          <a:cs typeface="Roboto" pitchFamily="34" charset="-120"/>
                        </a:rPr>
                        <a:t>0.132</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XGBoost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700" dirty="0">
                          <a:solidFill>
                            <a:srgbClr val="1F6BF0"/>
                          </a:solidFill>
                          <a:latin typeface="Roboto" pitchFamily="34" charset="0"/>
                          <a:ea typeface="Roboto" pitchFamily="34" charset="-122"/>
                          <a:cs typeface="Roboto" pitchFamily="34" charset="-120"/>
                        </a:rPr>
                        <a:t>n_estimators</a:t>
                      </a:r>
                      <a:r>
                        <a:rPr lang="en-US" sz="1700" dirty="0">
                          <a:solidFill>
                            <a:srgbClr val="1B2A4A"/>
                          </a:solidFill>
                          <a:latin typeface="Roboto" pitchFamily="34" charset="0"/>
                          <a:ea typeface="Roboto" pitchFamily="34" charset="-122"/>
                          <a:cs typeface="Roboto" pitchFamily="34" charset="-120"/>
                        </a:rPr>
                        <a:t> {300, 500}</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learning_rate</a:t>
                      </a:r>
                      <a:r>
                        <a:rPr lang="en-US" sz="1700" dirty="0">
                          <a:solidFill>
                            <a:srgbClr val="1B2A4A"/>
                          </a:solidFill>
                          <a:latin typeface="Roboto" pitchFamily="34" charset="0"/>
                          <a:ea typeface="Roboto" pitchFamily="34" charset="-122"/>
                          <a:cs typeface="Roboto" pitchFamily="34" charset="-120"/>
                        </a:rPr>
                        <a:t> {0.03, 0.05}</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max_depth</a:t>
                      </a:r>
                      <a:r>
                        <a:rPr lang="en-US" sz="1700" dirty="0">
                          <a:solidFill>
                            <a:srgbClr val="1B2A4A"/>
                          </a:solidFill>
                          <a:latin typeface="Roboto" pitchFamily="34" charset="0"/>
                          <a:ea typeface="Roboto" pitchFamily="34" charset="-122"/>
                          <a:cs typeface="Roboto" pitchFamily="34" charset="-120"/>
                        </a:rPr>
                        <a:t> {3, 5}</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8</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700" dirty="0">
                          <a:solidFill>
                            <a:srgbClr val="1F6BF0"/>
                          </a:solidFill>
                          <a:latin typeface="Roboto" pitchFamily="34" charset="0"/>
                          <a:ea typeface="Roboto" pitchFamily="34" charset="-122"/>
                          <a:cs typeface="Roboto" pitchFamily="34" charset="-120"/>
                        </a:rPr>
                        <a:t>n_estimators</a:t>
                      </a:r>
                      <a:r>
                        <a:rPr lang="en-US" sz="1700" dirty="0">
                          <a:solidFill>
                            <a:srgbClr val="1B2A4A"/>
                          </a:solidFill>
                          <a:latin typeface="Roboto" pitchFamily="34" charset="0"/>
                          <a:ea typeface="Roboto" pitchFamily="34" charset="-122"/>
                          <a:cs typeface="Roboto" pitchFamily="34" charset="-120"/>
                        </a:rPr>
                        <a:t> = 500</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learning_rate</a:t>
                      </a:r>
                      <a:r>
                        <a:rPr lang="en-US" sz="1700" dirty="0">
                          <a:solidFill>
                            <a:srgbClr val="1B2A4A"/>
                          </a:solidFill>
                          <a:latin typeface="Roboto" pitchFamily="34" charset="0"/>
                          <a:ea typeface="Roboto" pitchFamily="34" charset="-122"/>
                          <a:cs typeface="Roboto" pitchFamily="34" charset="-120"/>
                        </a:rPr>
                        <a:t> = 0.03</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max_depth</a:t>
                      </a:r>
                      <a:r>
                        <a:rPr lang="en-US" sz="1700" dirty="0">
                          <a:solidFill>
                            <a:srgbClr val="1B2A4A"/>
                          </a:solidFill>
                          <a:latin typeface="Roboto" pitchFamily="34" charset="0"/>
                          <a:ea typeface="Roboto" pitchFamily="34" charset="-122"/>
                          <a:cs typeface="Roboto" pitchFamily="34" charset="-120"/>
                        </a:rPr>
                        <a:t> = 4</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0B3FB8"/>
                          </a:solidFill>
                          <a:latin typeface="Roboto" pitchFamily="34" charset="0"/>
                          <a:ea typeface="Roboto" pitchFamily="34" charset="-122"/>
                          <a:cs typeface="Roboto" pitchFamily="34" charset="-120"/>
                        </a:rPr>
                        <a:t>0.118</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749808">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SVM</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F6BF0"/>
                          </a:solidFill>
                          <a:latin typeface="Roboto" pitchFamily="34" charset="0"/>
                          <a:ea typeface="Roboto" pitchFamily="34" charset="-122"/>
                          <a:cs typeface="Roboto" pitchFamily="34" charset="-120"/>
                        </a:rPr>
                        <a:t>C</a:t>
                      </a:r>
                      <a:r>
                        <a:rPr lang="en-US" sz="1700" dirty="0">
                          <a:solidFill>
                            <a:srgbClr val="1B2A4A"/>
                          </a:solidFill>
                          <a:latin typeface="Roboto" pitchFamily="34" charset="0"/>
                          <a:ea typeface="Roboto" pitchFamily="34" charset="-122"/>
                          <a:cs typeface="Roboto" pitchFamily="34" charset="-120"/>
                        </a:rPr>
                        <a:t> {10, 30, 100}</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gamma</a:t>
                      </a:r>
                      <a:r>
                        <a:rPr lang="en-US" sz="1700" dirty="0">
                          <a:solidFill>
                            <a:srgbClr val="1B2A4A"/>
                          </a:solidFill>
                          <a:latin typeface="Roboto" pitchFamily="34" charset="0"/>
                          <a:ea typeface="Roboto" pitchFamily="34" charset="-122"/>
                          <a:cs typeface="Roboto" pitchFamily="34" charset="-120"/>
                        </a:rPr>
                        <a:t> {scale, 0.01}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6</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F6BF0"/>
                          </a:solidFill>
                          <a:latin typeface="Roboto" pitchFamily="34" charset="0"/>
                          <a:ea typeface="Roboto" pitchFamily="34" charset="-122"/>
                          <a:cs typeface="Roboto" pitchFamily="34" charset="-120"/>
                        </a:rPr>
                        <a:t>C</a:t>
                      </a:r>
                      <a:r>
                        <a:rPr lang="en-US" sz="1700" dirty="0">
                          <a:solidFill>
                            <a:srgbClr val="1B2A4A"/>
                          </a:solidFill>
                          <a:latin typeface="Roboto" pitchFamily="34" charset="0"/>
                          <a:ea typeface="Roboto" pitchFamily="34" charset="-122"/>
                          <a:cs typeface="Roboto" pitchFamily="34" charset="-120"/>
                        </a:rPr>
                        <a:t> = 30</a:t>
                      </a:r>
                      <a:endParaRPr lang="en-US" sz="1700" dirty="0">
                        <a:latin typeface="Roboto" charset="0"/>
                        <a:ea typeface="Roboto" charset="0"/>
                        <a:cs typeface="Roboto" charset="0"/>
                      </a:endParaRPr>
                    </a:p>
                    <a:p>
                      <a:pPr marL="0" indent="0" algn="l">
                        <a:buNone/>
                      </a:pPr>
                      <a:r>
                        <a:rPr lang="en-US" sz="1700" dirty="0">
                          <a:solidFill>
                            <a:srgbClr val="1F6BF0"/>
                          </a:solidFill>
                          <a:latin typeface="Roboto" pitchFamily="34" charset="0"/>
                          <a:ea typeface="Roboto" pitchFamily="34" charset="-122"/>
                          <a:cs typeface="Roboto" pitchFamily="34" charset="-120"/>
                        </a:rPr>
                        <a:t>gamma</a:t>
                      </a:r>
                      <a:r>
                        <a:rPr lang="en-US" sz="1700" dirty="0">
                          <a:solidFill>
                            <a:srgbClr val="1B2A4A"/>
                          </a:solidFill>
                          <a:latin typeface="Roboto" pitchFamily="34" charset="0"/>
                          <a:ea typeface="Roboto" pitchFamily="34" charset="-122"/>
                          <a:cs typeface="Roboto" pitchFamily="34" charset="-120"/>
                        </a:rPr>
                        <a:t> = 0.01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0B3FB8"/>
                          </a:solidFill>
                          <a:latin typeface="Roboto" pitchFamily="34" charset="0"/>
                          <a:ea typeface="Roboto" pitchFamily="34" charset="-122"/>
                          <a:cs typeface="Roboto" pitchFamily="34" charset="-120"/>
                        </a:rPr>
                        <a:t>0.113</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10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KẾT QUẢ TRÊN TẬP TEST &amp; PHÂN TÍCH SỐ DƯ</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12 / 14</a:t>
            </a:r>
            <a:endParaRPr lang="en-US" sz="1100" dirty="0"/>
          </a:p>
        </p:txBody>
      </p:sp>
      <p:graphicFrame>
        <p:nvGraphicFramePr>
          <p:cNvPr id="4" name="Bảng 4"/>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847088"/>
        </p:xfrm>
        <a:graphic>
          <a:graphicData uri="http://schemas.openxmlformats.org/drawingml/2006/table">
            <a:tbl>
              <a:tblPr/>
              <a:tblGrid>
                <a:gridCol w="14630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490472">
                  <a:extLst>
                    <a:ext uri="{9D8B030D-6E8A-4147-A177-3AD203B41FA5}">
                      <a16:colId xmlns:a16="http://schemas.microsoft.com/office/drawing/2014/main" val="20006"/>
                    </a:ext>
                  </a:extLst>
                </a:gridCol>
              </a:tblGrid>
              <a:tr h="475488">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Thứ hạng</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Mô hình</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l">
                        <a:buNone/>
                      </a:pPr>
                      <a:r>
                        <a:rPr lang="en-US" sz="1700" b="1" dirty="0">
                          <a:solidFill>
                            <a:srgbClr val="FFFFFF"/>
                          </a:solidFill>
                          <a:latin typeface="Roboto" pitchFamily="34" charset="0"/>
                          <a:ea typeface="Roboto" pitchFamily="34" charset="-122"/>
                          <a:cs typeface="Roboto" pitchFamily="34" charset="-120"/>
                        </a:rPr>
                        <a:t>Feature Selection</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RMSE (Log)</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R²</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MAE ($)</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tc>
                  <a:txBody>
                    <a:bodyPr/>
                    <a:lstStyle/>
                    <a:p>
                      <a:pPr marL="0" indent="0" algn="ctr">
                        <a:buNone/>
                      </a:pPr>
                      <a:r>
                        <a:rPr lang="en-US" sz="1700" b="1" dirty="0">
                          <a:solidFill>
                            <a:srgbClr val="FFFFFF"/>
                          </a:solidFill>
                          <a:latin typeface="Roboto" pitchFamily="34" charset="0"/>
                          <a:ea typeface="Roboto" pitchFamily="34" charset="-122"/>
                          <a:cs typeface="Roboto" pitchFamily="34" charset="-120"/>
                        </a:rPr>
                        <a:t>RMSE ($)</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1F6BF0"/>
                    </a:solidFill>
                  </a:tcPr>
                </a:tc>
                <a:extLst>
                  <a:ext uri="{0D108BD9-81ED-4DB2-BD59-A6C34878D82A}">
                    <a16:rowId xmlns:a16="http://schemas.microsoft.com/office/drawing/2014/main" val="10000"/>
                  </a:ext>
                </a:extLst>
              </a:tr>
              <a:tr h="457200">
                <a:tc>
                  <a:txBody>
                    <a:bodyPr/>
                    <a:lstStyle/>
                    <a:p>
                      <a:pPr marL="0" indent="0" algn="ctr">
                        <a:buNone/>
                      </a:pPr>
                      <a:r>
                        <a:rPr lang="en-US" sz="1700" b="1" dirty="0">
                          <a:solidFill>
                            <a:srgbClr val="B76E00"/>
                          </a:solidFill>
                          <a:latin typeface="Roboto" pitchFamily="34" charset="0"/>
                          <a:ea typeface="Roboto" pitchFamily="34" charset="-122"/>
                          <a:cs typeface="Roboto" pitchFamily="34" charset="-120"/>
                        </a:rPr>
                        <a:t>[Hạng 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3DC"/>
                    </a:solidFill>
                  </a:tcPr>
                </a:tc>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SVM</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B2A4A"/>
                          </a:solidFill>
                          <a:latin typeface="Roboto" pitchFamily="34" charset="0"/>
                          <a:ea typeface="Roboto" pitchFamily="34" charset="-122"/>
                          <a:cs typeface="Roboto" pitchFamily="34" charset="-120"/>
                        </a:rPr>
                        <a:t>Lasso (L1)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b="1" dirty="0">
                          <a:solidFill>
                            <a:srgbClr val="0F2A5F"/>
                          </a:solidFill>
                          <a:latin typeface="Roboto" pitchFamily="34" charset="0"/>
                          <a:ea typeface="Roboto" pitchFamily="34" charset="-122"/>
                          <a:cs typeface="Roboto" pitchFamily="34" charset="-120"/>
                        </a:rPr>
                        <a:t>0.110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b="1" dirty="0">
                          <a:solidFill>
                            <a:srgbClr val="0F2A5F"/>
                          </a:solidFill>
                          <a:latin typeface="Roboto" pitchFamily="34" charset="0"/>
                          <a:ea typeface="Roboto" pitchFamily="34" charset="-122"/>
                          <a:cs typeface="Roboto" pitchFamily="34" charset="-120"/>
                        </a:rPr>
                        <a:t>0.91</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b="1" dirty="0">
                          <a:solidFill>
                            <a:srgbClr val="0F2A5F"/>
                          </a:solidFill>
                          <a:latin typeface="Roboto" pitchFamily="34" charset="0"/>
                          <a:ea typeface="Roboto" pitchFamily="34" charset="-122"/>
                          <a:cs typeface="Roboto" pitchFamily="34" charset="-120"/>
                        </a:rPr>
                        <a:t>14,050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b="1" dirty="0">
                          <a:solidFill>
                            <a:srgbClr val="0F2A5F"/>
                          </a:solidFill>
                          <a:latin typeface="Roboto" pitchFamily="34" charset="0"/>
                          <a:ea typeface="Roboto" pitchFamily="34" charset="-122"/>
                          <a:cs typeface="Roboto" pitchFamily="34" charset="-120"/>
                        </a:rPr>
                        <a:t>21,200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700" b="1" dirty="0">
                          <a:solidFill>
                            <a:srgbClr val="56657F"/>
                          </a:solidFill>
                          <a:latin typeface="Roboto" pitchFamily="34" charset="0"/>
                          <a:ea typeface="Roboto" pitchFamily="34" charset="-122"/>
                          <a:cs typeface="Roboto" pitchFamily="34" charset="-120"/>
                        </a:rPr>
                        <a:t>[Hạng 2]</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EEF2F8"/>
                    </a:solidFill>
                  </a:tcPr>
                </a:tc>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XGBoost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l">
                        <a:buNone/>
                      </a:pPr>
                      <a:r>
                        <a:rPr lang="en-US" sz="1700" dirty="0">
                          <a:solidFill>
                            <a:srgbClr val="1B2A4A"/>
                          </a:solidFill>
                          <a:latin typeface="Roboto" pitchFamily="34" charset="0"/>
                          <a:ea typeface="Roboto" pitchFamily="34" charset="-122"/>
                          <a:cs typeface="Roboto" pitchFamily="34" charset="-120"/>
                        </a:rPr>
                        <a:t>RFE</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0.116</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0.89</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14,600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22,500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4F8FF"/>
                    </a:solidFill>
                  </a:tcPr>
                </a:tc>
                <a:extLst>
                  <a:ext uri="{0D108BD9-81ED-4DB2-BD59-A6C34878D82A}">
                    <a16:rowId xmlns:a16="http://schemas.microsoft.com/office/drawing/2014/main" val="10002"/>
                  </a:ext>
                </a:extLst>
              </a:tr>
              <a:tr h="457200">
                <a:tc>
                  <a:txBody>
                    <a:bodyPr/>
                    <a:lstStyle/>
                    <a:p>
                      <a:pPr marL="0" indent="0" algn="ctr">
                        <a:buNone/>
                      </a:pPr>
                      <a:r>
                        <a:rPr lang="en-US" sz="1700" b="1" dirty="0">
                          <a:solidFill>
                            <a:srgbClr val="A4562B"/>
                          </a:solidFill>
                          <a:latin typeface="Roboto" pitchFamily="34" charset="0"/>
                          <a:ea typeface="Roboto" pitchFamily="34" charset="-122"/>
                          <a:cs typeface="Roboto" pitchFamily="34" charset="-120"/>
                        </a:rPr>
                        <a:t>[Hạng 3]</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BE9DD"/>
                    </a:solidFill>
                  </a:tcPr>
                </a:tc>
                <a:tc>
                  <a:txBody>
                    <a:bodyPr/>
                    <a:lstStyle/>
                    <a:p>
                      <a:pPr marL="0" indent="0" algn="l">
                        <a:buNone/>
                      </a:pPr>
                      <a:r>
                        <a:rPr lang="en-US" sz="1700" b="1" dirty="0">
                          <a:solidFill>
                            <a:srgbClr val="0F2A5F"/>
                          </a:solidFill>
                          <a:latin typeface="Roboto" pitchFamily="34" charset="0"/>
                          <a:ea typeface="Roboto" pitchFamily="34" charset="-122"/>
                          <a:cs typeface="Roboto" pitchFamily="34" charset="-120"/>
                        </a:rPr>
                        <a:t>RandomForest</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B2A4A"/>
                          </a:solidFill>
                          <a:latin typeface="Roboto" pitchFamily="34" charset="0"/>
                          <a:ea typeface="Roboto" pitchFamily="34" charset="-122"/>
                          <a:cs typeface="Roboto" pitchFamily="34" charset="-120"/>
                        </a:rPr>
                        <a:t>Mutual Info</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0.129</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0.87</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16,100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A"/>
                          </a:solidFill>
                          <a:latin typeface="Roboto" pitchFamily="34" charset="0"/>
                          <a:ea typeface="Roboto" pitchFamily="34" charset="-122"/>
                          <a:cs typeface="Roboto" pitchFamily="34" charset="-120"/>
                        </a:rPr>
                        <a:t>25,100</a:t>
                      </a:r>
                      <a:endParaRPr lang="en-US" sz="1700" dirty="0">
                        <a:latin typeface="Roboto" charset="0"/>
                        <a:ea typeface="Roboto" charset="0"/>
                        <a:cs typeface="Roboto" charset="0"/>
                      </a:endParaRPr>
                    </a:p>
                  </a:txBody>
                  <a:tcPr marL="114300" marR="114300" marT="63500" marB="63500" anchor="ctr">
                    <a:lnL w="12700" cap="flat" cmpd="sng" algn="ctr">
                      <a:solidFill>
                        <a:srgbClr val="CFE0FF"/>
                      </a:solidFill>
                      <a:prstDash val="solid"/>
                      <a:round/>
                      <a:headEnd type="none" w="med" len="med"/>
                      <a:tailEnd type="none" w="med" len="med"/>
                    </a:lnL>
                    <a:lnR w="12700" cap="flat" cmpd="sng" algn="ctr">
                      <a:solidFill>
                        <a:srgbClr val="CFE0FF"/>
                      </a:solidFill>
                      <a:prstDash val="solid"/>
                      <a:round/>
                      <a:headEnd type="none" w="med" len="med"/>
                      <a:tailEnd type="none" w="med" len="med"/>
                    </a:lnR>
                    <a:lnT w="12700" cap="flat" cmpd="sng" algn="ctr">
                      <a:solidFill>
                        <a:srgbClr val="CFE0FF"/>
                      </a:solidFill>
                      <a:prstDash val="solid"/>
                      <a:round/>
                      <a:headEnd type="none" w="med" len="med"/>
                      <a:tailEnd type="none" w="med" len="med"/>
                    </a:lnT>
                    <a:lnB w="12700" cap="flat" cmpd="sng" algn="ctr">
                      <a:solidFill>
                        <a:srgbClr val="CFE0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Khối 5"/>
          <p:cNvSpPr/>
          <p:nvPr/>
        </p:nvSpPr>
        <p:spPr>
          <a:xfrm>
            <a:off x="548640" y="3364992"/>
            <a:ext cx="3717036"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Đánh giá mô hình tốt nhất</a:t>
            </a:r>
            <a:endParaRPr lang="en-US" sz="1700" dirty="0"/>
          </a:p>
        </p:txBody>
      </p:sp>
      <p:sp>
        <p:nvSpPr>
          <p:cNvPr id="6" name="Khối 6"/>
          <p:cNvSpPr/>
          <p:nvPr/>
        </p:nvSpPr>
        <p:spPr>
          <a:xfrm>
            <a:off x="731520" y="3474720"/>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7" name="Khối 7"/>
          <p:cNvSpPr/>
          <p:nvPr/>
        </p:nvSpPr>
        <p:spPr>
          <a:xfrm>
            <a:off x="548640" y="3904488"/>
            <a:ext cx="3931920" cy="2359152"/>
          </a:xfrm>
          <a:prstGeom prst="roundRect">
            <a:avLst>
              <a:gd name="adj" fmla="val 6202"/>
            </a:avLst>
          </a:prstGeom>
          <a:solidFill>
            <a:srgbClr val="FFF3DC"/>
          </a:solidFill>
          <a:ln w="12700">
            <a:solidFill>
              <a:srgbClr val="FFD68A"/>
            </a:solidFill>
            <a:prstDash val="solid"/>
          </a:ln>
          <a:effectLst>
            <a:outerShdw blurRad="177800" dist="50800" dir="5400000" algn="bl" rotWithShape="0">
              <a:srgbClr val="1557E0">
                <a:alpha val="14000"/>
              </a:srgbClr>
            </a:outerShdw>
          </a:effectLst>
        </p:spPr>
        <p:txBody>
          <a:bodyPr/>
          <a:lstStyle/>
          <a:p>
            <a:endParaRPr lang="en-US"/>
          </a:p>
        </p:txBody>
      </p:sp>
      <p:pic>
        <p:nvPicPr>
          <p:cNvPr id="8" name="Hình 8" descr="preencoded.png"/>
          <p:cNvPicPr>
            <a:picLocks noChangeAspect="1"/>
          </p:cNvPicPr>
          <p:nvPr/>
        </p:nvPicPr>
        <p:blipFill>
          <a:blip r:embed="rId4"/>
          <a:stretch>
            <a:fillRect/>
          </a:stretch>
        </p:blipFill>
        <p:spPr>
          <a:xfrm>
            <a:off x="3767328" y="5577840"/>
            <a:ext cx="530352" cy="530352"/>
          </a:xfrm>
          <a:prstGeom prst="rect">
            <a:avLst/>
          </a:prstGeom>
        </p:spPr>
      </p:pic>
      <p:sp>
        <p:nvSpPr>
          <p:cNvPr id="9" name="Khối 9"/>
          <p:cNvSpPr txBox="1"/>
          <p:nvPr/>
        </p:nvSpPr>
        <p:spPr>
          <a:xfrm>
            <a:off x="804672" y="4114800"/>
            <a:ext cx="3419856" cy="1463040"/>
          </a:xfrm>
          <a:prstGeom prst="rect">
            <a:avLst/>
          </a:prstGeom>
          <a:noFill/>
          <a:ln/>
        </p:spPr>
        <p:txBody>
          <a:bodyPr wrap="square" lIns="0" tIns="0" rIns="0" bIns="0" rtlCol="0" anchor="t"/>
          <a:lstStyle/>
          <a:p>
            <a:pPr marL="0" indent="0">
              <a:lnSpc>
                <a:spcPct val="108000"/>
              </a:lnSpc>
              <a:buNone/>
            </a:pPr>
            <a:r>
              <a:rPr lang="en-US" sz="1800" b="1" dirty="0">
                <a:solidFill>
                  <a:srgbClr val="0B3FB8"/>
                </a:solidFill>
                <a:latin typeface="Roboto" pitchFamily="34" charset="0"/>
                <a:ea typeface="Roboto" pitchFamily="34" charset="-122"/>
                <a:cs typeface="Roboto" pitchFamily="34" charset="-120"/>
              </a:rPr>
              <a:t>SVM + Lasso (L1)</a:t>
            </a:r>
            <a:r>
              <a:rPr lang="en-US" sz="1800" dirty="0">
                <a:solidFill>
                  <a:srgbClr val="1B2A4A"/>
                </a:solidFill>
                <a:latin typeface="Roboto" pitchFamily="34" charset="0"/>
                <a:ea typeface="Roboto" pitchFamily="34" charset="-122"/>
                <a:cs typeface="Roboto" pitchFamily="34" charset="-120"/>
              </a:rPr>
              <a:t> xuất sắc đạt vị trí dẫn đầu với sai số trung bình tuyệt đối là </a:t>
            </a:r>
            <a:r>
              <a:rPr lang="en-US" sz="1800" b="1" dirty="0">
                <a:solidFill>
                  <a:srgbClr val="0B3FB8"/>
                </a:solidFill>
                <a:latin typeface="Roboto" pitchFamily="34" charset="0"/>
                <a:ea typeface="Roboto" pitchFamily="34" charset="-122"/>
                <a:cs typeface="Roboto" pitchFamily="34" charset="-120"/>
              </a:rPr>
              <a:t>14,050 USD</a:t>
            </a:r>
            <a:r>
              <a:rPr lang="en-US" sz="1800" dirty="0">
                <a:solidFill>
                  <a:srgbClr val="1B2A4A"/>
                </a:solidFill>
                <a:latin typeface="Roboto" pitchFamily="34" charset="0"/>
                <a:ea typeface="Roboto" pitchFamily="34" charset="-122"/>
                <a:cs typeface="Roboto" pitchFamily="34" charset="-120"/>
              </a:rPr>
              <a:t> (RMSE = 21,200 USD).</a:t>
            </a:r>
            <a:endParaRPr lang="en-US" sz="1800" dirty="0"/>
          </a:p>
        </p:txBody>
      </p:sp>
      <p:sp>
        <p:nvSpPr>
          <p:cNvPr id="10" name="Khối 10"/>
          <p:cNvSpPr/>
          <p:nvPr/>
        </p:nvSpPr>
        <p:spPr>
          <a:xfrm>
            <a:off x="4709160" y="3364992"/>
            <a:ext cx="6748272"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Phân tích số dư (Residual Analysis trên thang log)</a:t>
            </a:r>
            <a:endParaRPr lang="en-US" sz="1700" dirty="0"/>
          </a:p>
        </p:txBody>
      </p:sp>
      <p:sp>
        <p:nvSpPr>
          <p:cNvPr id="11" name="Khối 11"/>
          <p:cNvSpPr/>
          <p:nvPr/>
        </p:nvSpPr>
        <p:spPr>
          <a:xfrm>
            <a:off x="4892040" y="3474720"/>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2" name="Khối 12"/>
          <p:cNvSpPr/>
          <p:nvPr/>
        </p:nvSpPr>
        <p:spPr>
          <a:xfrm>
            <a:off x="4709160" y="3904488"/>
            <a:ext cx="6931152" cy="2359152"/>
          </a:xfrm>
          <a:prstGeom prst="roundRect">
            <a:avLst>
              <a:gd name="adj" fmla="val 6202"/>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3" name="Khối 13"/>
          <p:cNvSpPr txBox="1"/>
          <p:nvPr/>
        </p:nvSpPr>
        <p:spPr>
          <a:xfrm>
            <a:off x="4937760" y="3995928"/>
            <a:ext cx="6446520" cy="2176272"/>
          </a:xfrm>
          <a:prstGeom prst="rect">
            <a:avLst/>
          </a:prstGeom>
          <a:noFill/>
          <a:ln/>
        </p:spPr>
        <p:txBody>
          <a:bodyPr wrap="square" lIns="0" tIns="0" rIns="0" bIns="0" rtlCol="0" anchor="ctr"/>
          <a:lstStyle/>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Mean residual:</a:t>
            </a:r>
            <a:r>
              <a:rPr lang="en-US" sz="1600" dirty="0">
                <a:solidFill>
                  <a:srgbClr val="1B2A4A"/>
                </a:solidFill>
                <a:latin typeface="Roboto" pitchFamily="34" charset="0"/>
                <a:ea typeface="Roboto" pitchFamily="34" charset="-122"/>
                <a:cs typeface="Roboto" pitchFamily="34" charset="-120"/>
              </a:rPr>
              <a:t> -0.002 (Gần sát 0, mô hình không bị lệch hệ thống).</a:t>
            </a:r>
            <a:endParaRPr lang="en-US" sz="1600" dirty="0"/>
          </a:p>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Std residual:</a:t>
            </a:r>
            <a:r>
              <a:rPr lang="en-US" sz="1600" dirty="0">
                <a:solidFill>
                  <a:srgbClr val="1B2A4A"/>
                </a:solidFill>
                <a:latin typeface="Roboto" pitchFamily="34" charset="0"/>
                <a:ea typeface="Roboto" pitchFamily="34" charset="-122"/>
                <a:cs typeface="Roboto" pitchFamily="34" charset="-120"/>
              </a:rPr>
              <a:t> 0.109.</a:t>
            </a:r>
            <a:endParaRPr lang="en-US" sz="1600" dirty="0"/>
          </a:p>
          <a:p>
            <a:pPr marL="215900" indent="-215900">
              <a:lnSpc>
                <a:spcPct val="108000"/>
              </a:lnSpc>
              <a:spcAft>
                <a:spcPts val="500"/>
              </a:spcAft>
              <a:buSzPct val="100000"/>
              <a:buChar char="●"/>
            </a:pPr>
            <a:r>
              <a:rPr lang="en-US" sz="1600" b="1" dirty="0">
                <a:solidFill>
                  <a:srgbClr val="0B3FB8"/>
                </a:solidFill>
                <a:latin typeface="Roboto" pitchFamily="34" charset="0"/>
                <a:ea typeface="Roboto" pitchFamily="34" charset="-122"/>
                <a:cs typeface="Roboto" pitchFamily="34" charset="-120"/>
              </a:rPr>
              <a:t>Residuals vs Fitted:</a:t>
            </a:r>
            <a:r>
              <a:rPr lang="en-US" sz="1600" dirty="0">
                <a:solidFill>
                  <a:srgbClr val="1B2A4A"/>
                </a:solidFill>
                <a:latin typeface="Roboto" pitchFamily="34" charset="0"/>
                <a:ea typeface="Roboto" pitchFamily="34" charset="-122"/>
                <a:cs typeface="Roboto" pitchFamily="34" charset="-120"/>
              </a:rPr>
              <a:t> Phân tán ngẫu nhiên đồng đều quanh trục 0, không xuất hiện dạng hình phễu (Heteroscedasticity).</a:t>
            </a:r>
            <a:endParaRPr lang="en-US" sz="1600" dirty="0"/>
          </a:p>
          <a:p>
            <a:pPr marL="215900" indent="-215900">
              <a:lnSpc>
                <a:spcPct val="108000"/>
              </a:lnSpc>
              <a:buSzPct val="100000"/>
              <a:buChar char="●"/>
            </a:pPr>
            <a:r>
              <a:rPr lang="en-US" sz="1600" i="1" dirty="0">
                <a:solidFill>
                  <a:srgbClr val="1B2A4A"/>
                </a:solidFill>
                <a:latin typeface="Roboto" pitchFamily="34" charset="0"/>
                <a:ea typeface="Roboto" pitchFamily="34" charset="-122"/>
                <a:cs typeface="Roboto" pitchFamily="34" charset="-120"/>
              </a:rPr>
              <a:t>Lưu ý:</a:t>
            </a:r>
            <a:r>
              <a:rPr lang="en-US" sz="1600" dirty="0">
                <a:solidFill>
                  <a:srgbClr val="1B2A4A"/>
                </a:solidFill>
                <a:latin typeface="Roboto" pitchFamily="34" charset="0"/>
                <a:ea typeface="Roboto" pitchFamily="34" charset="-122"/>
                <a:cs typeface="Roboto" pitchFamily="34" charset="-120"/>
              </a:rPr>
              <a:t> Đây là công cụ chẩn đoán bổ trợ nhằm kiểm tra độ ổn định của dự báo, không bắt buộc tuân thủ chặt chẽ các giả định tuyến tính cổ điển.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10" presetClass="entr" presetSubtype="0" fill="hold" grpId="0" nodeType="withEffect">
                                  <p:stCondLst>
                                    <p:cond delay="1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42" presetClass="entr" presetSubtype="0" fill="hold" grpId="0" nodeType="withEffect">
                                  <p:stCondLst>
                                    <p:cond delay="1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53" presetClass="entr" presetSubtype="16" fill="hold" nodeType="withEffect">
                                  <p:stCondLst>
                                    <p:cond delay="25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fltVal val="0"/>
                                          </p:val>
                                        </p:tav>
                                        <p:tav tm="100000">
                                          <p:val>
                                            <p:strVal val="#ppt_w"/>
                                          </p:val>
                                        </p:tav>
                                      </p:tavLst>
                                    </p:anim>
                                    <p:anim calcmode="lin" valueType="num">
                                      <p:cBhvr>
                                        <p:cTn id="24" dur="500" fill="hold"/>
                                        <p:tgtEl>
                                          <p:spTgt spid="8"/>
                                        </p:tgtEl>
                                        <p:attrNameLst>
                                          <p:attrName>ppt_h</p:attrName>
                                        </p:attrNameLst>
                                      </p:cBhvr>
                                      <p:tavLst>
                                        <p:tav tm="0">
                                          <p:val>
                                            <p:fltVal val="0"/>
                                          </p:val>
                                        </p:tav>
                                        <p:tav tm="100000">
                                          <p:val>
                                            <p:strVal val="#ppt_h"/>
                                          </p:val>
                                        </p:tav>
                                      </p:tavLst>
                                    </p:anim>
                                    <p:animEffect transition="in" filter="fade">
                                      <p:cBhvr>
                                        <p:cTn id="25" dur="500"/>
                                        <p:tgtEl>
                                          <p:spTgt spid="8"/>
                                        </p:tgtEl>
                                      </p:cBhvr>
                                    </p:animEffect>
                                  </p:childTnLst>
                                </p:cTn>
                              </p:par>
                              <p:par>
                                <p:cTn id="26" presetID="42" presetClass="entr" presetSubtype="0" fill="hold" grpId="0" nodeType="withEffect">
                                  <p:stCondLst>
                                    <p:cond delay="1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par>
                                <p:cTn id="36" presetID="10" presetClass="entr" presetSubtype="0" fill="hold" grpId="0" nodeType="withEffect">
                                  <p:stCondLst>
                                    <p:cond delay="1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42" presetClass="entr" presetSubtype="0" fill="hold" grpId="0" nodeType="withEffect">
                                  <p:stCondLst>
                                    <p:cond delay="1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600"/>
                                        <p:tgtEl>
                                          <p:spTgt spid="12"/>
                                        </p:tgtEl>
                                      </p:cBhvr>
                                    </p:animEffect>
                                    <p:anim calcmode="lin" valueType="num">
                                      <p:cBhvr additive="base">
                                        <p:cTn id="42" dur="600" fill="hold"/>
                                        <p:tgtEl>
                                          <p:spTgt spid="12"/>
                                        </p:tgtEl>
                                        <p:attrNameLst>
                                          <p:attrName>ppt_x</p:attrName>
                                        </p:attrNameLst>
                                      </p:cBhvr>
                                      <p:tavLst>
                                        <p:tav tm="0">
                                          <p:val>
                                            <p:strVal val="#ppt_x"/>
                                          </p:val>
                                        </p:tav>
                                        <p:tav tm="100000">
                                          <p:val>
                                            <p:strVal val="#ppt_x"/>
                                          </p:val>
                                        </p:tav>
                                      </p:tavLst>
                                    </p:anim>
                                    <p:anim calcmode="lin" valueType="num">
                                      <p:cBhvr additive="base">
                                        <p:cTn id="43" dur="600" fill="hold"/>
                                        <p:tgtEl>
                                          <p:spTgt spid="1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1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additive="base">
                                        <p:cTn id="47" dur="600" fill="hold"/>
                                        <p:tgtEl>
                                          <p:spTgt spid="13"/>
                                        </p:tgtEl>
                                        <p:attrNameLst>
                                          <p:attrName>ppt_x</p:attrName>
                                        </p:attrNameLst>
                                      </p:cBhvr>
                                      <p:tavLst>
                                        <p:tav tm="0">
                                          <p:val>
                                            <p:strVal val="#ppt_x"/>
                                          </p:val>
                                        </p:tav>
                                        <p:tav tm="100000">
                                          <p:val>
                                            <p:strVal val="#ppt_x"/>
                                          </p:val>
                                        </p:tav>
                                      </p:tavLst>
                                    </p:anim>
                                    <p:anim calcmode="lin" valueType="num">
                                      <p:cBhvr additive="base">
                                        <p:cTn id="48" dur="6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êu đề"/>
          <p:cNvSpPr txBox="1"/>
          <p:nvPr/>
        </p:nvSpPr>
        <p:spPr>
          <a:xfrm>
            <a:off x="548640" y="274320"/>
            <a:ext cx="10058400" cy="896112"/>
          </a:xfrm>
          <a:prstGeom prst="rect">
            <a:avLst/>
          </a:prstGeom>
          <a:noFill/>
          <a:ln/>
        </p:spPr>
        <p:txBody>
          <a:bodyPr wrap="square" lIns="0" tIns="0" rIns="0" bIns="0" rtlCol="0" anchor="ctr"/>
          <a:lstStyle/>
          <a:p>
            <a:pPr marL="0" indent="0">
              <a:buNone/>
            </a:pPr>
            <a:r>
              <a:rPr lang="en-US" sz="36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KẾT LUẬN</a:t>
            </a:r>
            <a:endParaRPr lang="en-US" sz="3600" dirty="0"/>
          </a:p>
        </p:txBody>
      </p:sp>
      <p:sp>
        <p:nvSpPr>
          <p:cNvPr id="3" name="Số trang"/>
          <p:cNvSpPr txBox="1"/>
          <p:nvPr/>
        </p:nvSpPr>
        <p:spPr>
          <a:xfrm>
            <a:off x="10591495" y="6428232"/>
            <a:ext cx="1051560" cy="292608"/>
          </a:xfrm>
          <a:prstGeom prst="rect">
            <a:avLst/>
          </a:prstGeom>
          <a:noFill/>
          <a:ln/>
        </p:spPr>
        <p:txBody>
          <a:bodyPr wrap="square" lIns="0" tIns="0" rIns="0" bIns="0" rtlCol="0" anchor="ctr"/>
          <a:lstStyle/>
          <a:p>
            <a:pPr marL="0" indent="0" algn="r">
              <a:buNone/>
            </a:pPr>
            <a:r>
              <a:rPr lang="en-US" sz="1100" b="1" dirty="0">
                <a:solidFill>
                  <a:srgbClr val="5A6B8A"/>
                </a:solidFill>
                <a:latin typeface="Roboto" pitchFamily="34" charset="0"/>
                <a:ea typeface="Roboto" pitchFamily="34" charset="-122"/>
                <a:cs typeface="Roboto" pitchFamily="34" charset="-120"/>
              </a:rPr>
              <a:t>13 / 14</a:t>
            </a:r>
            <a:endParaRPr lang="en-US" sz="1100" dirty="0"/>
          </a:p>
        </p:txBody>
      </p:sp>
      <p:sp>
        <p:nvSpPr>
          <p:cNvPr id="4" name="Khối 4"/>
          <p:cNvSpPr/>
          <p:nvPr/>
        </p:nvSpPr>
        <p:spPr>
          <a:xfrm>
            <a:off x="548640" y="1325880"/>
            <a:ext cx="1712854"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800" b="1" dirty="0">
                <a:solidFill>
                  <a:srgbClr val="FFFFFF"/>
                </a:solidFill>
                <a:latin typeface="Roboto" pitchFamily="34" charset="0"/>
                <a:ea typeface="Roboto" pitchFamily="34" charset="-122"/>
                <a:cs typeface="Roboto" pitchFamily="34" charset="-120"/>
              </a:rPr>
              <a:t>Kết luận</a:t>
            </a:r>
            <a:endParaRPr lang="en-US" sz="1800" dirty="0"/>
          </a:p>
        </p:txBody>
      </p:sp>
      <p:sp>
        <p:nvSpPr>
          <p:cNvPr id="5" name="Khối 5"/>
          <p:cNvSpPr/>
          <p:nvPr/>
        </p:nvSpPr>
        <p:spPr>
          <a:xfrm>
            <a:off x="73152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6" name="Khối 6"/>
          <p:cNvSpPr/>
          <p:nvPr/>
        </p:nvSpPr>
        <p:spPr>
          <a:xfrm>
            <a:off x="548640" y="1874520"/>
            <a:ext cx="6583680" cy="1371600"/>
          </a:xfrm>
          <a:prstGeom prst="roundRect">
            <a:avLst>
              <a:gd name="adj" fmla="val 1066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7" name="Hình 7" descr="preencoded.png"/>
          <p:cNvPicPr>
            <a:picLocks noChangeAspect="1"/>
          </p:cNvPicPr>
          <p:nvPr/>
        </p:nvPicPr>
        <p:blipFill>
          <a:blip r:embed="rId4"/>
          <a:stretch>
            <a:fillRect/>
          </a:stretch>
        </p:blipFill>
        <p:spPr>
          <a:xfrm>
            <a:off x="731520" y="2276856"/>
            <a:ext cx="566928" cy="566928"/>
          </a:xfrm>
          <a:prstGeom prst="rect">
            <a:avLst/>
          </a:prstGeom>
        </p:spPr>
      </p:pic>
      <p:sp>
        <p:nvSpPr>
          <p:cNvPr id="8" name="Khối 8"/>
          <p:cNvSpPr txBox="1"/>
          <p:nvPr/>
        </p:nvSpPr>
        <p:spPr>
          <a:xfrm>
            <a:off x="1481328" y="1929384"/>
            <a:ext cx="5486400" cy="1261872"/>
          </a:xfrm>
          <a:prstGeom prst="rect">
            <a:avLst/>
          </a:prstGeom>
          <a:noFill/>
          <a:ln/>
        </p:spPr>
        <p:txBody>
          <a:bodyPr wrap="square" lIns="0" tIns="0" rIns="0" bIns="0" rtlCol="0" anchor="ctr"/>
          <a:lstStyle/>
          <a:p>
            <a:pPr marL="0" indent="0">
              <a:lnSpc>
                <a:spcPct val="108000"/>
              </a:lnSpc>
              <a:buNone/>
            </a:pPr>
            <a:r>
              <a:rPr lang="en-US" sz="1700" b="1" dirty="0">
                <a:solidFill>
                  <a:srgbClr val="0B3FB8"/>
                </a:solidFill>
                <a:latin typeface="Roboto" pitchFamily="34" charset="0"/>
                <a:ea typeface="Roboto" pitchFamily="34" charset="-122"/>
                <a:cs typeface="Roboto" pitchFamily="34" charset="-120"/>
              </a:rPr>
              <a:t>Mô hình tối ưu:</a:t>
            </a:r>
            <a:r>
              <a:rPr lang="en-US" sz="1700" dirty="0">
                <a:solidFill>
                  <a:srgbClr val="1B2A4A"/>
                </a:solidFill>
                <a:latin typeface="Roboto" pitchFamily="34" charset="0"/>
                <a:ea typeface="Roboto" pitchFamily="34" charset="-122"/>
                <a:cs typeface="Roboto" pitchFamily="34" charset="-120"/>
              </a:rPr>
              <a:t> SVM kết hợp kỹ thuật chọn đặc trưng Lasso (L1) mang lại hiệu năng cao nhất với độ lệch trung bình khoảng 14,050 USD.</a:t>
            </a:r>
            <a:endParaRPr lang="en-US" sz="1700" dirty="0"/>
          </a:p>
        </p:txBody>
      </p:sp>
      <p:sp>
        <p:nvSpPr>
          <p:cNvPr id="9" name="Khối 9"/>
          <p:cNvSpPr/>
          <p:nvPr/>
        </p:nvSpPr>
        <p:spPr>
          <a:xfrm>
            <a:off x="548640" y="3355848"/>
            <a:ext cx="6583680" cy="1371600"/>
          </a:xfrm>
          <a:prstGeom prst="roundRect">
            <a:avLst>
              <a:gd name="adj" fmla="val 1066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0" name="Hình 10" descr="preencoded.png"/>
          <p:cNvPicPr>
            <a:picLocks noChangeAspect="1"/>
          </p:cNvPicPr>
          <p:nvPr/>
        </p:nvPicPr>
        <p:blipFill>
          <a:blip r:embed="rId5"/>
          <a:stretch>
            <a:fillRect/>
          </a:stretch>
        </p:blipFill>
        <p:spPr>
          <a:xfrm>
            <a:off x="731520" y="3758184"/>
            <a:ext cx="566928" cy="566928"/>
          </a:xfrm>
          <a:prstGeom prst="rect">
            <a:avLst/>
          </a:prstGeom>
        </p:spPr>
      </p:pic>
      <p:sp>
        <p:nvSpPr>
          <p:cNvPr id="11" name="Khối 11"/>
          <p:cNvSpPr txBox="1"/>
          <p:nvPr/>
        </p:nvSpPr>
        <p:spPr>
          <a:xfrm>
            <a:off x="1481328" y="3410712"/>
            <a:ext cx="5486400" cy="1261872"/>
          </a:xfrm>
          <a:prstGeom prst="rect">
            <a:avLst/>
          </a:prstGeom>
          <a:noFill/>
          <a:ln/>
        </p:spPr>
        <p:txBody>
          <a:bodyPr wrap="square" lIns="0" tIns="0" rIns="0" bIns="0" rtlCol="0" anchor="ctr"/>
          <a:lstStyle/>
          <a:p>
            <a:pPr marL="0" indent="0">
              <a:lnSpc>
                <a:spcPct val="108000"/>
              </a:lnSpc>
              <a:buNone/>
            </a:pPr>
            <a:r>
              <a:rPr lang="en-US" sz="1700" b="1" dirty="0">
                <a:solidFill>
                  <a:srgbClr val="0B3FB8"/>
                </a:solidFill>
                <a:latin typeface="Roboto" pitchFamily="34" charset="0"/>
                <a:ea typeface="Roboto" pitchFamily="34" charset="-122"/>
                <a:cs typeface="Roboto" pitchFamily="34" charset="-120"/>
              </a:rPr>
              <a:t>Vai trò của Feature Selection:</a:t>
            </a:r>
            <a:r>
              <a:rPr lang="en-US" sz="1700" dirty="0">
                <a:solidFill>
                  <a:srgbClr val="1B2A4A"/>
                </a:solidFill>
                <a:latin typeface="Roboto" pitchFamily="34" charset="0"/>
                <a:ea typeface="Roboto" pitchFamily="34" charset="-122"/>
                <a:cs typeface="Roboto" pitchFamily="34" charset="-120"/>
              </a:rPr>
              <a:t> Giúp cải thiện rõ rệt so với Baseline, làm giảm overfitting, tối ưu hóa thời gian huấn luyện trong khi vẫn nâng cao độ chính xác.</a:t>
            </a:r>
            <a:endParaRPr lang="en-US" sz="1700" dirty="0"/>
          </a:p>
        </p:txBody>
      </p:sp>
      <p:sp>
        <p:nvSpPr>
          <p:cNvPr id="12" name="Khối 12"/>
          <p:cNvSpPr/>
          <p:nvPr/>
        </p:nvSpPr>
        <p:spPr>
          <a:xfrm>
            <a:off x="548640" y="4837176"/>
            <a:ext cx="6583680" cy="1371600"/>
          </a:xfrm>
          <a:prstGeom prst="roundRect">
            <a:avLst>
              <a:gd name="adj" fmla="val 10667"/>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pic>
        <p:nvPicPr>
          <p:cNvPr id="13" name="Hình 13" descr="preencoded.png"/>
          <p:cNvPicPr>
            <a:picLocks noChangeAspect="1"/>
          </p:cNvPicPr>
          <p:nvPr/>
        </p:nvPicPr>
        <p:blipFill>
          <a:blip r:embed="rId6"/>
          <a:stretch>
            <a:fillRect/>
          </a:stretch>
        </p:blipFill>
        <p:spPr>
          <a:xfrm>
            <a:off x="731520" y="5239512"/>
            <a:ext cx="566928" cy="566928"/>
          </a:xfrm>
          <a:prstGeom prst="rect">
            <a:avLst/>
          </a:prstGeom>
        </p:spPr>
      </p:pic>
      <p:sp>
        <p:nvSpPr>
          <p:cNvPr id="14" name="Khối 14"/>
          <p:cNvSpPr txBox="1"/>
          <p:nvPr/>
        </p:nvSpPr>
        <p:spPr>
          <a:xfrm>
            <a:off x="1481328" y="4892040"/>
            <a:ext cx="5486400" cy="1261872"/>
          </a:xfrm>
          <a:prstGeom prst="rect">
            <a:avLst/>
          </a:prstGeom>
          <a:noFill/>
          <a:ln/>
        </p:spPr>
        <p:txBody>
          <a:bodyPr wrap="square" lIns="0" tIns="0" rIns="0" bIns="0" rtlCol="0" anchor="ctr"/>
          <a:lstStyle/>
          <a:p>
            <a:pPr marL="0" indent="0">
              <a:lnSpc>
                <a:spcPct val="108000"/>
              </a:lnSpc>
              <a:buNone/>
            </a:pPr>
            <a:r>
              <a:rPr lang="en-US" sz="1700" b="1" dirty="0">
                <a:solidFill>
                  <a:srgbClr val="0B3FB8"/>
                </a:solidFill>
                <a:latin typeface="Roboto" pitchFamily="34" charset="0"/>
                <a:ea typeface="Roboto" pitchFamily="34" charset="-122"/>
                <a:cs typeface="Roboto" pitchFamily="34" charset="-120"/>
              </a:rPr>
              <a:t>Tính tin cậy:</a:t>
            </a:r>
            <a:r>
              <a:rPr lang="en-US" sz="1700" dirty="0">
                <a:solidFill>
                  <a:srgbClr val="1B2A4A"/>
                </a:solidFill>
                <a:latin typeface="Roboto" pitchFamily="34" charset="0"/>
                <a:ea typeface="Roboto" pitchFamily="34" charset="-122"/>
                <a:cs typeface="Roboto" pitchFamily="34" charset="-120"/>
              </a:rPr>
              <a:t> Khung kiểm thử khép kín bảo đảm FS nằm trong CV pipeline và tập Test được cách ly tuyệt đối.</a:t>
            </a:r>
            <a:endParaRPr lang="en-US" sz="1700" dirty="0"/>
          </a:p>
        </p:txBody>
      </p:sp>
      <p:sp>
        <p:nvSpPr>
          <p:cNvPr id="15" name="Khối 15"/>
          <p:cNvSpPr/>
          <p:nvPr/>
        </p:nvSpPr>
        <p:spPr>
          <a:xfrm>
            <a:off x="7360920" y="1325880"/>
            <a:ext cx="3838285"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Hạn chế &amp; Hướng phát triển</a:t>
            </a:r>
            <a:endParaRPr lang="en-US" sz="1700" dirty="0"/>
          </a:p>
        </p:txBody>
      </p:sp>
      <p:sp>
        <p:nvSpPr>
          <p:cNvPr id="16" name="Khối 16"/>
          <p:cNvSpPr/>
          <p:nvPr/>
        </p:nvSpPr>
        <p:spPr>
          <a:xfrm>
            <a:off x="7543800" y="143560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7" name="Khối 17"/>
          <p:cNvSpPr/>
          <p:nvPr/>
        </p:nvSpPr>
        <p:spPr>
          <a:xfrm>
            <a:off x="7360920" y="1874520"/>
            <a:ext cx="4279392" cy="2542032"/>
          </a:xfrm>
          <a:prstGeom prst="roundRect">
            <a:avLst>
              <a:gd name="adj" fmla="val 5755"/>
            </a:avLst>
          </a:prstGeom>
          <a:solidFill>
            <a:srgbClr val="FFFF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18" name="Khối 18"/>
          <p:cNvSpPr txBox="1"/>
          <p:nvPr/>
        </p:nvSpPr>
        <p:spPr>
          <a:xfrm>
            <a:off x="7571232" y="1965960"/>
            <a:ext cx="3877056" cy="2359152"/>
          </a:xfrm>
          <a:prstGeom prst="rect">
            <a:avLst/>
          </a:prstGeom>
          <a:noFill/>
          <a:ln/>
        </p:spPr>
        <p:txBody>
          <a:bodyPr wrap="square" lIns="0" tIns="0" rIns="0" bIns="0" rtlCol="0" anchor="ctr"/>
          <a:lstStyle/>
          <a:p>
            <a:pPr marL="215900" indent="-215900">
              <a:lnSpc>
                <a:spcPct val="108000"/>
              </a:lnSpc>
              <a:spcAft>
                <a:spcPts val="800"/>
              </a:spcAft>
              <a:buSzPct val="100000"/>
              <a:buChar char="●"/>
            </a:pPr>
            <a:r>
              <a:rPr lang="en-US" sz="1600" dirty="0">
                <a:solidFill>
                  <a:srgbClr val="1B2A4A"/>
                </a:solidFill>
                <a:latin typeface="Roboto" pitchFamily="34" charset="0"/>
                <a:ea typeface="Roboto" pitchFamily="34" charset="-122"/>
                <a:cs typeface="Roboto" pitchFamily="34" charset="-120"/>
              </a:rPr>
              <a:t>Không gian tìm kiếm tham số còn nhỏ; số lượng đặc trưng K đang cố định ở 30, cần khảo sát thêm các ngưỡng K khác nhau.</a:t>
            </a:r>
            <a:endParaRPr lang="en-US" sz="1600" dirty="0"/>
          </a:p>
          <a:p>
            <a:pPr marL="215900" indent="-215900">
              <a:lnSpc>
                <a:spcPct val="108000"/>
              </a:lnSpc>
              <a:buSzPct val="100000"/>
              <a:buChar char="●"/>
            </a:pPr>
            <a:r>
              <a:rPr lang="en-US" sz="1600" dirty="0">
                <a:solidFill>
                  <a:srgbClr val="1B2A4A"/>
                </a:solidFill>
                <a:latin typeface="Roboto" pitchFamily="34" charset="0"/>
                <a:ea typeface="Roboto" pitchFamily="34" charset="-122"/>
                <a:cs typeface="Roboto" pitchFamily="34" charset="-120"/>
              </a:rPr>
              <a:t>Mới dừng lại ở một lần chia Train/Test ngẫu nhiên; chưa thử nghiệm các phương pháp kết hợp mô hình (Stacking/Ensemble).</a:t>
            </a:r>
            <a:endParaRPr lang="en-US" sz="1600" dirty="0"/>
          </a:p>
        </p:txBody>
      </p:sp>
      <p:sp>
        <p:nvSpPr>
          <p:cNvPr id="19" name="Khối 19"/>
          <p:cNvSpPr/>
          <p:nvPr/>
        </p:nvSpPr>
        <p:spPr>
          <a:xfrm>
            <a:off x="7360920" y="4572000"/>
            <a:ext cx="2868290" cy="420624"/>
          </a:xfrm>
          <a:prstGeom prst="roundRect">
            <a:avLst>
              <a:gd name="adj" fmla="val 50000"/>
            </a:avLst>
          </a:prstGeom>
          <a:solidFill>
            <a:srgbClr val="1F6BF0"/>
          </a:solidFill>
          <a:ln/>
          <a:effectLst>
            <a:outerShdw blurRad="177800" dist="50800" dir="5400000" algn="bl" rotWithShape="0">
              <a:srgbClr val="1557E0">
                <a:alpha val="14000"/>
              </a:srgbClr>
            </a:outerShdw>
          </a:effectLst>
        </p:spPr>
        <p:txBody>
          <a:bodyPr wrap="none" lIns="381000" tIns="0" rIns="101600" bIns="0" rtlCol="0" anchor="ctr"/>
          <a:lstStyle/>
          <a:p>
            <a:pPr marL="0" indent="0">
              <a:buNone/>
            </a:pPr>
            <a:r>
              <a:rPr lang="en-US" sz="1700" b="1" dirty="0">
                <a:solidFill>
                  <a:srgbClr val="FFFFFF"/>
                </a:solidFill>
                <a:latin typeface="Roboto" pitchFamily="34" charset="0"/>
                <a:ea typeface="Roboto" pitchFamily="34" charset="-122"/>
                <a:cs typeface="Roboto" pitchFamily="34" charset="-120"/>
              </a:rPr>
              <a:t>Tài liệu tham khảo</a:t>
            </a:r>
            <a:endParaRPr lang="en-US" sz="1700" dirty="0"/>
          </a:p>
        </p:txBody>
      </p:sp>
      <p:sp>
        <p:nvSpPr>
          <p:cNvPr id="20" name="Khối 20"/>
          <p:cNvSpPr/>
          <p:nvPr/>
        </p:nvSpPr>
        <p:spPr>
          <a:xfrm>
            <a:off x="7543800" y="4681728"/>
            <a:ext cx="64008" cy="201168"/>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21" name="Khối 21"/>
          <p:cNvSpPr/>
          <p:nvPr/>
        </p:nvSpPr>
        <p:spPr>
          <a:xfrm>
            <a:off x="7360920" y="5102352"/>
            <a:ext cx="4279392" cy="1170432"/>
          </a:xfrm>
          <a:prstGeom prst="roundRect">
            <a:avLst>
              <a:gd name="adj" fmla="val 12500"/>
            </a:avLst>
          </a:prstGeom>
          <a:solidFill>
            <a:srgbClr val="F4F8FF"/>
          </a:solidFill>
          <a:ln w="12700">
            <a:solidFill>
              <a:srgbClr val="CFE0FF"/>
            </a:solidFill>
            <a:prstDash val="solid"/>
          </a:ln>
          <a:effectLst>
            <a:outerShdw blurRad="177800" dist="50800" dir="5400000" algn="bl" rotWithShape="0">
              <a:srgbClr val="1557E0">
                <a:alpha val="14000"/>
              </a:srgbClr>
            </a:outerShdw>
          </a:effectLst>
        </p:spPr>
        <p:txBody>
          <a:bodyPr/>
          <a:lstStyle/>
          <a:p>
            <a:endParaRPr lang="en-US"/>
          </a:p>
        </p:txBody>
      </p:sp>
      <p:sp>
        <p:nvSpPr>
          <p:cNvPr id="22" name="Khối 22"/>
          <p:cNvSpPr txBox="1"/>
          <p:nvPr/>
        </p:nvSpPr>
        <p:spPr>
          <a:xfrm>
            <a:off x="7543800" y="5148072"/>
            <a:ext cx="3931920" cy="1078992"/>
          </a:xfrm>
          <a:prstGeom prst="rect">
            <a:avLst/>
          </a:prstGeom>
          <a:noFill/>
          <a:ln/>
        </p:spPr>
        <p:txBody>
          <a:bodyPr wrap="square" lIns="0" tIns="0" rIns="0" bIns="0" rtlCol="0" anchor="ctr"/>
          <a:lstStyle/>
          <a:p>
            <a:pPr marL="177800" indent="-177800">
              <a:lnSpc>
                <a:spcPct val="108000"/>
              </a:lnSpc>
              <a:spcAft>
                <a:spcPts val="400"/>
              </a:spcAft>
              <a:buSzPct val="100000"/>
              <a:buChar char="●"/>
            </a:pPr>
            <a:r>
              <a:rPr lang="en-US" sz="1300" dirty="0">
                <a:solidFill>
                  <a:srgbClr val="1B2A4A"/>
                </a:solidFill>
                <a:latin typeface="Roboto" pitchFamily="34" charset="0"/>
                <a:ea typeface="Roboto" pitchFamily="34" charset="-122"/>
                <a:cs typeface="Roboto" pitchFamily="34" charset="-120"/>
              </a:rPr>
              <a:t>De Cock, D. (2011). </a:t>
            </a:r>
            <a:r>
              <a:rPr lang="en-US" sz="1300" i="1" dirty="0">
                <a:solidFill>
                  <a:srgbClr val="1B2A4A"/>
                </a:solidFill>
                <a:latin typeface="Roboto" pitchFamily="34" charset="0"/>
                <a:ea typeface="Roboto" pitchFamily="34" charset="-122"/>
                <a:cs typeface="Roboto" pitchFamily="34" charset="-120"/>
              </a:rPr>
              <a:t>Ames, Iowa: Alternative to the Boston Housing Data</a:t>
            </a:r>
            <a:r>
              <a:rPr lang="en-US" sz="1300" dirty="0">
                <a:solidFill>
                  <a:srgbClr val="1B2A4A"/>
                </a:solidFill>
                <a:latin typeface="Roboto" pitchFamily="34" charset="0"/>
                <a:ea typeface="Roboto" pitchFamily="34" charset="-122"/>
                <a:cs typeface="Roboto" pitchFamily="34" charset="-120"/>
              </a:rPr>
              <a:t>. Journal of Statistics Education, 19(3).</a:t>
            </a:r>
            <a:endParaRPr lang="en-US" sz="1300" dirty="0"/>
          </a:p>
          <a:p>
            <a:pPr marL="177800" indent="-177800">
              <a:lnSpc>
                <a:spcPct val="108000"/>
              </a:lnSpc>
              <a:buSzPct val="100000"/>
              <a:buChar char="●"/>
            </a:pPr>
            <a:r>
              <a:rPr lang="en-US" sz="1300" dirty="0">
                <a:solidFill>
                  <a:srgbClr val="1B2A4A"/>
                </a:solidFill>
                <a:latin typeface="Roboto" pitchFamily="34" charset="0"/>
                <a:ea typeface="Roboto" pitchFamily="34" charset="-122"/>
                <a:cs typeface="Roboto" pitchFamily="34" charset="-120"/>
              </a:rPr>
              <a:t>Kaggle Competition. </a:t>
            </a:r>
            <a:r>
              <a:rPr lang="en-US" sz="1300" i="1" dirty="0">
                <a:solidFill>
                  <a:srgbClr val="1B2A4A"/>
                </a:solidFill>
                <a:latin typeface="Roboto" pitchFamily="34" charset="0"/>
                <a:ea typeface="Roboto" pitchFamily="34" charset="-122"/>
                <a:cs typeface="Roboto" pitchFamily="34" charset="-120"/>
              </a:rPr>
              <a:t>House Prices: Advanced Regression Techniques</a:t>
            </a:r>
            <a:r>
              <a:rPr lang="en-US" sz="1300" dirty="0">
                <a:solidFill>
                  <a:srgbClr val="1B2A4A"/>
                </a:solidFill>
                <a:latin typeface="Roboto" pitchFamily="34" charset="0"/>
                <a:ea typeface="Roboto" pitchFamily="34" charset="-122"/>
                <a:cs typeface="Roboto" pitchFamily="34" charset="-120"/>
              </a:rPr>
              <a:t>.</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53" presetClass="entr" presetSubtype="16" fill="hold" nodeType="withEffect">
                                  <p:stCondLst>
                                    <p:cond delay="25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42" presetClass="entr" presetSubtype="0" fill="hold" grpId="0" nodeType="withEffect">
                                  <p:stCondLst>
                                    <p:cond delay="1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anim calcmode="lin" valueType="num">
                                      <p:cBhvr additive="base">
                                        <p:cTn id="31" dur="600" fill="hold"/>
                                        <p:tgtEl>
                                          <p:spTgt spid="9"/>
                                        </p:tgtEl>
                                        <p:attrNameLst>
                                          <p:attrName>ppt_x</p:attrName>
                                        </p:attrNameLst>
                                      </p:cBhvr>
                                      <p:tavLst>
                                        <p:tav tm="0">
                                          <p:val>
                                            <p:strVal val="#ppt_x"/>
                                          </p:val>
                                        </p:tav>
                                        <p:tav tm="100000">
                                          <p:val>
                                            <p:strVal val="#ppt_x"/>
                                          </p:val>
                                        </p:tav>
                                      </p:tavLst>
                                    </p:anim>
                                    <p:anim calcmode="lin" valueType="num">
                                      <p:cBhvr additive="base">
                                        <p:cTn id="32" dur="600" fill="hold"/>
                                        <p:tgtEl>
                                          <p:spTgt spid="9"/>
                                        </p:tgtEl>
                                        <p:attrNameLst>
                                          <p:attrName>ppt_y</p:attrName>
                                        </p:attrNameLst>
                                      </p:cBhvr>
                                      <p:tavLst>
                                        <p:tav tm="0">
                                          <p:val>
                                            <p:strVal val="#ppt_y+.1"/>
                                          </p:val>
                                        </p:tav>
                                        <p:tav tm="100000">
                                          <p:val>
                                            <p:strVal val="#ppt_y"/>
                                          </p:val>
                                        </p:tav>
                                      </p:tavLst>
                                    </p:anim>
                                  </p:childTnLst>
                                </p:cTn>
                              </p:par>
                              <p:par>
                                <p:cTn id="33" presetID="53" presetClass="entr" presetSubtype="16" fill="hold" nodeType="withEffect">
                                  <p:stCondLst>
                                    <p:cond delay="1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anim calcmode="lin" valueType="num">
                                      <p:cBhvr additive="base">
                                        <p:cTn id="41" dur="600" fill="hold"/>
                                        <p:tgtEl>
                                          <p:spTgt spid="11"/>
                                        </p:tgtEl>
                                        <p:attrNameLst>
                                          <p:attrName>ppt_x</p:attrName>
                                        </p:attrNameLst>
                                      </p:cBhvr>
                                      <p:tavLst>
                                        <p:tav tm="0">
                                          <p:val>
                                            <p:strVal val="#ppt_x"/>
                                          </p:val>
                                        </p:tav>
                                        <p:tav tm="100000">
                                          <p:val>
                                            <p:strVal val="#ppt_x"/>
                                          </p:val>
                                        </p:tav>
                                      </p:tavLst>
                                    </p:anim>
                                    <p:anim calcmode="lin" valueType="num">
                                      <p:cBhvr additive="base">
                                        <p:cTn id="42" dur="6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additive="base">
                                        <p:cTn id="48" dur="600" fill="hold"/>
                                        <p:tgtEl>
                                          <p:spTgt spid="12"/>
                                        </p:tgtEl>
                                        <p:attrNameLst>
                                          <p:attrName>ppt_x</p:attrName>
                                        </p:attrNameLst>
                                      </p:cBhvr>
                                      <p:tavLst>
                                        <p:tav tm="0">
                                          <p:val>
                                            <p:strVal val="#ppt_x"/>
                                          </p:val>
                                        </p:tav>
                                        <p:tav tm="100000">
                                          <p:val>
                                            <p:strVal val="#ppt_x"/>
                                          </p:val>
                                        </p:tav>
                                      </p:tavLst>
                                    </p:anim>
                                    <p:anim calcmode="lin" valueType="num">
                                      <p:cBhvr additive="base">
                                        <p:cTn id="49" dur="600" fill="hold"/>
                                        <p:tgtEl>
                                          <p:spTgt spid="12"/>
                                        </p:tgtEl>
                                        <p:attrNameLst>
                                          <p:attrName>ppt_y</p:attrName>
                                        </p:attrNameLst>
                                      </p:cBhvr>
                                      <p:tavLst>
                                        <p:tav tm="0">
                                          <p:val>
                                            <p:strVal val="#ppt_y+.1"/>
                                          </p:val>
                                        </p:tav>
                                        <p:tav tm="100000">
                                          <p:val>
                                            <p:strVal val="#ppt_y"/>
                                          </p:val>
                                        </p:tav>
                                      </p:tavLst>
                                    </p:anim>
                                  </p:childTnLst>
                                </p:cTn>
                              </p:par>
                              <p:par>
                                <p:cTn id="50" presetID="53" presetClass="entr" presetSubtype="16" fill="hold" nodeType="withEffect">
                                  <p:stCondLst>
                                    <p:cond delay="10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
                                          </p:val>
                                        </p:tav>
                                        <p:tav tm="100000">
                                          <p:val>
                                            <p:strVal val="#ppt_x"/>
                                          </p:val>
                                        </p:tav>
                                      </p:tavLst>
                                    </p:anim>
                                    <p:anim calcmode="lin" valueType="num">
                                      <p:cBhvr additive="base">
                                        <p:cTn id="59" dur="6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par>
                                <p:cTn id="65" presetID="10" presetClass="entr" presetSubtype="0" fill="hold" grpId="0" nodeType="withEffect">
                                  <p:stCondLst>
                                    <p:cond delay="15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42" presetClass="entr" presetSubtype="0" fill="hold" grpId="0" nodeType="withEffect">
                                  <p:stCondLst>
                                    <p:cond delay="15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15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par>
                                <p:cTn id="83" presetID="10" presetClass="entr" presetSubtype="0" fill="hold" grpId="0" nodeType="withEffect">
                                  <p:stCondLst>
                                    <p:cond delay="15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childTnLst>
                                </p:cTn>
                              </p:par>
                              <p:par>
                                <p:cTn id="86" presetID="42" presetClass="entr" presetSubtype="0" fill="hold" grpId="0" nodeType="withEffect">
                                  <p:stCondLst>
                                    <p:cond delay="15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600"/>
                                        <p:tgtEl>
                                          <p:spTgt spid="21"/>
                                        </p:tgtEl>
                                      </p:cBhvr>
                                    </p:animEffect>
                                    <p:anim calcmode="lin" valueType="num">
                                      <p:cBhvr additive="base">
                                        <p:cTn id="89" dur="600" fill="hold"/>
                                        <p:tgtEl>
                                          <p:spTgt spid="21"/>
                                        </p:tgtEl>
                                        <p:attrNameLst>
                                          <p:attrName>ppt_x</p:attrName>
                                        </p:attrNameLst>
                                      </p:cBhvr>
                                      <p:tavLst>
                                        <p:tav tm="0">
                                          <p:val>
                                            <p:strVal val="#ppt_x"/>
                                          </p:val>
                                        </p:tav>
                                        <p:tav tm="100000">
                                          <p:val>
                                            <p:strVal val="#ppt_x"/>
                                          </p:val>
                                        </p:tav>
                                      </p:tavLst>
                                    </p:anim>
                                    <p:anim calcmode="lin" valueType="num">
                                      <p:cBhvr additive="base">
                                        <p:cTn id="90" dur="600" fill="hold"/>
                                        <p:tgtEl>
                                          <p:spTgt spid="21"/>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15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600"/>
                                        <p:tgtEl>
                                          <p:spTgt spid="22"/>
                                        </p:tgtEl>
                                      </p:cBhvr>
                                    </p:animEffect>
                                    <p:anim calcmode="lin" valueType="num">
                                      <p:cBhvr additive="base">
                                        <p:cTn id="94" dur="600" fill="hold"/>
                                        <p:tgtEl>
                                          <p:spTgt spid="22"/>
                                        </p:tgtEl>
                                        <p:attrNameLst>
                                          <p:attrName>ppt_x</p:attrName>
                                        </p:attrNameLst>
                                      </p:cBhvr>
                                      <p:tavLst>
                                        <p:tav tm="0">
                                          <p:val>
                                            <p:strVal val="#ppt_x"/>
                                          </p:val>
                                        </p:tav>
                                        <p:tav tm="100000">
                                          <p:val>
                                            <p:strVal val="#ppt_x"/>
                                          </p:val>
                                        </p:tav>
                                      </p:tavLst>
                                    </p:anim>
                                    <p:anim calcmode="lin" valueType="num">
                                      <p:cBhvr additive="base">
                                        <p:cTn id="95" dur="6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Hình 2" descr="/tmp/claude-0/-home-claude/a2e5e3b8-31f0-57f6-8a5d-2b87477c4227/scratchpad/work/assets/ill_funnel.png"/>
          <p:cNvPicPr>
            <a:picLocks noChangeAspect="1"/>
          </p:cNvPicPr>
          <p:nvPr/>
        </p:nvPicPr>
        <p:blipFill>
          <a:blip r:embed="rId4"/>
          <a:stretch>
            <a:fillRect/>
          </a:stretch>
        </p:blipFill>
        <p:spPr>
          <a:xfrm>
            <a:off x="502920" y="4709160"/>
            <a:ext cx="1874520" cy="1874520"/>
          </a:xfrm>
          <a:prstGeom prst="rect">
            <a:avLst/>
          </a:prstGeom>
        </p:spPr>
      </p:pic>
      <p:pic>
        <p:nvPicPr>
          <p:cNvPr id="3" name="Hình 3" descr="/tmp/claude-0/-home-claude/a2e5e3b8-31f0-57f6-8a5d-2b87477c4227/scratchpad/work/assets/ill_laptop.png"/>
          <p:cNvPicPr>
            <a:picLocks noChangeAspect="1"/>
          </p:cNvPicPr>
          <p:nvPr/>
        </p:nvPicPr>
        <p:blipFill>
          <a:blip r:embed="rId5"/>
          <a:stretch>
            <a:fillRect/>
          </a:stretch>
        </p:blipFill>
        <p:spPr>
          <a:xfrm>
            <a:off x="9464040" y="4754880"/>
            <a:ext cx="2514600" cy="1955800"/>
          </a:xfrm>
          <a:prstGeom prst="rect">
            <a:avLst/>
          </a:prstGeom>
        </p:spPr>
      </p:pic>
      <p:sp>
        <p:nvSpPr>
          <p:cNvPr id="4" name="Khối 4"/>
          <p:cNvSpPr txBox="1"/>
          <p:nvPr/>
        </p:nvSpPr>
        <p:spPr>
          <a:xfrm>
            <a:off x="1097280" y="1325880"/>
            <a:ext cx="9994392" cy="2468880"/>
          </a:xfrm>
          <a:prstGeom prst="rect">
            <a:avLst/>
          </a:prstGeom>
          <a:noFill/>
          <a:ln/>
        </p:spPr>
        <p:txBody>
          <a:bodyPr wrap="square" lIns="0" tIns="0" rIns="0" bIns="0" rtlCol="0" anchor="ctr"/>
          <a:lstStyle/>
          <a:p>
            <a:pPr marL="0" indent="0" algn="ctr">
              <a:lnSpc>
                <a:spcPts val="8400"/>
              </a:lnSpc>
              <a:buNone/>
            </a:pPr>
            <a:r>
              <a:rPr lang="en-US" sz="62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CẢM ƠN THẦY/CÔ</a:t>
            </a:r>
            <a:endParaRPr lang="en-US" sz="6200" dirty="0"/>
          </a:p>
          <a:p>
            <a:pPr marL="0" indent="0" algn="ctr">
              <a:lnSpc>
                <a:spcPts val="8400"/>
              </a:lnSpc>
              <a:buNone/>
            </a:pPr>
            <a:r>
              <a:rPr lang="en-US" sz="6200" dirty="0">
                <a:gradFill rotWithShape="1">
                  <a:gsLst>
                    <a:gs pos="0">
                      <a:srgbClr val="2F8BFF"/>
                    </a:gs>
                    <a:gs pos="100000">
                      <a:srgbClr val="0B46C9"/>
                    </a:gs>
                  </a:gsLst>
                  <a:lin ang="5400000" scaled="0"/>
                </a:gradFill>
                <a:latin typeface="Anton" pitchFamily="34" charset="0"/>
                <a:ea typeface="Anton" pitchFamily="34" charset="-122"/>
                <a:cs typeface="Anton" pitchFamily="34" charset="-120"/>
              </a:rPr>
              <a:t>VÀ CÁC BẠN ĐÃ LẮNG NGHE!</a:t>
            </a:r>
            <a:endParaRPr lang="en-US" sz="6200" dirty="0"/>
          </a:p>
        </p:txBody>
      </p:sp>
      <p:sp>
        <p:nvSpPr>
          <p:cNvPr id="5" name="Khối 5"/>
          <p:cNvSpPr/>
          <p:nvPr/>
        </p:nvSpPr>
        <p:spPr>
          <a:xfrm>
            <a:off x="2258568" y="4114800"/>
            <a:ext cx="7680960" cy="603504"/>
          </a:xfrm>
          <a:prstGeom prst="roundRect">
            <a:avLst>
              <a:gd name="adj" fmla="val 50000"/>
            </a:avLst>
          </a:prstGeom>
          <a:solidFill>
            <a:srgbClr val="FFFFFF">
              <a:alpha val="90000"/>
            </a:srgbClr>
          </a:solidFill>
          <a:ln w="15875">
            <a:solidFill>
              <a:srgbClr val="1F6BF0"/>
            </a:solidFill>
          </a:ln>
          <a:effectLst>
            <a:outerShdw blurRad="177800" dist="50800" dir="5400000" algn="bl" rotWithShape="0">
              <a:srgbClr val="1557E0">
                <a:alpha val="14000"/>
              </a:srgbClr>
            </a:outerShdw>
          </a:effectLst>
        </p:spPr>
        <p:txBody>
          <a:bodyPr wrap="square" lIns="0" tIns="0" rIns="0" bIns="0" rtlCol="0" anchor="ctr"/>
          <a:lstStyle/>
          <a:p>
            <a:pPr marL="0" indent="0" algn="ctr">
              <a:buNone/>
            </a:pPr>
            <a:r>
              <a:rPr lang="en-US" sz="2100" b="1" dirty="0">
                <a:solidFill>
                  <a:srgbClr val="0B3FB8"/>
                </a:solidFill>
                <a:latin typeface="Roboto" pitchFamily="34" charset="0"/>
                <a:ea typeface="Roboto" pitchFamily="34" charset="-122"/>
                <a:cs typeface="Roboto" pitchFamily="34" charset="-120"/>
              </a:rPr>
              <a:t>Rất mong nhận được các câu hỏi và ý kiến đóng góp.</a:t>
            </a:r>
            <a:endParaRPr lang="en-US" sz="2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nodeType="withEffect">
                                  <p:stCondLst>
                                    <p:cond delay="15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42" presetClass="entr" presetSubtype="0" fill="hold" grpId="0" nodeType="withEffect">
                                  <p:stCondLst>
                                    <p:cond delay="30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ppt_x</p:attrName>
                                        </p:attrNameLst>
                                      </p:cBhvr>
                                      <p:tavLst>
                                        <p:tav tm="0">
                                          <p:val>
                                            <p:strVal val="#ppt_x"/>
                                          </p:val>
                                        </p:tav>
                                        <p:tav tm="100000">
                                          <p:val>
                                            <p:strVal val="#ppt_x"/>
                                          </p:val>
                                        </p:tav>
                                      </p:tavLst>
                                    </p:anim>
                                    <p:anim calcmode="lin" valueType="num">
                                      <p:cBhvr additive="base">
                                        <p:cTn id="26"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nto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2087</Words>
  <Application>Microsoft Office PowerPoint</Application>
  <PresentationFormat>Widescreen</PresentationFormat>
  <Paragraphs>308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Anton</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Lab04: Feature Selection</dc:title>
  <dc:subject>PptxGenJS Presentation</dc:subject>
  <dc:creator>PptxGenJS</dc:creator>
  <cp:lastModifiedBy>Hoàng Anh Nguyễn</cp:lastModifiedBy>
  <cp:revision>1</cp:revision>
  <dcterms:created xsi:type="dcterms:W3CDTF">2026-10-06T16:21:45Z</dcterms:created>
  <dcterms:modified xsi:type="dcterms:W3CDTF">2026-10-06T16:28:12Z</dcterms:modified>
</cp:coreProperties>
</file>